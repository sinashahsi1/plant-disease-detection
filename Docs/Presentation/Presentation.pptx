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3"/>
  </p:notesMasterIdLst>
  <p:sldIdLst>
    <p:sldId id="275" r:id="rId3"/>
    <p:sldId id="256" r:id="rId4"/>
    <p:sldId id="279" r:id="rId5"/>
    <p:sldId id="280" r:id="rId6"/>
    <p:sldId id="281" r:id="rId7"/>
    <p:sldId id="328" r:id="rId8"/>
    <p:sldId id="283" r:id="rId9"/>
    <p:sldId id="329" r:id="rId10"/>
    <p:sldId id="284" r:id="rId11"/>
    <p:sldId id="330" r:id="rId12"/>
    <p:sldId id="287" r:id="rId13"/>
    <p:sldId id="296" r:id="rId14"/>
    <p:sldId id="331" r:id="rId15"/>
    <p:sldId id="340" r:id="rId16"/>
    <p:sldId id="341" r:id="rId17"/>
    <p:sldId id="332" r:id="rId18"/>
    <p:sldId id="333" r:id="rId19"/>
    <p:sldId id="342" r:id="rId20"/>
    <p:sldId id="334" r:id="rId21"/>
    <p:sldId id="335" r:id="rId22"/>
    <p:sldId id="343" r:id="rId23"/>
    <p:sldId id="336" r:id="rId24"/>
    <p:sldId id="337" r:id="rId25"/>
    <p:sldId id="338" r:id="rId26"/>
    <p:sldId id="339" r:id="rId27"/>
    <p:sldId id="289" r:id="rId28"/>
    <p:sldId id="344" r:id="rId29"/>
    <p:sldId id="360" r:id="rId30"/>
    <p:sldId id="346" r:id="rId31"/>
    <p:sldId id="353" r:id="rId32"/>
    <p:sldId id="354" r:id="rId33"/>
    <p:sldId id="356" r:id="rId34"/>
    <p:sldId id="358" r:id="rId35"/>
    <p:sldId id="361" r:id="rId36"/>
    <p:sldId id="363" r:id="rId37"/>
    <p:sldId id="364" r:id="rId38"/>
    <p:sldId id="365" r:id="rId39"/>
    <p:sldId id="366" r:id="rId40"/>
    <p:sldId id="362" r:id="rId41"/>
    <p:sldId id="352" r:id="rId42"/>
    <p:sldId id="292" r:id="rId43"/>
    <p:sldId id="314" r:id="rId44"/>
    <p:sldId id="371" r:id="rId45"/>
    <p:sldId id="372" r:id="rId46"/>
    <p:sldId id="367" r:id="rId47"/>
    <p:sldId id="317" r:id="rId48"/>
    <p:sldId id="373" r:id="rId49"/>
    <p:sldId id="374" r:id="rId50"/>
    <p:sldId id="368" r:id="rId51"/>
    <p:sldId id="319" r:id="rId52"/>
    <p:sldId id="375" r:id="rId53"/>
    <p:sldId id="376" r:id="rId54"/>
    <p:sldId id="378" r:id="rId55"/>
    <p:sldId id="377" r:id="rId56"/>
    <p:sldId id="388" r:id="rId57"/>
    <p:sldId id="379" r:id="rId58"/>
    <p:sldId id="389" r:id="rId59"/>
    <p:sldId id="390" r:id="rId60"/>
    <p:sldId id="391" r:id="rId61"/>
    <p:sldId id="369" r:id="rId62"/>
    <p:sldId id="370" r:id="rId63"/>
    <p:sldId id="294" r:id="rId64"/>
    <p:sldId id="381" r:id="rId65"/>
    <p:sldId id="383" r:id="rId66"/>
    <p:sldId id="382" r:id="rId67"/>
    <p:sldId id="384" r:id="rId68"/>
    <p:sldId id="385" r:id="rId69"/>
    <p:sldId id="386" r:id="rId70"/>
    <p:sldId id="327" r:id="rId71"/>
    <p:sldId id="387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415"/>
    <a:srgbClr val="8B380F"/>
    <a:srgbClr val="CC9B00"/>
    <a:srgbClr val="08826B"/>
    <a:srgbClr val="EAB200"/>
    <a:srgbClr val="C0FCD8"/>
    <a:srgbClr val="2A93AC"/>
    <a:srgbClr val="A0F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25" autoAdjust="0"/>
    <p:restoredTop sz="94053" autoAdjust="0"/>
  </p:normalViewPr>
  <p:slideViewPr>
    <p:cSldViewPr snapToGrid="0">
      <p:cViewPr varScale="1">
        <p:scale>
          <a:sx n="102" d="100"/>
          <a:sy n="102" d="100"/>
        </p:scale>
        <p:origin x="402" y="-9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72E46-16C3-490C-BB80-A1F7542F7BB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C27FF-766F-4EFD-BC84-FB888F6C3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4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3C6E67-C0EE-472E-A1C0-3EA7B7D073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204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C27FF-766F-4EFD-BC84-FB888F6C36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77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0C409-1283-0B82-1F87-DD47F88F4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994DD-5193-01B6-DE60-A9807113C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570FB-7165-4DD2-78D0-B90A243CB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0BA63-F208-91A2-57E7-DAD5F923E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C27FF-766F-4EFD-BC84-FB888F6C36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77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4A72B-B37B-DA63-0074-2116D662A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E9D6D-D921-A454-8D32-69FBE03F6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8BF4B-864D-67A0-FC24-BA282F7F3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5F5FC-E772-DB69-648D-FF4889B7A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C27FF-766F-4EFD-BC84-FB888F6C36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4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51E3F-F7B3-7145-FEB3-47BB360DA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0F104-0DFC-CA97-06CF-4FE324657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325D-8A42-62E2-BFF8-7143FE35D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DF25F-CE98-7C61-0AEF-F9765C492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C27FF-766F-4EFD-BC84-FB888F6C36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79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8A4DF-ADDB-DAF3-1C73-ADAFFAA63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B91183-D56E-C341-6005-64836CDAA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C30AD0-3EFC-CE5E-7CF2-92E3422AC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54B2E-6EBA-5E61-9EF3-8872838BE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C27FF-766F-4EFD-BC84-FB888F6C36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55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80E60-C777-3F56-2615-576272BC6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C192A-235B-FD58-C385-06E8AA516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55F0C-0F9A-277A-36BD-5C14A5579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B4945-C989-37D1-D0B0-858774CED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C27FF-766F-4EFD-BC84-FB888F6C36E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83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3FEA5-75ED-A434-970D-AB14710B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1D821-23E1-E933-7794-8DAEB45EE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1C804-8940-A606-13AF-8F852EB90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6AEE9-A553-565B-FBAE-53D2FAA71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C27FF-766F-4EFD-BC84-FB888F6C36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68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4685E-F9D3-791B-BDC8-23FD41C48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132D0-F2C6-49CB-73A9-ABC75545E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8A35B-83CB-7ECB-B697-FAE55BF2E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19AA0-F197-A142-CD97-AD9DB060A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C27FF-766F-4EFD-BC84-FB888F6C36E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94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757D5-94ED-19CD-6FC0-53AD73883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21A7E-2B98-CB63-5057-0DAFCD96D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512AC1-B9D9-CD6C-9F61-E944B321C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D7A81-E0ED-EDF5-8A2E-9419519C5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C27FF-766F-4EFD-BC84-FB888F6C36E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56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8B176-5CE9-2B8C-405C-EFB8744AB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0FB6C-9C5B-B67D-350C-6F5CE3046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82CE6-7888-6B27-BDF3-EADEFA345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3139E-98CC-52EE-4391-C217E68F9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C27FF-766F-4EFD-BC84-FB888F6C36E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31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4178-25C1-37F5-942A-4BF87FF27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C81DC-20E7-A3C0-3B69-143E8917F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9810C1-3144-24BD-0602-2BE8CD2CB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C2C2B-CF68-F3F1-52B2-FFB9A5C3B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C27FF-766F-4EFD-BC84-FB888F6C36E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50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AC076-B3F7-54F7-B12E-7E2DDA657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4179C-645A-4976-982B-EE779C801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47CDC-A8A1-ADF6-DE6E-DE93EAF6E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823C4-8012-2A53-ECDF-575184AEB5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C27FF-766F-4EFD-BC84-FB888F6C36E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82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5E5F3-BC24-F2B0-3D76-A1DEC3348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8C287-67A8-AF59-4689-9FBC77EB2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13235-484F-0A16-5740-949E15CCE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B3AEC-B8C2-3135-2E38-74255900A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C27FF-766F-4EFD-BC84-FB888F6C36E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02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C27FF-766F-4EFD-BC84-FB888F6C36EE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5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33FCD-B8B2-9F16-62DB-92C18E361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8FAE1-6B36-EFEB-C11C-B2C18AA6F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ECDFD-FD1B-C848-D75F-43D6CB3D7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694A-F2CF-4B80-94DB-EDB464696F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AA593-25BA-8538-1C0B-495640DB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7FB6F-57C8-3607-B009-315FB6AD0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166B-E37B-47CD-87AB-491A674F2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51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856E2-95FE-5953-CA70-B33A38D17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5CDF3-FECF-DD46-112A-AC6D9DC7D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BB8E5-048B-04F5-6133-E8C6F694F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694A-F2CF-4B80-94DB-EDB464696F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EBF4A-7757-504B-2E26-2F377EC6A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21230-C559-44A1-BCC5-4E5B1C45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166B-E37B-47CD-87AB-491A674F2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93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AF3B2-7F94-6B07-0748-9BF620951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4A32E-28C1-0259-F48E-31A631A6D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1F9C1-5C51-AE79-4CA2-D886F364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694A-F2CF-4B80-94DB-EDB464696F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17FA7-E4E2-47B7-812F-B63D008E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3DD6D-8BAF-5A33-06F0-EDC043D56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166B-E37B-47CD-87AB-491A674F2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68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BE1A-2B7B-44BF-59C5-42D111453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736DB-22FC-014C-29BD-2B802743CC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64A84-19E4-FD84-4423-AA95DC009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6A1B6-558E-6C5B-AFA1-FFA7922FA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694A-F2CF-4B80-94DB-EDB464696F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4A07C-4324-0582-7815-C75F07622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BB5A3-8A67-EE89-303F-3883FE8B1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166B-E37B-47CD-87AB-491A674F2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9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D3CD2-B649-5D88-759E-9A8388FA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CF5A0-9E1F-58A6-BE4B-29820B5A9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F8D2E-1A42-19C6-CDD3-467F4FC24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6A8CD-2043-A931-4E8D-ED10DA0D2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1442B9-E7EC-15FE-BAFF-520E731564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80ABA8-4527-B698-894A-171BC9525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694A-F2CF-4B80-94DB-EDB464696F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22446-2753-106F-0DA0-CBC9F35D0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65F84F-9C48-20FE-53A7-474C7E9B9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166B-E37B-47CD-87AB-491A674F2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7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3A43F-B84F-3508-6598-EBC1F1190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A124E-AD06-9C98-A0FD-BAA286D01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694A-F2CF-4B80-94DB-EDB464696F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20C34-0E4F-CF0F-ED98-2DEDD82A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9B83D-441A-C83B-6A30-5563B93EB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166B-E37B-47CD-87AB-491A674F2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655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77926-28B7-EC23-B847-67B843B72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694A-F2CF-4B80-94DB-EDB464696F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4E1A4-D0AE-9566-FE9D-D371E491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D26D1-0B98-605B-971A-0FC2CBE3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166B-E37B-47CD-87AB-491A674F2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5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5022D-5435-51A7-649F-38A4891D6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33EE9-C492-5293-2792-57E64DCF1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8861E-43A5-9026-6255-7BB228756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C738E-65F1-B6D3-20AE-676C25F0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694A-F2CF-4B80-94DB-EDB464696F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74991-9D94-F32B-608F-3E113AB52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169F1-87F2-8438-3CCF-3F61002A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166B-E37B-47CD-87AB-491A674F2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0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6A25-C0BB-DC8F-1100-E97117727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FF3356-FFBC-274C-6DFA-BBEFB4106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A6946-08D4-5EC5-D636-92694EB9A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80718-EA4C-1AE6-BF8E-7CC61752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694A-F2CF-4B80-94DB-EDB464696F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AF3E7-8936-36F2-8BED-7FA816DA3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924E3-4DD6-AF57-BC9C-21E5B570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166B-E37B-47CD-87AB-491A674F2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74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A5A4-456C-D7E1-BC18-409B174A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E07ED-8CBC-5687-B5A2-AB1451B8B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36A3D-58FD-A04F-44C6-A14F80E7F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694A-F2CF-4B80-94DB-EDB464696F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9C1BF-31C0-D3BA-47E9-69B29619A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4C20-ACA0-622D-D183-C824E7E4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166B-E37B-47CD-87AB-491A674F2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60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3BF234-6713-961D-02DC-B5BBAF0759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D0885-05C5-EEAD-6642-CC6279AC7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72B5F-C1B4-62F8-CE31-69F387A0C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694A-F2CF-4B80-94DB-EDB464696F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DB4BD-AABB-38F9-6A12-E2C84AEC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F3E28-96F1-2181-F24F-96BDC8B33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166B-E37B-47CD-87AB-491A674F2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83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CE747-B9DD-436D-895F-932979755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18EADB-6C3E-4FF7-BA21-AC7124438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BDBD8-4C83-4BF8-BEC4-461BDE7BA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03EF0-3D00-45A6-BE7F-7B05D6A18DB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E1FE-D092-41C1-B4F3-86F4DE13B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0D1A2-CD14-4861-96D3-EFB3C9E6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0300-F7EC-4997-9B7D-FCFD36C01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245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3D6D3-30FF-47E5-AF29-B5BF0B465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9D5BA-8782-4D42-9E98-D474633A9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185D8-3CAC-47F6-A287-7F38FBC23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03EF0-3D00-45A6-BE7F-7B05D6A18DB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5C63D-5EF2-422D-8275-5E210B1A0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9EE4C-9345-40F1-AF5D-744A6114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0300-F7EC-4997-9B7D-FCFD36C01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479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1B9C1-617F-4570-B383-3DE3F331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67384-0CBC-4A05-AEFB-07E9CFCE2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52B6B-ABF9-47F6-80CE-5136CA67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03EF0-3D00-45A6-BE7F-7B05D6A18DB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43605-B9B4-4F26-8686-EE80590D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B2B24-6E43-4A0D-A5C0-1DCB124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0300-F7EC-4997-9B7D-FCFD36C01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121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346A5-DDE1-4208-8960-ECD7F035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C60BF-655D-4FF3-9FCA-E8BFA50D9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6D33A-E3E6-44DC-A2E9-A8B3E4379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1C7FC-B2FE-4E4A-BDD4-ABB95113E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03EF0-3D00-45A6-BE7F-7B05D6A18DB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79D46-9E43-4E41-B83C-F8A968EF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DDB57-B78C-439A-AB8D-E158CAB4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0300-F7EC-4997-9B7D-FCFD36C01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164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A6C2-E6B2-464B-8FAB-B60F82F38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05746-71B7-47E6-9EB1-6F8E66C50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A8191-1DC7-4B34-8EEE-1BCFBAA9E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84AC7-A885-4A72-9585-AD8C03F88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AC2DA-456E-4C2B-BF25-5C4CF9C216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318984-3F01-4B23-A1A7-C4D9B5FD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03EF0-3D00-45A6-BE7F-7B05D6A18DB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DF457-DE3D-4BB5-98DD-35FDB961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E50DE-800A-4460-93DC-C1EAA5A0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0300-F7EC-4997-9B7D-FCFD36C01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5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3A60D-6FBC-47E8-AD3C-D468C560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FA6465-CD4E-4FA0-B1D8-1FC57BF3B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03EF0-3D00-45A6-BE7F-7B05D6A18DB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86D87-0C07-4D7E-AD00-8AAE5CCF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F67F6-2E2E-4F97-BD33-379F9D34E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0300-F7EC-4997-9B7D-FCFD36C01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9968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621A0E-42DC-4777-81F2-87DF58D4B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03EF0-3D00-45A6-BE7F-7B05D6A18DB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A3B481-10D4-498B-9A82-02B366E9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3CF59-D31D-46A9-A853-1CA3F91DC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0300-F7EC-4997-9B7D-FCFD36C01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2760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82F02-7682-4145-AD05-A324EACB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84EC9-AEC7-4A06-955B-195E6806F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95D50-C0DB-45FF-BC95-2AFFDA5B4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90543-B336-4B4F-ACF1-45DF1DD4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03EF0-3D00-45A6-BE7F-7B05D6A18DB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5A970-E4D4-4E3B-84CC-C3407B40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BA88B-74B0-4F96-A1DC-681B34ECE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0300-F7EC-4997-9B7D-FCFD36C01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359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C14BA-9252-4225-80D2-2A211A8AB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76AF10-80FE-4765-B417-8433725C62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CB09F-48E5-45AD-8806-04FB16E47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A2BBA-B0D5-4474-9A41-789589BC5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03EF0-3D00-45A6-BE7F-7B05D6A18DB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52A48-FE79-42D5-B246-CEB0FDFE2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1AA3A-632F-40E9-841E-6E9F18825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0300-F7EC-4997-9B7D-FCFD36C01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4991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46284-101A-4C02-859E-C8291083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9BF42-7AB6-48BE-8A75-91E5913D7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0165F-ECC2-4DBD-A26C-39B24682A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03EF0-3D00-45A6-BE7F-7B05D6A18DB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32D92-7CB2-4302-B4A2-C2F142943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52552-63C5-4D48-AD22-C4D7FBFD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0300-F7EC-4997-9B7D-FCFD36C01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169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BEF359-0E91-4E93-8741-12B09E154E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8B8B5-5666-4E58-86A7-F7FD31270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3B89B-DA0E-439C-92D0-0D6391F20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03EF0-3D00-45A6-BE7F-7B05D6A18DB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7DA2F-CCD7-4543-9E2F-0922524CA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26A9C-F612-4986-86EC-23F0D79D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50300-F7EC-4997-9B7D-FCFD36C01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68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160DA6-F480-12D2-75E4-2694B6AE7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5763B-7392-AB99-CC97-C977E4908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8DBF8-E1D8-5216-484E-A7ED43987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3694A-F2CF-4B80-94DB-EDB464696F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81F7-005E-C87A-D719-8E0546B43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B3B03-A6A6-7BEB-4661-C1D4DF98F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F166B-E37B-47CD-87AB-491A674F2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19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ECCB75-CC27-48B2-9E94-883E9616D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02758-1DC0-45D6-ABF5-42E5AD522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31F72-A6A7-4215-8EA5-394589523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03EF0-3D00-45A6-BE7F-7B05D6A18DB1}" type="datetimeFigureOut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A736B-2930-4EEA-823A-A32D95099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D6F98-A816-47D5-A8F9-3DC701435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50300-F7EC-4997-9B7D-FCFD36C01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DAA60D-5D7A-804D-46E4-C42960C29808}"/>
              </a:ext>
            </a:extLst>
          </p:cNvPr>
          <p:cNvSpPr/>
          <p:nvPr/>
        </p:nvSpPr>
        <p:spPr>
          <a:xfrm>
            <a:off x="-3048000" y="-819150"/>
            <a:ext cx="9630813" cy="8439150"/>
          </a:xfrm>
          <a:prstGeom prst="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35AD69-050A-6979-E9BD-9ECFD74F3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9654" y="1174207"/>
            <a:ext cx="9485809" cy="5335767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CD8266C3-4C79-E30A-CFD2-B889DBE4D11E}"/>
              </a:ext>
            </a:extLst>
          </p:cNvPr>
          <p:cNvGrpSpPr/>
          <p:nvPr/>
        </p:nvGrpSpPr>
        <p:grpSpPr>
          <a:xfrm>
            <a:off x="-2767116" y="-174174"/>
            <a:ext cx="15369683" cy="7328648"/>
            <a:chOff x="-2767116" y="-174174"/>
            <a:chExt cx="15369683" cy="73286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24DFB65-8F9B-8485-1D67-E91FC9A00857}"/>
                </a:ext>
              </a:extLst>
            </p:cNvPr>
            <p:cNvSpPr/>
            <p:nvPr/>
          </p:nvSpPr>
          <p:spPr>
            <a:xfrm>
              <a:off x="6343521" y="-174174"/>
              <a:ext cx="6259046" cy="73286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81E5A31-0173-41A7-B95B-1750DC5C63D9}"/>
                </a:ext>
              </a:extLst>
            </p:cNvPr>
            <p:cNvSpPr/>
            <p:nvPr/>
          </p:nvSpPr>
          <p:spPr>
            <a:xfrm flipH="1">
              <a:off x="-2767116" y="-174173"/>
              <a:ext cx="12450856" cy="7328647"/>
            </a:xfrm>
            <a:custGeom>
              <a:avLst/>
              <a:gdLst>
                <a:gd name="connsiteX0" fmla="*/ 11135384 w 13326035"/>
                <a:gd name="connsiteY0" fmla="*/ 6561228 h 7893423"/>
                <a:gd name="connsiteX1" fmla="*/ 10863742 w 13326035"/>
                <a:gd name="connsiteY1" fmla="*/ 7104512 h 7893423"/>
                <a:gd name="connsiteX2" fmla="*/ 11135384 w 13326035"/>
                <a:gd name="connsiteY2" fmla="*/ 7647795 h 7893423"/>
                <a:gd name="connsiteX3" fmla="*/ 11857444 w 13326035"/>
                <a:gd name="connsiteY3" fmla="*/ 7647795 h 7893423"/>
                <a:gd name="connsiteX4" fmla="*/ 12129086 w 13326035"/>
                <a:gd name="connsiteY4" fmla="*/ 7104512 h 7893423"/>
                <a:gd name="connsiteX5" fmla="*/ 11857444 w 13326035"/>
                <a:gd name="connsiteY5" fmla="*/ 6561228 h 7893423"/>
                <a:gd name="connsiteX6" fmla="*/ 9064772 w 13326035"/>
                <a:gd name="connsiteY6" fmla="*/ 6557512 h 7893423"/>
                <a:gd name="connsiteX7" fmla="*/ 8793130 w 13326035"/>
                <a:gd name="connsiteY7" fmla="*/ 7100796 h 7893423"/>
                <a:gd name="connsiteX8" fmla="*/ 9064772 w 13326035"/>
                <a:gd name="connsiteY8" fmla="*/ 7644079 h 7893423"/>
                <a:gd name="connsiteX9" fmla="*/ 9786832 w 13326035"/>
                <a:gd name="connsiteY9" fmla="*/ 7644079 h 7893423"/>
                <a:gd name="connsiteX10" fmla="*/ 10058474 w 13326035"/>
                <a:gd name="connsiteY10" fmla="*/ 7100796 h 7893423"/>
                <a:gd name="connsiteX11" fmla="*/ 9786832 w 13326035"/>
                <a:gd name="connsiteY11" fmla="*/ 6557512 h 7893423"/>
                <a:gd name="connsiteX12" fmla="*/ 6994161 w 13326035"/>
                <a:gd name="connsiteY12" fmla="*/ 6557512 h 7893423"/>
                <a:gd name="connsiteX13" fmla="*/ 6722518 w 13326035"/>
                <a:gd name="connsiteY13" fmla="*/ 7100796 h 7893423"/>
                <a:gd name="connsiteX14" fmla="*/ 6994161 w 13326035"/>
                <a:gd name="connsiteY14" fmla="*/ 7644079 h 7893423"/>
                <a:gd name="connsiteX15" fmla="*/ 7716220 w 13326035"/>
                <a:gd name="connsiteY15" fmla="*/ 7644079 h 7893423"/>
                <a:gd name="connsiteX16" fmla="*/ 7987862 w 13326035"/>
                <a:gd name="connsiteY16" fmla="*/ 7100796 h 7893423"/>
                <a:gd name="connsiteX17" fmla="*/ 7716220 w 13326035"/>
                <a:gd name="connsiteY17" fmla="*/ 6557512 h 7893423"/>
                <a:gd name="connsiteX18" fmla="*/ 12170690 w 13326035"/>
                <a:gd name="connsiteY18" fmla="*/ 5995977 h 7893423"/>
                <a:gd name="connsiteX19" fmla="*/ 11899048 w 13326035"/>
                <a:gd name="connsiteY19" fmla="*/ 6539261 h 7893423"/>
                <a:gd name="connsiteX20" fmla="*/ 12170690 w 13326035"/>
                <a:gd name="connsiteY20" fmla="*/ 7082544 h 7893423"/>
                <a:gd name="connsiteX21" fmla="*/ 12892750 w 13326035"/>
                <a:gd name="connsiteY21" fmla="*/ 7082544 h 7893423"/>
                <a:gd name="connsiteX22" fmla="*/ 13164392 w 13326035"/>
                <a:gd name="connsiteY22" fmla="*/ 6539261 h 7893423"/>
                <a:gd name="connsiteX23" fmla="*/ 12892750 w 13326035"/>
                <a:gd name="connsiteY23" fmla="*/ 5995977 h 7893423"/>
                <a:gd name="connsiteX24" fmla="*/ 10100078 w 13326035"/>
                <a:gd name="connsiteY24" fmla="*/ 5995977 h 7893423"/>
                <a:gd name="connsiteX25" fmla="*/ 9828436 w 13326035"/>
                <a:gd name="connsiteY25" fmla="*/ 6539261 h 7893423"/>
                <a:gd name="connsiteX26" fmla="*/ 10100078 w 13326035"/>
                <a:gd name="connsiteY26" fmla="*/ 7082544 h 7893423"/>
                <a:gd name="connsiteX27" fmla="*/ 10822138 w 13326035"/>
                <a:gd name="connsiteY27" fmla="*/ 7082544 h 7893423"/>
                <a:gd name="connsiteX28" fmla="*/ 11093780 w 13326035"/>
                <a:gd name="connsiteY28" fmla="*/ 6539261 h 7893423"/>
                <a:gd name="connsiteX29" fmla="*/ 10822138 w 13326035"/>
                <a:gd name="connsiteY29" fmla="*/ 5995977 h 7893423"/>
                <a:gd name="connsiteX30" fmla="*/ 8029466 w 13326035"/>
                <a:gd name="connsiteY30" fmla="*/ 5995977 h 7893423"/>
                <a:gd name="connsiteX31" fmla="*/ 7757824 w 13326035"/>
                <a:gd name="connsiteY31" fmla="*/ 6539261 h 7893423"/>
                <a:gd name="connsiteX32" fmla="*/ 8029466 w 13326035"/>
                <a:gd name="connsiteY32" fmla="*/ 7082544 h 7893423"/>
                <a:gd name="connsiteX33" fmla="*/ 8751526 w 13326035"/>
                <a:gd name="connsiteY33" fmla="*/ 7082544 h 7893423"/>
                <a:gd name="connsiteX34" fmla="*/ 9023168 w 13326035"/>
                <a:gd name="connsiteY34" fmla="*/ 6539261 h 7893423"/>
                <a:gd name="connsiteX35" fmla="*/ 8751526 w 13326035"/>
                <a:gd name="connsiteY35" fmla="*/ 5995977 h 7893423"/>
                <a:gd name="connsiteX36" fmla="*/ 1232998 w 13326035"/>
                <a:gd name="connsiteY36" fmla="*/ 5995976 h 7893423"/>
                <a:gd name="connsiteX37" fmla="*/ 961356 w 13326035"/>
                <a:gd name="connsiteY37" fmla="*/ 6539260 h 7893423"/>
                <a:gd name="connsiteX38" fmla="*/ 1232998 w 13326035"/>
                <a:gd name="connsiteY38" fmla="*/ 7082543 h 7893423"/>
                <a:gd name="connsiteX39" fmla="*/ 1955058 w 13326035"/>
                <a:gd name="connsiteY39" fmla="*/ 7082543 h 7893423"/>
                <a:gd name="connsiteX40" fmla="*/ 2226700 w 13326035"/>
                <a:gd name="connsiteY40" fmla="*/ 6539260 h 7893423"/>
                <a:gd name="connsiteX41" fmla="*/ 1955058 w 13326035"/>
                <a:gd name="connsiteY41" fmla="*/ 5995976 h 7893423"/>
                <a:gd name="connsiteX42" fmla="*/ 5958855 w 13326035"/>
                <a:gd name="connsiteY42" fmla="*/ 5990141 h 7893423"/>
                <a:gd name="connsiteX43" fmla="*/ 5687213 w 13326035"/>
                <a:gd name="connsiteY43" fmla="*/ 6533425 h 7893423"/>
                <a:gd name="connsiteX44" fmla="*/ 5958855 w 13326035"/>
                <a:gd name="connsiteY44" fmla="*/ 7076708 h 7893423"/>
                <a:gd name="connsiteX45" fmla="*/ 6680914 w 13326035"/>
                <a:gd name="connsiteY45" fmla="*/ 7076708 h 7893423"/>
                <a:gd name="connsiteX46" fmla="*/ 6952556 w 13326035"/>
                <a:gd name="connsiteY46" fmla="*/ 6533425 h 7893423"/>
                <a:gd name="connsiteX47" fmla="*/ 6680914 w 13326035"/>
                <a:gd name="connsiteY47" fmla="*/ 5990141 h 7893423"/>
                <a:gd name="connsiteX48" fmla="*/ 11135384 w 13326035"/>
                <a:gd name="connsiteY48" fmla="*/ 5430727 h 7893423"/>
                <a:gd name="connsiteX49" fmla="*/ 10863742 w 13326035"/>
                <a:gd name="connsiteY49" fmla="*/ 5974011 h 7893423"/>
                <a:gd name="connsiteX50" fmla="*/ 11135384 w 13326035"/>
                <a:gd name="connsiteY50" fmla="*/ 6517294 h 7893423"/>
                <a:gd name="connsiteX51" fmla="*/ 11857444 w 13326035"/>
                <a:gd name="connsiteY51" fmla="*/ 6517294 h 7893423"/>
                <a:gd name="connsiteX52" fmla="*/ 12129086 w 13326035"/>
                <a:gd name="connsiteY52" fmla="*/ 5974011 h 7893423"/>
                <a:gd name="connsiteX53" fmla="*/ 11857444 w 13326035"/>
                <a:gd name="connsiteY53" fmla="*/ 5430727 h 7893423"/>
                <a:gd name="connsiteX54" fmla="*/ 9064772 w 13326035"/>
                <a:gd name="connsiteY54" fmla="*/ 5427011 h 7893423"/>
                <a:gd name="connsiteX55" fmla="*/ 8793130 w 13326035"/>
                <a:gd name="connsiteY55" fmla="*/ 5970295 h 7893423"/>
                <a:gd name="connsiteX56" fmla="*/ 9064772 w 13326035"/>
                <a:gd name="connsiteY56" fmla="*/ 6513578 h 7893423"/>
                <a:gd name="connsiteX57" fmla="*/ 9786832 w 13326035"/>
                <a:gd name="connsiteY57" fmla="*/ 6513578 h 7893423"/>
                <a:gd name="connsiteX58" fmla="*/ 10058474 w 13326035"/>
                <a:gd name="connsiteY58" fmla="*/ 5970295 h 7893423"/>
                <a:gd name="connsiteX59" fmla="*/ 9786832 w 13326035"/>
                <a:gd name="connsiteY59" fmla="*/ 5427011 h 7893423"/>
                <a:gd name="connsiteX60" fmla="*/ 6994161 w 13326035"/>
                <a:gd name="connsiteY60" fmla="*/ 5427011 h 7893423"/>
                <a:gd name="connsiteX61" fmla="*/ 6722518 w 13326035"/>
                <a:gd name="connsiteY61" fmla="*/ 5970295 h 7893423"/>
                <a:gd name="connsiteX62" fmla="*/ 6994161 w 13326035"/>
                <a:gd name="connsiteY62" fmla="*/ 6513578 h 7893423"/>
                <a:gd name="connsiteX63" fmla="*/ 7716220 w 13326035"/>
                <a:gd name="connsiteY63" fmla="*/ 6513578 h 7893423"/>
                <a:gd name="connsiteX64" fmla="*/ 7987862 w 13326035"/>
                <a:gd name="connsiteY64" fmla="*/ 5970295 h 7893423"/>
                <a:gd name="connsiteX65" fmla="*/ 7716220 w 13326035"/>
                <a:gd name="connsiteY65" fmla="*/ 5427011 h 7893423"/>
                <a:gd name="connsiteX66" fmla="*/ 12170690 w 13326035"/>
                <a:gd name="connsiteY66" fmla="*/ 4865476 h 7893423"/>
                <a:gd name="connsiteX67" fmla="*/ 11899048 w 13326035"/>
                <a:gd name="connsiteY67" fmla="*/ 5408760 h 7893423"/>
                <a:gd name="connsiteX68" fmla="*/ 12170690 w 13326035"/>
                <a:gd name="connsiteY68" fmla="*/ 5952043 h 7893423"/>
                <a:gd name="connsiteX69" fmla="*/ 12892750 w 13326035"/>
                <a:gd name="connsiteY69" fmla="*/ 5952043 h 7893423"/>
                <a:gd name="connsiteX70" fmla="*/ 13164392 w 13326035"/>
                <a:gd name="connsiteY70" fmla="*/ 5408760 h 7893423"/>
                <a:gd name="connsiteX71" fmla="*/ 12892750 w 13326035"/>
                <a:gd name="connsiteY71" fmla="*/ 4865476 h 7893423"/>
                <a:gd name="connsiteX72" fmla="*/ 10100078 w 13326035"/>
                <a:gd name="connsiteY72" fmla="*/ 4865476 h 7893423"/>
                <a:gd name="connsiteX73" fmla="*/ 9828436 w 13326035"/>
                <a:gd name="connsiteY73" fmla="*/ 5408760 h 7893423"/>
                <a:gd name="connsiteX74" fmla="*/ 10100078 w 13326035"/>
                <a:gd name="connsiteY74" fmla="*/ 5952043 h 7893423"/>
                <a:gd name="connsiteX75" fmla="*/ 10822138 w 13326035"/>
                <a:gd name="connsiteY75" fmla="*/ 5952043 h 7893423"/>
                <a:gd name="connsiteX76" fmla="*/ 11093780 w 13326035"/>
                <a:gd name="connsiteY76" fmla="*/ 5408760 h 7893423"/>
                <a:gd name="connsiteX77" fmla="*/ 10822138 w 13326035"/>
                <a:gd name="connsiteY77" fmla="*/ 4865476 h 7893423"/>
                <a:gd name="connsiteX78" fmla="*/ 8029466 w 13326035"/>
                <a:gd name="connsiteY78" fmla="*/ 4865476 h 7893423"/>
                <a:gd name="connsiteX79" fmla="*/ 7757824 w 13326035"/>
                <a:gd name="connsiteY79" fmla="*/ 5408760 h 7893423"/>
                <a:gd name="connsiteX80" fmla="*/ 8029466 w 13326035"/>
                <a:gd name="connsiteY80" fmla="*/ 5952043 h 7893423"/>
                <a:gd name="connsiteX81" fmla="*/ 8751526 w 13326035"/>
                <a:gd name="connsiteY81" fmla="*/ 5952043 h 7893423"/>
                <a:gd name="connsiteX82" fmla="*/ 9023168 w 13326035"/>
                <a:gd name="connsiteY82" fmla="*/ 5408760 h 7893423"/>
                <a:gd name="connsiteX83" fmla="*/ 8751526 w 13326035"/>
                <a:gd name="connsiteY83" fmla="*/ 4865476 h 7893423"/>
                <a:gd name="connsiteX84" fmla="*/ 11135384 w 13326035"/>
                <a:gd name="connsiteY84" fmla="*/ 4300226 h 7893423"/>
                <a:gd name="connsiteX85" fmla="*/ 10863742 w 13326035"/>
                <a:gd name="connsiteY85" fmla="*/ 4843510 h 7893423"/>
                <a:gd name="connsiteX86" fmla="*/ 11135384 w 13326035"/>
                <a:gd name="connsiteY86" fmla="*/ 5386793 h 7893423"/>
                <a:gd name="connsiteX87" fmla="*/ 11857444 w 13326035"/>
                <a:gd name="connsiteY87" fmla="*/ 5386793 h 7893423"/>
                <a:gd name="connsiteX88" fmla="*/ 12129086 w 13326035"/>
                <a:gd name="connsiteY88" fmla="*/ 4843510 h 7893423"/>
                <a:gd name="connsiteX89" fmla="*/ 11857444 w 13326035"/>
                <a:gd name="connsiteY89" fmla="*/ 4300226 h 7893423"/>
                <a:gd name="connsiteX90" fmla="*/ 9064772 w 13326035"/>
                <a:gd name="connsiteY90" fmla="*/ 4296510 h 7893423"/>
                <a:gd name="connsiteX91" fmla="*/ 8793130 w 13326035"/>
                <a:gd name="connsiteY91" fmla="*/ 4839794 h 7893423"/>
                <a:gd name="connsiteX92" fmla="*/ 9064772 w 13326035"/>
                <a:gd name="connsiteY92" fmla="*/ 5383077 h 7893423"/>
                <a:gd name="connsiteX93" fmla="*/ 9786832 w 13326035"/>
                <a:gd name="connsiteY93" fmla="*/ 5383077 h 7893423"/>
                <a:gd name="connsiteX94" fmla="*/ 10058474 w 13326035"/>
                <a:gd name="connsiteY94" fmla="*/ 4839794 h 7893423"/>
                <a:gd name="connsiteX95" fmla="*/ 9786832 w 13326035"/>
                <a:gd name="connsiteY95" fmla="*/ 4296510 h 7893423"/>
                <a:gd name="connsiteX96" fmla="*/ 6994161 w 13326035"/>
                <a:gd name="connsiteY96" fmla="*/ 4296510 h 7893423"/>
                <a:gd name="connsiteX97" fmla="*/ 6722518 w 13326035"/>
                <a:gd name="connsiteY97" fmla="*/ 4839794 h 7893423"/>
                <a:gd name="connsiteX98" fmla="*/ 6994161 w 13326035"/>
                <a:gd name="connsiteY98" fmla="*/ 5383077 h 7893423"/>
                <a:gd name="connsiteX99" fmla="*/ 7716220 w 13326035"/>
                <a:gd name="connsiteY99" fmla="*/ 5383077 h 7893423"/>
                <a:gd name="connsiteX100" fmla="*/ 7987862 w 13326035"/>
                <a:gd name="connsiteY100" fmla="*/ 4839794 h 7893423"/>
                <a:gd name="connsiteX101" fmla="*/ 7716220 w 13326035"/>
                <a:gd name="connsiteY101" fmla="*/ 4296510 h 7893423"/>
                <a:gd name="connsiteX102" fmla="*/ 12170690 w 13326035"/>
                <a:gd name="connsiteY102" fmla="*/ 3734981 h 7893423"/>
                <a:gd name="connsiteX103" fmla="*/ 11899048 w 13326035"/>
                <a:gd name="connsiteY103" fmla="*/ 4278259 h 7893423"/>
                <a:gd name="connsiteX104" fmla="*/ 12170690 w 13326035"/>
                <a:gd name="connsiteY104" fmla="*/ 4821542 h 7893423"/>
                <a:gd name="connsiteX105" fmla="*/ 12892750 w 13326035"/>
                <a:gd name="connsiteY105" fmla="*/ 4821542 h 7893423"/>
                <a:gd name="connsiteX106" fmla="*/ 13164392 w 13326035"/>
                <a:gd name="connsiteY106" fmla="*/ 4278259 h 7893423"/>
                <a:gd name="connsiteX107" fmla="*/ 12892750 w 13326035"/>
                <a:gd name="connsiteY107" fmla="*/ 3734981 h 7893423"/>
                <a:gd name="connsiteX108" fmla="*/ 10100078 w 13326035"/>
                <a:gd name="connsiteY108" fmla="*/ 3734978 h 7893423"/>
                <a:gd name="connsiteX109" fmla="*/ 9828436 w 13326035"/>
                <a:gd name="connsiteY109" fmla="*/ 4278259 h 7893423"/>
                <a:gd name="connsiteX110" fmla="*/ 10100078 w 13326035"/>
                <a:gd name="connsiteY110" fmla="*/ 4821542 h 7893423"/>
                <a:gd name="connsiteX111" fmla="*/ 10822138 w 13326035"/>
                <a:gd name="connsiteY111" fmla="*/ 4821542 h 7893423"/>
                <a:gd name="connsiteX112" fmla="*/ 11093780 w 13326035"/>
                <a:gd name="connsiteY112" fmla="*/ 4278259 h 7893423"/>
                <a:gd name="connsiteX113" fmla="*/ 10822138 w 13326035"/>
                <a:gd name="connsiteY113" fmla="*/ 3734978 h 7893423"/>
                <a:gd name="connsiteX114" fmla="*/ 8029466 w 13326035"/>
                <a:gd name="connsiteY114" fmla="*/ 3734977 h 7893423"/>
                <a:gd name="connsiteX115" fmla="*/ 7757824 w 13326035"/>
                <a:gd name="connsiteY115" fmla="*/ 4278259 h 7893423"/>
                <a:gd name="connsiteX116" fmla="*/ 8029466 w 13326035"/>
                <a:gd name="connsiteY116" fmla="*/ 4821542 h 7893423"/>
                <a:gd name="connsiteX117" fmla="*/ 8751526 w 13326035"/>
                <a:gd name="connsiteY117" fmla="*/ 4821542 h 7893423"/>
                <a:gd name="connsiteX118" fmla="*/ 9023168 w 13326035"/>
                <a:gd name="connsiteY118" fmla="*/ 4278259 h 7893423"/>
                <a:gd name="connsiteX119" fmla="*/ 8751526 w 13326035"/>
                <a:gd name="connsiteY119" fmla="*/ 3734977 h 7893423"/>
                <a:gd name="connsiteX120" fmla="*/ 5958855 w 13326035"/>
                <a:gd name="connsiteY120" fmla="*/ 3734976 h 7893423"/>
                <a:gd name="connsiteX121" fmla="*/ 5687213 w 13326035"/>
                <a:gd name="connsiteY121" fmla="*/ 4278259 h 7893423"/>
                <a:gd name="connsiteX122" fmla="*/ 5958855 w 13326035"/>
                <a:gd name="connsiteY122" fmla="*/ 4821542 h 7893423"/>
                <a:gd name="connsiteX123" fmla="*/ 6680914 w 13326035"/>
                <a:gd name="connsiteY123" fmla="*/ 4821542 h 7893423"/>
                <a:gd name="connsiteX124" fmla="*/ 6952556 w 13326035"/>
                <a:gd name="connsiteY124" fmla="*/ 4278259 h 7893423"/>
                <a:gd name="connsiteX125" fmla="*/ 6680914 w 13326035"/>
                <a:gd name="connsiteY125" fmla="*/ 3734976 h 7893423"/>
                <a:gd name="connsiteX126" fmla="*/ 11135384 w 13326035"/>
                <a:gd name="connsiteY126" fmla="*/ 3169730 h 7893423"/>
                <a:gd name="connsiteX127" fmla="*/ 10863742 w 13326035"/>
                <a:gd name="connsiteY127" fmla="*/ 3713013 h 7893423"/>
                <a:gd name="connsiteX128" fmla="*/ 11135384 w 13326035"/>
                <a:gd name="connsiteY128" fmla="*/ 4256292 h 7893423"/>
                <a:gd name="connsiteX129" fmla="*/ 11857444 w 13326035"/>
                <a:gd name="connsiteY129" fmla="*/ 4256292 h 7893423"/>
                <a:gd name="connsiteX130" fmla="*/ 12129086 w 13326035"/>
                <a:gd name="connsiteY130" fmla="*/ 3713013 h 7893423"/>
                <a:gd name="connsiteX131" fmla="*/ 11857444 w 13326035"/>
                <a:gd name="connsiteY131" fmla="*/ 3169730 h 7893423"/>
                <a:gd name="connsiteX132" fmla="*/ 9064772 w 13326035"/>
                <a:gd name="connsiteY132" fmla="*/ 3166012 h 7893423"/>
                <a:gd name="connsiteX133" fmla="*/ 8793130 w 13326035"/>
                <a:gd name="connsiteY133" fmla="*/ 3709296 h 7893423"/>
                <a:gd name="connsiteX134" fmla="*/ 9064772 w 13326035"/>
                <a:gd name="connsiteY134" fmla="*/ 4252576 h 7893423"/>
                <a:gd name="connsiteX135" fmla="*/ 9786832 w 13326035"/>
                <a:gd name="connsiteY135" fmla="*/ 4252576 h 7893423"/>
                <a:gd name="connsiteX136" fmla="*/ 10058474 w 13326035"/>
                <a:gd name="connsiteY136" fmla="*/ 3709296 h 7893423"/>
                <a:gd name="connsiteX137" fmla="*/ 9786832 w 13326035"/>
                <a:gd name="connsiteY137" fmla="*/ 3166012 h 7893423"/>
                <a:gd name="connsiteX138" fmla="*/ 6994161 w 13326035"/>
                <a:gd name="connsiteY138" fmla="*/ 3166011 h 7893423"/>
                <a:gd name="connsiteX139" fmla="*/ 6722518 w 13326035"/>
                <a:gd name="connsiteY139" fmla="*/ 3709295 h 7893423"/>
                <a:gd name="connsiteX140" fmla="*/ 6994161 w 13326035"/>
                <a:gd name="connsiteY140" fmla="*/ 4252576 h 7893423"/>
                <a:gd name="connsiteX141" fmla="*/ 7716220 w 13326035"/>
                <a:gd name="connsiteY141" fmla="*/ 4252576 h 7893423"/>
                <a:gd name="connsiteX142" fmla="*/ 7987862 w 13326035"/>
                <a:gd name="connsiteY142" fmla="*/ 3709295 h 7893423"/>
                <a:gd name="connsiteX143" fmla="*/ 7716220 w 13326035"/>
                <a:gd name="connsiteY143" fmla="*/ 3166011 h 7893423"/>
                <a:gd name="connsiteX144" fmla="*/ 4923548 w 13326035"/>
                <a:gd name="connsiteY144" fmla="*/ 3166009 h 7893423"/>
                <a:gd name="connsiteX145" fmla="*/ 4651907 w 13326035"/>
                <a:gd name="connsiteY145" fmla="*/ 3709293 h 7893423"/>
                <a:gd name="connsiteX146" fmla="*/ 4923548 w 13326035"/>
                <a:gd name="connsiteY146" fmla="*/ 4252576 h 7893423"/>
                <a:gd name="connsiteX147" fmla="*/ 5645609 w 13326035"/>
                <a:gd name="connsiteY147" fmla="*/ 4252576 h 7893423"/>
                <a:gd name="connsiteX148" fmla="*/ 5917250 w 13326035"/>
                <a:gd name="connsiteY148" fmla="*/ 3709293 h 7893423"/>
                <a:gd name="connsiteX149" fmla="*/ 5645609 w 13326035"/>
                <a:gd name="connsiteY149" fmla="*/ 3166009 h 7893423"/>
                <a:gd name="connsiteX150" fmla="*/ 12170690 w 13326035"/>
                <a:gd name="connsiteY150" fmla="*/ 2604479 h 7893423"/>
                <a:gd name="connsiteX151" fmla="*/ 11899048 w 13326035"/>
                <a:gd name="connsiteY151" fmla="*/ 3147764 h 7893423"/>
                <a:gd name="connsiteX152" fmla="*/ 12170690 w 13326035"/>
                <a:gd name="connsiteY152" fmla="*/ 3691047 h 7893423"/>
                <a:gd name="connsiteX153" fmla="*/ 12892750 w 13326035"/>
                <a:gd name="connsiteY153" fmla="*/ 3691047 h 7893423"/>
                <a:gd name="connsiteX154" fmla="*/ 13164392 w 13326035"/>
                <a:gd name="connsiteY154" fmla="*/ 3147764 h 7893423"/>
                <a:gd name="connsiteX155" fmla="*/ 12892750 w 13326035"/>
                <a:gd name="connsiteY155" fmla="*/ 2604479 h 7893423"/>
                <a:gd name="connsiteX156" fmla="*/ 10100078 w 13326035"/>
                <a:gd name="connsiteY156" fmla="*/ 2604478 h 7893423"/>
                <a:gd name="connsiteX157" fmla="*/ 9828436 w 13326035"/>
                <a:gd name="connsiteY157" fmla="*/ 3147763 h 7893423"/>
                <a:gd name="connsiteX158" fmla="*/ 10100078 w 13326035"/>
                <a:gd name="connsiteY158" fmla="*/ 3691046 h 7893423"/>
                <a:gd name="connsiteX159" fmla="*/ 10822138 w 13326035"/>
                <a:gd name="connsiteY159" fmla="*/ 3691046 h 7893423"/>
                <a:gd name="connsiteX160" fmla="*/ 11093780 w 13326035"/>
                <a:gd name="connsiteY160" fmla="*/ 3147763 h 7893423"/>
                <a:gd name="connsiteX161" fmla="*/ 10822138 w 13326035"/>
                <a:gd name="connsiteY161" fmla="*/ 2604478 h 7893423"/>
                <a:gd name="connsiteX162" fmla="*/ 8029466 w 13326035"/>
                <a:gd name="connsiteY162" fmla="*/ 2604477 h 7893423"/>
                <a:gd name="connsiteX163" fmla="*/ 7757824 w 13326035"/>
                <a:gd name="connsiteY163" fmla="*/ 3147761 h 7893423"/>
                <a:gd name="connsiteX164" fmla="*/ 8029466 w 13326035"/>
                <a:gd name="connsiteY164" fmla="*/ 3691043 h 7893423"/>
                <a:gd name="connsiteX165" fmla="*/ 8751526 w 13326035"/>
                <a:gd name="connsiteY165" fmla="*/ 3691043 h 7893423"/>
                <a:gd name="connsiteX166" fmla="*/ 9023168 w 13326035"/>
                <a:gd name="connsiteY166" fmla="*/ 3147761 h 7893423"/>
                <a:gd name="connsiteX167" fmla="*/ 8751526 w 13326035"/>
                <a:gd name="connsiteY167" fmla="*/ 2604477 h 7893423"/>
                <a:gd name="connsiteX168" fmla="*/ 5958855 w 13326035"/>
                <a:gd name="connsiteY168" fmla="*/ 2604475 h 7893423"/>
                <a:gd name="connsiteX169" fmla="*/ 5687213 w 13326035"/>
                <a:gd name="connsiteY169" fmla="*/ 3147759 h 7893423"/>
                <a:gd name="connsiteX170" fmla="*/ 5958855 w 13326035"/>
                <a:gd name="connsiteY170" fmla="*/ 3691042 h 7893423"/>
                <a:gd name="connsiteX171" fmla="*/ 6680914 w 13326035"/>
                <a:gd name="connsiteY171" fmla="*/ 3691042 h 7893423"/>
                <a:gd name="connsiteX172" fmla="*/ 6952556 w 13326035"/>
                <a:gd name="connsiteY172" fmla="*/ 3147759 h 7893423"/>
                <a:gd name="connsiteX173" fmla="*/ 6680914 w 13326035"/>
                <a:gd name="connsiteY173" fmla="*/ 2604475 h 7893423"/>
                <a:gd name="connsiteX174" fmla="*/ 11135384 w 13326035"/>
                <a:gd name="connsiteY174" fmla="*/ 2039229 h 7893423"/>
                <a:gd name="connsiteX175" fmla="*/ 10863742 w 13326035"/>
                <a:gd name="connsiteY175" fmla="*/ 2582513 h 7893423"/>
                <a:gd name="connsiteX176" fmla="*/ 11135384 w 13326035"/>
                <a:gd name="connsiteY176" fmla="*/ 3125795 h 7893423"/>
                <a:gd name="connsiteX177" fmla="*/ 11857444 w 13326035"/>
                <a:gd name="connsiteY177" fmla="*/ 3125795 h 7893423"/>
                <a:gd name="connsiteX178" fmla="*/ 12129086 w 13326035"/>
                <a:gd name="connsiteY178" fmla="*/ 2582513 h 7893423"/>
                <a:gd name="connsiteX179" fmla="*/ 11857444 w 13326035"/>
                <a:gd name="connsiteY179" fmla="*/ 2039229 h 7893423"/>
                <a:gd name="connsiteX180" fmla="*/ 9064772 w 13326035"/>
                <a:gd name="connsiteY180" fmla="*/ 2035511 h 7893423"/>
                <a:gd name="connsiteX181" fmla="*/ 8793130 w 13326035"/>
                <a:gd name="connsiteY181" fmla="*/ 2578796 h 7893423"/>
                <a:gd name="connsiteX182" fmla="*/ 9064772 w 13326035"/>
                <a:gd name="connsiteY182" fmla="*/ 3122077 h 7893423"/>
                <a:gd name="connsiteX183" fmla="*/ 9786832 w 13326035"/>
                <a:gd name="connsiteY183" fmla="*/ 3122077 h 7893423"/>
                <a:gd name="connsiteX184" fmla="*/ 10058474 w 13326035"/>
                <a:gd name="connsiteY184" fmla="*/ 2578796 h 7893423"/>
                <a:gd name="connsiteX185" fmla="*/ 9786832 w 13326035"/>
                <a:gd name="connsiteY185" fmla="*/ 2035511 h 7893423"/>
                <a:gd name="connsiteX186" fmla="*/ 6994161 w 13326035"/>
                <a:gd name="connsiteY186" fmla="*/ 2035510 h 7893423"/>
                <a:gd name="connsiteX187" fmla="*/ 6722518 w 13326035"/>
                <a:gd name="connsiteY187" fmla="*/ 2578794 h 7893423"/>
                <a:gd name="connsiteX188" fmla="*/ 6994161 w 13326035"/>
                <a:gd name="connsiteY188" fmla="*/ 3122077 h 7893423"/>
                <a:gd name="connsiteX189" fmla="*/ 7716220 w 13326035"/>
                <a:gd name="connsiteY189" fmla="*/ 3122077 h 7893423"/>
                <a:gd name="connsiteX190" fmla="*/ 7987862 w 13326035"/>
                <a:gd name="connsiteY190" fmla="*/ 2578794 h 7893423"/>
                <a:gd name="connsiteX191" fmla="*/ 7716220 w 13326035"/>
                <a:gd name="connsiteY191" fmla="*/ 2035510 h 7893423"/>
                <a:gd name="connsiteX192" fmla="*/ 4923548 w 13326035"/>
                <a:gd name="connsiteY192" fmla="*/ 2035508 h 7893423"/>
                <a:gd name="connsiteX193" fmla="*/ 4651908 w 13326035"/>
                <a:gd name="connsiteY193" fmla="*/ 2578792 h 7893423"/>
                <a:gd name="connsiteX194" fmla="*/ 4923548 w 13326035"/>
                <a:gd name="connsiteY194" fmla="*/ 3122076 h 7893423"/>
                <a:gd name="connsiteX195" fmla="*/ 5645609 w 13326035"/>
                <a:gd name="connsiteY195" fmla="*/ 3122076 h 7893423"/>
                <a:gd name="connsiteX196" fmla="*/ 5917250 w 13326035"/>
                <a:gd name="connsiteY196" fmla="*/ 2578792 h 7893423"/>
                <a:gd name="connsiteX197" fmla="*/ 5645609 w 13326035"/>
                <a:gd name="connsiteY197" fmla="*/ 2035508 h 7893423"/>
                <a:gd name="connsiteX198" fmla="*/ 12170690 w 13326035"/>
                <a:gd name="connsiteY198" fmla="*/ 1473978 h 7893423"/>
                <a:gd name="connsiteX199" fmla="*/ 11899048 w 13326035"/>
                <a:gd name="connsiteY199" fmla="*/ 2017263 h 7893423"/>
                <a:gd name="connsiteX200" fmla="*/ 12170690 w 13326035"/>
                <a:gd name="connsiteY200" fmla="*/ 2560546 h 7893423"/>
                <a:gd name="connsiteX201" fmla="*/ 12892750 w 13326035"/>
                <a:gd name="connsiteY201" fmla="*/ 2560546 h 7893423"/>
                <a:gd name="connsiteX202" fmla="*/ 13164392 w 13326035"/>
                <a:gd name="connsiteY202" fmla="*/ 2017263 h 7893423"/>
                <a:gd name="connsiteX203" fmla="*/ 12892750 w 13326035"/>
                <a:gd name="connsiteY203" fmla="*/ 1473978 h 7893423"/>
                <a:gd name="connsiteX204" fmla="*/ 3888244 w 13326035"/>
                <a:gd name="connsiteY204" fmla="*/ 1473978 h 7893423"/>
                <a:gd name="connsiteX205" fmla="*/ 3616601 w 13326035"/>
                <a:gd name="connsiteY205" fmla="*/ 2017263 h 7893423"/>
                <a:gd name="connsiteX206" fmla="*/ 3888244 w 13326035"/>
                <a:gd name="connsiteY206" fmla="*/ 2560546 h 7893423"/>
                <a:gd name="connsiteX207" fmla="*/ 4610303 w 13326035"/>
                <a:gd name="connsiteY207" fmla="*/ 2560546 h 7893423"/>
                <a:gd name="connsiteX208" fmla="*/ 4881944 w 13326035"/>
                <a:gd name="connsiteY208" fmla="*/ 2017263 h 7893423"/>
                <a:gd name="connsiteX209" fmla="*/ 4610303 w 13326035"/>
                <a:gd name="connsiteY209" fmla="*/ 1473978 h 7893423"/>
                <a:gd name="connsiteX210" fmla="*/ 10100078 w 13326035"/>
                <a:gd name="connsiteY210" fmla="*/ 1473977 h 7893423"/>
                <a:gd name="connsiteX211" fmla="*/ 9828436 w 13326035"/>
                <a:gd name="connsiteY211" fmla="*/ 2017261 h 7893423"/>
                <a:gd name="connsiteX212" fmla="*/ 10100078 w 13326035"/>
                <a:gd name="connsiteY212" fmla="*/ 2560544 h 7893423"/>
                <a:gd name="connsiteX213" fmla="*/ 10822138 w 13326035"/>
                <a:gd name="connsiteY213" fmla="*/ 2560544 h 7893423"/>
                <a:gd name="connsiteX214" fmla="*/ 11093780 w 13326035"/>
                <a:gd name="connsiteY214" fmla="*/ 2017261 h 7893423"/>
                <a:gd name="connsiteX215" fmla="*/ 10822138 w 13326035"/>
                <a:gd name="connsiteY215" fmla="*/ 1473977 h 7893423"/>
                <a:gd name="connsiteX216" fmla="*/ 8029466 w 13326035"/>
                <a:gd name="connsiteY216" fmla="*/ 1473975 h 7893423"/>
                <a:gd name="connsiteX217" fmla="*/ 7757824 w 13326035"/>
                <a:gd name="connsiteY217" fmla="*/ 2017260 h 7893423"/>
                <a:gd name="connsiteX218" fmla="*/ 8029466 w 13326035"/>
                <a:gd name="connsiteY218" fmla="*/ 2560543 h 7893423"/>
                <a:gd name="connsiteX219" fmla="*/ 8751526 w 13326035"/>
                <a:gd name="connsiteY219" fmla="*/ 2560543 h 7893423"/>
                <a:gd name="connsiteX220" fmla="*/ 9023168 w 13326035"/>
                <a:gd name="connsiteY220" fmla="*/ 2017260 h 7893423"/>
                <a:gd name="connsiteX221" fmla="*/ 8751526 w 13326035"/>
                <a:gd name="connsiteY221" fmla="*/ 1473975 h 7893423"/>
                <a:gd name="connsiteX222" fmla="*/ 5958855 w 13326035"/>
                <a:gd name="connsiteY222" fmla="*/ 1473974 h 7893423"/>
                <a:gd name="connsiteX223" fmla="*/ 5687213 w 13326035"/>
                <a:gd name="connsiteY223" fmla="*/ 2017258 h 7893423"/>
                <a:gd name="connsiteX224" fmla="*/ 5958855 w 13326035"/>
                <a:gd name="connsiteY224" fmla="*/ 2560541 h 7893423"/>
                <a:gd name="connsiteX225" fmla="*/ 6680914 w 13326035"/>
                <a:gd name="connsiteY225" fmla="*/ 2560541 h 7893423"/>
                <a:gd name="connsiteX226" fmla="*/ 6952556 w 13326035"/>
                <a:gd name="connsiteY226" fmla="*/ 2017258 h 7893423"/>
                <a:gd name="connsiteX227" fmla="*/ 6680914 w 13326035"/>
                <a:gd name="connsiteY227" fmla="*/ 1473974 h 7893423"/>
                <a:gd name="connsiteX228" fmla="*/ 11135384 w 13326035"/>
                <a:gd name="connsiteY228" fmla="*/ 908728 h 7893423"/>
                <a:gd name="connsiteX229" fmla="*/ 10863742 w 13326035"/>
                <a:gd name="connsiteY229" fmla="*/ 1452012 h 7893423"/>
                <a:gd name="connsiteX230" fmla="*/ 11135384 w 13326035"/>
                <a:gd name="connsiteY230" fmla="*/ 1995295 h 7893423"/>
                <a:gd name="connsiteX231" fmla="*/ 11857444 w 13326035"/>
                <a:gd name="connsiteY231" fmla="*/ 1995295 h 7893423"/>
                <a:gd name="connsiteX232" fmla="*/ 12129086 w 13326035"/>
                <a:gd name="connsiteY232" fmla="*/ 1452012 h 7893423"/>
                <a:gd name="connsiteX233" fmla="*/ 11857444 w 13326035"/>
                <a:gd name="connsiteY233" fmla="*/ 908728 h 7893423"/>
                <a:gd name="connsiteX234" fmla="*/ 9064772 w 13326035"/>
                <a:gd name="connsiteY234" fmla="*/ 905010 h 7893423"/>
                <a:gd name="connsiteX235" fmla="*/ 8793130 w 13326035"/>
                <a:gd name="connsiteY235" fmla="*/ 1448294 h 7893423"/>
                <a:gd name="connsiteX236" fmla="*/ 9064772 w 13326035"/>
                <a:gd name="connsiteY236" fmla="*/ 1991578 h 7893423"/>
                <a:gd name="connsiteX237" fmla="*/ 9786832 w 13326035"/>
                <a:gd name="connsiteY237" fmla="*/ 1991578 h 7893423"/>
                <a:gd name="connsiteX238" fmla="*/ 10058474 w 13326035"/>
                <a:gd name="connsiteY238" fmla="*/ 1448294 h 7893423"/>
                <a:gd name="connsiteX239" fmla="*/ 9786832 w 13326035"/>
                <a:gd name="connsiteY239" fmla="*/ 905010 h 7893423"/>
                <a:gd name="connsiteX240" fmla="*/ 6994161 w 13326035"/>
                <a:gd name="connsiteY240" fmla="*/ 905009 h 7893423"/>
                <a:gd name="connsiteX241" fmla="*/ 6722518 w 13326035"/>
                <a:gd name="connsiteY241" fmla="*/ 1448293 h 7893423"/>
                <a:gd name="connsiteX242" fmla="*/ 6994161 w 13326035"/>
                <a:gd name="connsiteY242" fmla="*/ 1991576 h 7893423"/>
                <a:gd name="connsiteX243" fmla="*/ 7716220 w 13326035"/>
                <a:gd name="connsiteY243" fmla="*/ 1991576 h 7893423"/>
                <a:gd name="connsiteX244" fmla="*/ 7987862 w 13326035"/>
                <a:gd name="connsiteY244" fmla="*/ 1448293 h 7893423"/>
                <a:gd name="connsiteX245" fmla="*/ 7716220 w 13326035"/>
                <a:gd name="connsiteY245" fmla="*/ 905009 h 7893423"/>
                <a:gd name="connsiteX246" fmla="*/ 4923548 w 13326035"/>
                <a:gd name="connsiteY246" fmla="*/ 905007 h 7893423"/>
                <a:gd name="connsiteX247" fmla="*/ 4651908 w 13326035"/>
                <a:gd name="connsiteY247" fmla="*/ 1448291 h 7893423"/>
                <a:gd name="connsiteX248" fmla="*/ 4923548 w 13326035"/>
                <a:gd name="connsiteY248" fmla="*/ 1991574 h 7893423"/>
                <a:gd name="connsiteX249" fmla="*/ 5645609 w 13326035"/>
                <a:gd name="connsiteY249" fmla="*/ 1991574 h 7893423"/>
                <a:gd name="connsiteX250" fmla="*/ 5917250 w 13326035"/>
                <a:gd name="connsiteY250" fmla="*/ 1448291 h 7893423"/>
                <a:gd name="connsiteX251" fmla="*/ 5645609 w 13326035"/>
                <a:gd name="connsiteY251" fmla="*/ 905007 h 7893423"/>
                <a:gd name="connsiteX252" fmla="*/ 8029466 w 13326035"/>
                <a:gd name="connsiteY252" fmla="*/ 343475 h 7893423"/>
                <a:gd name="connsiteX253" fmla="*/ 7757824 w 13326035"/>
                <a:gd name="connsiteY253" fmla="*/ 886759 h 7893423"/>
                <a:gd name="connsiteX254" fmla="*/ 8029466 w 13326035"/>
                <a:gd name="connsiteY254" fmla="*/ 1430041 h 7893423"/>
                <a:gd name="connsiteX255" fmla="*/ 8751526 w 13326035"/>
                <a:gd name="connsiteY255" fmla="*/ 1430041 h 7893423"/>
                <a:gd name="connsiteX256" fmla="*/ 9023168 w 13326035"/>
                <a:gd name="connsiteY256" fmla="*/ 886759 h 7893423"/>
                <a:gd name="connsiteX257" fmla="*/ 8751526 w 13326035"/>
                <a:gd name="connsiteY257" fmla="*/ 343475 h 7893423"/>
                <a:gd name="connsiteX258" fmla="*/ 0 w 13326035"/>
                <a:gd name="connsiteY258" fmla="*/ 0 h 7893423"/>
                <a:gd name="connsiteX259" fmla="*/ 6881415 w 13326035"/>
                <a:gd name="connsiteY259" fmla="*/ 0 h 7893423"/>
                <a:gd name="connsiteX260" fmla="*/ 6722518 w 13326035"/>
                <a:gd name="connsiteY260" fmla="*/ 317792 h 7893423"/>
                <a:gd name="connsiteX261" fmla="*/ 6994161 w 13326035"/>
                <a:gd name="connsiteY261" fmla="*/ 861075 h 7893423"/>
                <a:gd name="connsiteX262" fmla="*/ 7716220 w 13326035"/>
                <a:gd name="connsiteY262" fmla="*/ 861075 h 7893423"/>
                <a:gd name="connsiteX263" fmla="*/ 7987862 w 13326035"/>
                <a:gd name="connsiteY263" fmla="*/ 317792 h 7893423"/>
                <a:gd name="connsiteX264" fmla="*/ 7828966 w 13326035"/>
                <a:gd name="connsiteY264" fmla="*/ 0 h 7893423"/>
                <a:gd name="connsiteX265" fmla="*/ 11024498 w 13326035"/>
                <a:gd name="connsiteY265" fmla="*/ 0 h 7893423"/>
                <a:gd name="connsiteX266" fmla="*/ 10863742 w 13326035"/>
                <a:gd name="connsiteY266" fmla="*/ 321511 h 7893423"/>
                <a:gd name="connsiteX267" fmla="*/ 11135384 w 13326035"/>
                <a:gd name="connsiteY267" fmla="*/ 864794 h 7893423"/>
                <a:gd name="connsiteX268" fmla="*/ 11857444 w 13326035"/>
                <a:gd name="connsiteY268" fmla="*/ 864794 h 7893423"/>
                <a:gd name="connsiteX269" fmla="*/ 12129086 w 13326035"/>
                <a:gd name="connsiteY269" fmla="*/ 321511 h 7893423"/>
                <a:gd name="connsiteX270" fmla="*/ 11968330 w 13326035"/>
                <a:gd name="connsiteY270" fmla="*/ 0 h 7893423"/>
                <a:gd name="connsiteX271" fmla="*/ 13326035 w 13326035"/>
                <a:gd name="connsiteY271" fmla="*/ 0 h 7893423"/>
                <a:gd name="connsiteX272" fmla="*/ 13326035 w 13326035"/>
                <a:gd name="connsiteY272" fmla="*/ 7893423 h 7893423"/>
                <a:gd name="connsiteX273" fmla="*/ 13052561 w 13326035"/>
                <a:gd name="connsiteY273" fmla="*/ 7893423 h 7893423"/>
                <a:gd name="connsiteX274" fmla="*/ 13164392 w 13326035"/>
                <a:gd name="connsiteY274" fmla="*/ 7669762 h 7893423"/>
                <a:gd name="connsiteX275" fmla="*/ 12892750 w 13326035"/>
                <a:gd name="connsiteY275" fmla="*/ 7126478 h 7893423"/>
                <a:gd name="connsiteX276" fmla="*/ 12170690 w 13326035"/>
                <a:gd name="connsiteY276" fmla="*/ 7126478 h 7893423"/>
                <a:gd name="connsiteX277" fmla="*/ 11899048 w 13326035"/>
                <a:gd name="connsiteY277" fmla="*/ 7669762 h 7893423"/>
                <a:gd name="connsiteX278" fmla="*/ 12010879 w 13326035"/>
                <a:gd name="connsiteY278" fmla="*/ 7893423 h 7893423"/>
                <a:gd name="connsiteX279" fmla="*/ 10981949 w 13326035"/>
                <a:gd name="connsiteY279" fmla="*/ 7893423 h 7893423"/>
                <a:gd name="connsiteX280" fmla="*/ 11093780 w 13326035"/>
                <a:gd name="connsiteY280" fmla="*/ 7669762 h 7893423"/>
                <a:gd name="connsiteX281" fmla="*/ 10822138 w 13326035"/>
                <a:gd name="connsiteY281" fmla="*/ 7126478 h 7893423"/>
                <a:gd name="connsiteX282" fmla="*/ 10100078 w 13326035"/>
                <a:gd name="connsiteY282" fmla="*/ 7126478 h 7893423"/>
                <a:gd name="connsiteX283" fmla="*/ 9828436 w 13326035"/>
                <a:gd name="connsiteY283" fmla="*/ 7669762 h 7893423"/>
                <a:gd name="connsiteX284" fmla="*/ 9940267 w 13326035"/>
                <a:gd name="connsiteY284" fmla="*/ 7893423 h 7893423"/>
                <a:gd name="connsiteX285" fmla="*/ 8911337 w 13326035"/>
                <a:gd name="connsiteY285" fmla="*/ 7893423 h 7893423"/>
                <a:gd name="connsiteX286" fmla="*/ 9023168 w 13326035"/>
                <a:gd name="connsiteY286" fmla="*/ 7669762 h 7893423"/>
                <a:gd name="connsiteX287" fmla="*/ 8751526 w 13326035"/>
                <a:gd name="connsiteY287" fmla="*/ 7126478 h 7893423"/>
                <a:gd name="connsiteX288" fmla="*/ 8029466 w 13326035"/>
                <a:gd name="connsiteY288" fmla="*/ 7126478 h 7893423"/>
                <a:gd name="connsiteX289" fmla="*/ 7757824 w 13326035"/>
                <a:gd name="connsiteY289" fmla="*/ 7669762 h 7893423"/>
                <a:gd name="connsiteX290" fmla="*/ 7869655 w 13326035"/>
                <a:gd name="connsiteY290" fmla="*/ 7893423 h 7893423"/>
                <a:gd name="connsiteX291" fmla="*/ 0 w 13326035"/>
                <a:gd name="connsiteY291" fmla="*/ 7893423 h 7893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</a:cxnLst>
              <a:rect l="l" t="t" r="r" b="b"/>
              <a:pathLst>
                <a:path w="13326035" h="7893423">
                  <a:moveTo>
                    <a:pt x="11135384" y="6561228"/>
                  </a:moveTo>
                  <a:lnTo>
                    <a:pt x="10863742" y="7104512"/>
                  </a:lnTo>
                  <a:lnTo>
                    <a:pt x="11135384" y="7647795"/>
                  </a:lnTo>
                  <a:lnTo>
                    <a:pt x="11857444" y="7647795"/>
                  </a:lnTo>
                  <a:lnTo>
                    <a:pt x="12129086" y="7104512"/>
                  </a:lnTo>
                  <a:lnTo>
                    <a:pt x="11857444" y="6561228"/>
                  </a:lnTo>
                  <a:close/>
                  <a:moveTo>
                    <a:pt x="9064772" y="6557512"/>
                  </a:moveTo>
                  <a:lnTo>
                    <a:pt x="8793130" y="7100796"/>
                  </a:lnTo>
                  <a:lnTo>
                    <a:pt x="9064772" y="7644079"/>
                  </a:lnTo>
                  <a:lnTo>
                    <a:pt x="9786832" y="7644079"/>
                  </a:lnTo>
                  <a:lnTo>
                    <a:pt x="10058474" y="7100796"/>
                  </a:lnTo>
                  <a:lnTo>
                    <a:pt x="9786832" y="6557512"/>
                  </a:lnTo>
                  <a:close/>
                  <a:moveTo>
                    <a:pt x="6994161" y="6557512"/>
                  </a:moveTo>
                  <a:lnTo>
                    <a:pt x="6722518" y="7100796"/>
                  </a:lnTo>
                  <a:lnTo>
                    <a:pt x="6994161" y="7644079"/>
                  </a:lnTo>
                  <a:lnTo>
                    <a:pt x="7716220" y="7644079"/>
                  </a:lnTo>
                  <a:lnTo>
                    <a:pt x="7987862" y="7100796"/>
                  </a:lnTo>
                  <a:lnTo>
                    <a:pt x="7716220" y="6557512"/>
                  </a:lnTo>
                  <a:close/>
                  <a:moveTo>
                    <a:pt x="12170690" y="5995977"/>
                  </a:moveTo>
                  <a:lnTo>
                    <a:pt x="11899048" y="6539261"/>
                  </a:lnTo>
                  <a:lnTo>
                    <a:pt x="12170690" y="7082544"/>
                  </a:lnTo>
                  <a:lnTo>
                    <a:pt x="12892750" y="7082544"/>
                  </a:lnTo>
                  <a:lnTo>
                    <a:pt x="13164392" y="6539261"/>
                  </a:lnTo>
                  <a:lnTo>
                    <a:pt x="12892750" y="5995977"/>
                  </a:lnTo>
                  <a:close/>
                  <a:moveTo>
                    <a:pt x="10100078" y="5995977"/>
                  </a:moveTo>
                  <a:lnTo>
                    <a:pt x="9828436" y="6539261"/>
                  </a:lnTo>
                  <a:lnTo>
                    <a:pt x="10100078" y="7082544"/>
                  </a:lnTo>
                  <a:lnTo>
                    <a:pt x="10822138" y="7082544"/>
                  </a:lnTo>
                  <a:lnTo>
                    <a:pt x="11093780" y="6539261"/>
                  </a:lnTo>
                  <a:lnTo>
                    <a:pt x="10822138" y="5995977"/>
                  </a:lnTo>
                  <a:close/>
                  <a:moveTo>
                    <a:pt x="8029466" y="5995977"/>
                  </a:moveTo>
                  <a:lnTo>
                    <a:pt x="7757824" y="6539261"/>
                  </a:lnTo>
                  <a:lnTo>
                    <a:pt x="8029466" y="7082544"/>
                  </a:lnTo>
                  <a:lnTo>
                    <a:pt x="8751526" y="7082544"/>
                  </a:lnTo>
                  <a:lnTo>
                    <a:pt x="9023168" y="6539261"/>
                  </a:lnTo>
                  <a:lnTo>
                    <a:pt x="8751526" y="5995977"/>
                  </a:lnTo>
                  <a:close/>
                  <a:moveTo>
                    <a:pt x="1232998" y="5995976"/>
                  </a:moveTo>
                  <a:lnTo>
                    <a:pt x="961356" y="6539260"/>
                  </a:lnTo>
                  <a:lnTo>
                    <a:pt x="1232998" y="7082543"/>
                  </a:lnTo>
                  <a:lnTo>
                    <a:pt x="1955058" y="7082543"/>
                  </a:lnTo>
                  <a:lnTo>
                    <a:pt x="2226700" y="6539260"/>
                  </a:lnTo>
                  <a:lnTo>
                    <a:pt x="1955058" y="5995976"/>
                  </a:lnTo>
                  <a:close/>
                  <a:moveTo>
                    <a:pt x="5958855" y="5990141"/>
                  </a:moveTo>
                  <a:lnTo>
                    <a:pt x="5687213" y="6533425"/>
                  </a:lnTo>
                  <a:lnTo>
                    <a:pt x="5958855" y="7076708"/>
                  </a:lnTo>
                  <a:lnTo>
                    <a:pt x="6680914" y="7076708"/>
                  </a:lnTo>
                  <a:lnTo>
                    <a:pt x="6952556" y="6533425"/>
                  </a:lnTo>
                  <a:lnTo>
                    <a:pt x="6680914" y="5990141"/>
                  </a:lnTo>
                  <a:close/>
                  <a:moveTo>
                    <a:pt x="11135384" y="5430727"/>
                  </a:moveTo>
                  <a:lnTo>
                    <a:pt x="10863742" y="5974011"/>
                  </a:lnTo>
                  <a:lnTo>
                    <a:pt x="11135384" y="6517294"/>
                  </a:lnTo>
                  <a:lnTo>
                    <a:pt x="11857444" y="6517294"/>
                  </a:lnTo>
                  <a:lnTo>
                    <a:pt x="12129086" y="5974011"/>
                  </a:lnTo>
                  <a:lnTo>
                    <a:pt x="11857444" y="5430727"/>
                  </a:lnTo>
                  <a:close/>
                  <a:moveTo>
                    <a:pt x="9064772" y="5427011"/>
                  </a:moveTo>
                  <a:lnTo>
                    <a:pt x="8793130" y="5970295"/>
                  </a:lnTo>
                  <a:lnTo>
                    <a:pt x="9064772" y="6513578"/>
                  </a:lnTo>
                  <a:lnTo>
                    <a:pt x="9786832" y="6513578"/>
                  </a:lnTo>
                  <a:lnTo>
                    <a:pt x="10058474" y="5970295"/>
                  </a:lnTo>
                  <a:lnTo>
                    <a:pt x="9786832" y="5427011"/>
                  </a:lnTo>
                  <a:close/>
                  <a:moveTo>
                    <a:pt x="6994161" y="5427011"/>
                  </a:moveTo>
                  <a:lnTo>
                    <a:pt x="6722518" y="5970295"/>
                  </a:lnTo>
                  <a:lnTo>
                    <a:pt x="6994161" y="6513578"/>
                  </a:lnTo>
                  <a:lnTo>
                    <a:pt x="7716220" y="6513578"/>
                  </a:lnTo>
                  <a:lnTo>
                    <a:pt x="7987862" y="5970295"/>
                  </a:lnTo>
                  <a:lnTo>
                    <a:pt x="7716220" y="5427011"/>
                  </a:lnTo>
                  <a:close/>
                  <a:moveTo>
                    <a:pt x="12170690" y="4865476"/>
                  </a:moveTo>
                  <a:lnTo>
                    <a:pt x="11899048" y="5408760"/>
                  </a:lnTo>
                  <a:lnTo>
                    <a:pt x="12170690" y="5952043"/>
                  </a:lnTo>
                  <a:lnTo>
                    <a:pt x="12892750" y="5952043"/>
                  </a:lnTo>
                  <a:lnTo>
                    <a:pt x="13164392" y="5408760"/>
                  </a:lnTo>
                  <a:lnTo>
                    <a:pt x="12892750" y="4865476"/>
                  </a:lnTo>
                  <a:close/>
                  <a:moveTo>
                    <a:pt x="10100078" y="4865476"/>
                  </a:moveTo>
                  <a:lnTo>
                    <a:pt x="9828436" y="5408760"/>
                  </a:lnTo>
                  <a:lnTo>
                    <a:pt x="10100078" y="5952043"/>
                  </a:lnTo>
                  <a:lnTo>
                    <a:pt x="10822138" y="5952043"/>
                  </a:lnTo>
                  <a:lnTo>
                    <a:pt x="11093780" y="5408760"/>
                  </a:lnTo>
                  <a:lnTo>
                    <a:pt x="10822138" y="4865476"/>
                  </a:lnTo>
                  <a:close/>
                  <a:moveTo>
                    <a:pt x="8029466" y="4865476"/>
                  </a:moveTo>
                  <a:lnTo>
                    <a:pt x="7757824" y="5408760"/>
                  </a:lnTo>
                  <a:lnTo>
                    <a:pt x="8029466" y="5952043"/>
                  </a:lnTo>
                  <a:lnTo>
                    <a:pt x="8751526" y="5952043"/>
                  </a:lnTo>
                  <a:lnTo>
                    <a:pt x="9023168" y="5408760"/>
                  </a:lnTo>
                  <a:lnTo>
                    <a:pt x="8751526" y="4865476"/>
                  </a:lnTo>
                  <a:close/>
                  <a:moveTo>
                    <a:pt x="11135384" y="4300226"/>
                  </a:moveTo>
                  <a:lnTo>
                    <a:pt x="10863742" y="4843510"/>
                  </a:lnTo>
                  <a:lnTo>
                    <a:pt x="11135384" y="5386793"/>
                  </a:lnTo>
                  <a:lnTo>
                    <a:pt x="11857444" y="5386793"/>
                  </a:lnTo>
                  <a:lnTo>
                    <a:pt x="12129086" y="4843510"/>
                  </a:lnTo>
                  <a:lnTo>
                    <a:pt x="11857444" y="4300226"/>
                  </a:lnTo>
                  <a:close/>
                  <a:moveTo>
                    <a:pt x="9064772" y="4296510"/>
                  </a:moveTo>
                  <a:lnTo>
                    <a:pt x="8793130" y="4839794"/>
                  </a:lnTo>
                  <a:lnTo>
                    <a:pt x="9064772" y="5383077"/>
                  </a:lnTo>
                  <a:lnTo>
                    <a:pt x="9786832" y="5383077"/>
                  </a:lnTo>
                  <a:lnTo>
                    <a:pt x="10058474" y="4839794"/>
                  </a:lnTo>
                  <a:lnTo>
                    <a:pt x="9786832" y="4296510"/>
                  </a:lnTo>
                  <a:close/>
                  <a:moveTo>
                    <a:pt x="6994161" y="4296510"/>
                  </a:moveTo>
                  <a:lnTo>
                    <a:pt x="6722518" y="4839794"/>
                  </a:lnTo>
                  <a:lnTo>
                    <a:pt x="6994161" y="5383077"/>
                  </a:lnTo>
                  <a:lnTo>
                    <a:pt x="7716220" y="5383077"/>
                  </a:lnTo>
                  <a:lnTo>
                    <a:pt x="7987862" y="4839794"/>
                  </a:lnTo>
                  <a:lnTo>
                    <a:pt x="7716220" y="4296510"/>
                  </a:lnTo>
                  <a:close/>
                  <a:moveTo>
                    <a:pt x="12170690" y="3734981"/>
                  </a:moveTo>
                  <a:lnTo>
                    <a:pt x="11899048" y="4278259"/>
                  </a:lnTo>
                  <a:lnTo>
                    <a:pt x="12170690" y="4821542"/>
                  </a:lnTo>
                  <a:lnTo>
                    <a:pt x="12892750" y="4821542"/>
                  </a:lnTo>
                  <a:lnTo>
                    <a:pt x="13164392" y="4278259"/>
                  </a:lnTo>
                  <a:lnTo>
                    <a:pt x="12892750" y="3734981"/>
                  </a:lnTo>
                  <a:close/>
                  <a:moveTo>
                    <a:pt x="10100078" y="3734978"/>
                  </a:moveTo>
                  <a:lnTo>
                    <a:pt x="9828436" y="4278259"/>
                  </a:lnTo>
                  <a:lnTo>
                    <a:pt x="10100078" y="4821542"/>
                  </a:lnTo>
                  <a:lnTo>
                    <a:pt x="10822138" y="4821542"/>
                  </a:lnTo>
                  <a:lnTo>
                    <a:pt x="11093780" y="4278259"/>
                  </a:lnTo>
                  <a:lnTo>
                    <a:pt x="10822138" y="3734978"/>
                  </a:lnTo>
                  <a:close/>
                  <a:moveTo>
                    <a:pt x="8029466" y="3734977"/>
                  </a:moveTo>
                  <a:lnTo>
                    <a:pt x="7757824" y="4278259"/>
                  </a:lnTo>
                  <a:lnTo>
                    <a:pt x="8029466" y="4821542"/>
                  </a:lnTo>
                  <a:lnTo>
                    <a:pt x="8751526" y="4821542"/>
                  </a:lnTo>
                  <a:lnTo>
                    <a:pt x="9023168" y="4278259"/>
                  </a:lnTo>
                  <a:lnTo>
                    <a:pt x="8751526" y="3734977"/>
                  </a:lnTo>
                  <a:close/>
                  <a:moveTo>
                    <a:pt x="5958855" y="3734976"/>
                  </a:moveTo>
                  <a:lnTo>
                    <a:pt x="5687213" y="4278259"/>
                  </a:lnTo>
                  <a:lnTo>
                    <a:pt x="5958855" y="4821542"/>
                  </a:lnTo>
                  <a:lnTo>
                    <a:pt x="6680914" y="4821542"/>
                  </a:lnTo>
                  <a:lnTo>
                    <a:pt x="6952556" y="4278259"/>
                  </a:lnTo>
                  <a:lnTo>
                    <a:pt x="6680914" y="3734976"/>
                  </a:lnTo>
                  <a:close/>
                  <a:moveTo>
                    <a:pt x="11135384" y="3169730"/>
                  </a:moveTo>
                  <a:lnTo>
                    <a:pt x="10863742" y="3713013"/>
                  </a:lnTo>
                  <a:lnTo>
                    <a:pt x="11135384" y="4256292"/>
                  </a:lnTo>
                  <a:lnTo>
                    <a:pt x="11857444" y="4256292"/>
                  </a:lnTo>
                  <a:lnTo>
                    <a:pt x="12129086" y="3713013"/>
                  </a:lnTo>
                  <a:lnTo>
                    <a:pt x="11857444" y="3169730"/>
                  </a:lnTo>
                  <a:close/>
                  <a:moveTo>
                    <a:pt x="9064772" y="3166012"/>
                  </a:moveTo>
                  <a:lnTo>
                    <a:pt x="8793130" y="3709296"/>
                  </a:lnTo>
                  <a:lnTo>
                    <a:pt x="9064772" y="4252576"/>
                  </a:lnTo>
                  <a:lnTo>
                    <a:pt x="9786832" y="4252576"/>
                  </a:lnTo>
                  <a:lnTo>
                    <a:pt x="10058474" y="3709296"/>
                  </a:lnTo>
                  <a:lnTo>
                    <a:pt x="9786832" y="3166012"/>
                  </a:lnTo>
                  <a:close/>
                  <a:moveTo>
                    <a:pt x="6994161" y="3166011"/>
                  </a:moveTo>
                  <a:lnTo>
                    <a:pt x="6722518" y="3709295"/>
                  </a:lnTo>
                  <a:lnTo>
                    <a:pt x="6994161" y="4252576"/>
                  </a:lnTo>
                  <a:lnTo>
                    <a:pt x="7716220" y="4252576"/>
                  </a:lnTo>
                  <a:lnTo>
                    <a:pt x="7987862" y="3709295"/>
                  </a:lnTo>
                  <a:lnTo>
                    <a:pt x="7716220" y="3166011"/>
                  </a:lnTo>
                  <a:close/>
                  <a:moveTo>
                    <a:pt x="4923548" y="3166009"/>
                  </a:moveTo>
                  <a:lnTo>
                    <a:pt x="4651907" y="3709293"/>
                  </a:lnTo>
                  <a:lnTo>
                    <a:pt x="4923548" y="4252576"/>
                  </a:lnTo>
                  <a:lnTo>
                    <a:pt x="5645609" y="4252576"/>
                  </a:lnTo>
                  <a:lnTo>
                    <a:pt x="5917250" y="3709293"/>
                  </a:lnTo>
                  <a:lnTo>
                    <a:pt x="5645609" y="3166009"/>
                  </a:lnTo>
                  <a:close/>
                  <a:moveTo>
                    <a:pt x="12170690" y="2604479"/>
                  </a:moveTo>
                  <a:lnTo>
                    <a:pt x="11899048" y="3147764"/>
                  </a:lnTo>
                  <a:lnTo>
                    <a:pt x="12170690" y="3691047"/>
                  </a:lnTo>
                  <a:lnTo>
                    <a:pt x="12892750" y="3691047"/>
                  </a:lnTo>
                  <a:lnTo>
                    <a:pt x="13164392" y="3147764"/>
                  </a:lnTo>
                  <a:lnTo>
                    <a:pt x="12892750" y="2604479"/>
                  </a:lnTo>
                  <a:close/>
                  <a:moveTo>
                    <a:pt x="10100078" y="2604478"/>
                  </a:moveTo>
                  <a:lnTo>
                    <a:pt x="9828436" y="3147763"/>
                  </a:lnTo>
                  <a:lnTo>
                    <a:pt x="10100078" y="3691046"/>
                  </a:lnTo>
                  <a:lnTo>
                    <a:pt x="10822138" y="3691046"/>
                  </a:lnTo>
                  <a:lnTo>
                    <a:pt x="11093780" y="3147763"/>
                  </a:lnTo>
                  <a:lnTo>
                    <a:pt x="10822138" y="2604478"/>
                  </a:lnTo>
                  <a:close/>
                  <a:moveTo>
                    <a:pt x="8029466" y="2604477"/>
                  </a:moveTo>
                  <a:lnTo>
                    <a:pt x="7757824" y="3147761"/>
                  </a:lnTo>
                  <a:lnTo>
                    <a:pt x="8029466" y="3691043"/>
                  </a:lnTo>
                  <a:lnTo>
                    <a:pt x="8751526" y="3691043"/>
                  </a:lnTo>
                  <a:lnTo>
                    <a:pt x="9023168" y="3147761"/>
                  </a:lnTo>
                  <a:lnTo>
                    <a:pt x="8751526" y="2604477"/>
                  </a:lnTo>
                  <a:close/>
                  <a:moveTo>
                    <a:pt x="5958855" y="2604475"/>
                  </a:moveTo>
                  <a:lnTo>
                    <a:pt x="5687213" y="3147759"/>
                  </a:lnTo>
                  <a:lnTo>
                    <a:pt x="5958855" y="3691042"/>
                  </a:lnTo>
                  <a:lnTo>
                    <a:pt x="6680914" y="3691042"/>
                  </a:lnTo>
                  <a:lnTo>
                    <a:pt x="6952556" y="3147759"/>
                  </a:lnTo>
                  <a:lnTo>
                    <a:pt x="6680914" y="2604475"/>
                  </a:lnTo>
                  <a:close/>
                  <a:moveTo>
                    <a:pt x="11135384" y="2039229"/>
                  </a:moveTo>
                  <a:lnTo>
                    <a:pt x="10863742" y="2582513"/>
                  </a:lnTo>
                  <a:lnTo>
                    <a:pt x="11135384" y="3125795"/>
                  </a:lnTo>
                  <a:lnTo>
                    <a:pt x="11857444" y="3125795"/>
                  </a:lnTo>
                  <a:lnTo>
                    <a:pt x="12129086" y="2582513"/>
                  </a:lnTo>
                  <a:lnTo>
                    <a:pt x="11857444" y="2039229"/>
                  </a:lnTo>
                  <a:close/>
                  <a:moveTo>
                    <a:pt x="9064772" y="2035511"/>
                  </a:moveTo>
                  <a:lnTo>
                    <a:pt x="8793130" y="2578796"/>
                  </a:lnTo>
                  <a:lnTo>
                    <a:pt x="9064772" y="3122077"/>
                  </a:lnTo>
                  <a:lnTo>
                    <a:pt x="9786832" y="3122077"/>
                  </a:lnTo>
                  <a:lnTo>
                    <a:pt x="10058474" y="2578796"/>
                  </a:lnTo>
                  <a:lnTo>
                    <a:pt x="9786832" y="2035511"/>
                  </a:lnTo>
                  <a:close/>
                  <a:moveTo>
                    <a:pt x="6994161" y="2035510"/>
                  </a:moveTo>
                  <a:lnTo>
                    <a:pt x="6722518" y="2578794"/>
                  </a:lnTo>
                  <a:lnTo>
                    <a:pt x="6994161" y="3122077"/>
                  </a:lnTo>
                  <a:lnTo>
                    <a:pt x="7716220" y="3122077"/>
                  </a:lnTo>
                  <a:lnTo>
                    <a:pt x="7987862" y="2578794"/>
                  </a:lnTo>
                  <a:lnTo>
                    <a:pt x="7716220" y="2035510"/>
                  </a:lnTo>
                  <a:close/>
                  <a:moveTo>
                    <a:pt x="4923548" y="2035508"/>
                  </a:moveTo>
                  <a:lnTo>
                    <a:pt x="4651908" y="2578792"/>
                  </a:lnTo>
                  <a:lnTo>
                    <a:pt x="4923548" y="3122076"/>
                  </a:lnTo>
                  <a:lnTo>
                    <a:pt x="5645609" y="3122076"/>
                  </a:lnTo>
                  <a:lnTo>
                    <a:pt x="5917250" y="2578792"/>
                  </a:lnTo>
                  <a:lnTo>
                    <a:pt x="5645609" y="2035508"/>
                  </a:lnTo>
                  <a:close/>
                  <a:moveTo>
                    <a:pt x="12170690" y="1473978"/>
                  </a:moveTo>
                  <a:lnTo>
                    <a:pt x="11899048" y="2017263"/>
                  </a:lnTo>
                  <a:lnTo>
                    <a:pt x="12170690" y="2560546"/>
                  </a:lnTo>
                  <a:lnTo>
                    <a:pt x="12892750" y="2560546"/>
                  </a:lnTo>
                  <a:lnTo>
                    <a:pt x="13164392" y="2017263"/>
                  </a:lnTo>
                  <a:lnTo>
                    <a:pt x="12892750" y="1473978"/>
                  </a:lnTo>
                  <a:close/>
                  <a:moveTo>
                    <a:pt x="3888244" y="1473978"/>
                  </a:moveTo>
                  <a:lnTo>
                    <a:pt x="3616601" y="2017263"/>
                  </a:lnTo>
                  <a:lnTo>
                    <a:pt x="3888244" y="2560546"/>
                  </a:lnTo>
                  <a:lnTo>
                    <a:pt x="4610303" y="2560546"/>
                  </a:lnTo>
                  <a:lnTo>
                    <a:pt x="4881944" y="2017263"/>
                  </a:lnTo>
                  <a:lnTo>
                    <a:pt x="4610303" y="1473978"/>
                  </a:lnTo>
                  <a:close/>
                  <a:moveTo>
                    <a:pt x="10100078" y="1473977"/>
                  </a:moveTo>
                  <a:lnTo>
                    <a:pt x="9828436" y="2017261"/>
                  </a:lnTo>
                  <a:lnTo>
                    <a:pt x="10100078" y="2560544"/>
                  </a:lnTo>
                  <a:lnTo>
                    <a:pt x="10822138" y="2560544"/>
                  </a:lnTo>
                  <a:lnTo>
                    <a:pt x="11093780" y="2017261"/>
                  </a:lnTo>
                  <a:lnTo>
                    <a:pt x="10822138" y="1473977"/>
                  </a:lnTo>
                  <a:close/>
                  <a:moveTo>
                    <a:pt x="8029466" y="1473975"/>
                  </a:moveTo>
                  <a:lnTo>
                    <a:pt x="7757824" y="2017260"/>
                  </a:lnTo>
                  <a:lnTo>
                    <a:pt x="8029466" y="2560543"/>
                  </a:lnTo>
                  <a:lnTo>
                    <a:pt x="8751526" y="2560543"/>
                  </a:lnTo>
                  <a:lnTo>
                    <a:pt x="9023168" y="2017260"/>
                  </a:lnTo>
                  <a:lnTo>
                    <a:pt x="8751526" y="1473975"/>
                  </a:lnTo>
                  <a:close/>
                  <a:moveTo>
                    <a:pt x="5958855" y="1473974"/>
                  </a:moveTo>
                  <a:lnTo>
                    <a:pt x="5687213" y="2017258"/>
                  </a:lnTo>
                  <a:lnTo>
                    <a:pt x="5958855" y="2560541"/>
                  </a:lnTo>
                  <a:lnTo>
                    <a:pt x="6680914" y="2560541"/>
                  </a:lnTo>
                  <a:lnTo>
                    <a:pt x="6952556" y="2017258"/>
                  </a:lnTo>
                  <a:lnTo>
                    <a:pt x="6680914" y="1473974"/>
                  </a:lnTo>
                  <a:close/>
                  <a:moveTo>
                    <a:pt x="11135384" y="908728"/>
                  </a:moveTo>
                  <a:lnTo>
                    <a:pt x="10863742" y="1452012"/>
                  </a:lnTo>
                  <a:lnTo>
                    <a:pt x="11135384" y="1995295"/>
                  </a:lnTo>
                  <a:lnTo>
                    <a:pt x="11857444" y="1995295"/>
                  </a:lnTo>
                  <a:lnTo>
                    <a:pt x="12129086" y="1452012"/>
                  </a:lnTo>
                  <a:lnTo>
                    <a:pt x="11857444" y="908728"/>
                  </a:lnTo>
                  <a:close/>
                  <a:moveTo>
                    <a:pt x="9064772" y="905010"/>
                  </a:moveTo>
                  <a:lnTo>
                    <a:pt x="8793130" y="1448294"/>
                  </a:lnTo>
                  <a:lnTo>
                    <a:pt x="9064772" y="1991578"/>
                  </a:lnTo>
                  <a:lnTo>
                    <a:pt x="9786832" y="1991578"/>
                  </a:lnTo>
                  <a:lnTo>
                    <a:pt x="10058474" y="1448294"/>
                  </a:lnTo>
                  <a:lnTo>
                    <a:pt x="9786832" y="905010"/>
                  </a:lnTo>
                  <a:close/>
                  <a:moveTo>
                    <a:pt x="6994161" y="905009"/>
                  </a:moveTo>
                  <a:lnTo>
                    <a:pt x="6722518" y="1448293"/>
                  </a:lnTo>
                  <a:lnTo>
                    <a:pt x="6994161" y="1991576"/>
                  </a:lnTo>
                  <a:lnTo>
                    <a:pt x="7716220" y="1991576"/>
                  </a:lnTo>
                  <a:lnTo>
                    <a:pt x="7987862" y="1448293"/>
                  </a:lnTo>
                  <a:lnTo>
                    <a:pt x="7716220" y="905009"/>
                  </a:lnTo>
                  <a:close/>
                  <a:moveTo>
                    <a:pt x="4923548" y="905007"/>
                  </a:moveTo>
                  <a:lnTo>
                    <a:pt x="4651908" y="1448291"/>
                  </a:lnTo>
                  <a:lnTo>
                    <a:pt x="4923548" y="1991574"/>
                  </a:lnTo>
                  <a:lnTo>
                    <a:pt x="5645609" y="1991574"/>
                  </a:lnTo>
                  <a:lnTo>
                    <a:pt x="5917250" y="1448291"/>
                  </a:lnTo>
                  <a:lnTo>
                    <a:pt x="5645609" y="905007"/>
                  </a:lnTo>
                  <a:close/>
                  <a:moveTo>
                    <a:pt x="8029466" y="343475"/>
                  </a:moveTo>
                  <a:lnTo>
                    <a:pt x="7757824" y="886759"/>
                  </a:lnTo>
                  <a:lnTo>
                    <a:pt x="8029466" y="1430041"/>
                  </a:lnTo>
                  <a:lnTo>
                    <a:pt x="8751526" y="1430041"/>
                  </a:lnTo>
                  <a:lnTo>
                    <a:pt x="9023168" y="886759"/>
                  </a:lnTo>
                  <a:lnTo>
                    <a:pt x="8751526" y="343475"/>
                  </a:lnTo>
                  <a:close/>
                  <a:moveTo>
                    <a:pt x="0" y="0"/>
                  </a:moveTo>
                  <a:lnTo>
                    <a:pt x="6881415" y="0"/>
                  </a:lnTo>
                  <a:lnTo>
                    <a:pt x="6722518" y="317792"/>
                  </a:lnTo>
                  <a:lnTo>
                    <a:pt x="6994161" y="861075"/>
                  </a:lnTo>
                  <a:lnTo>
                    <a:pt x="7716220" y="861075"/>
                  </a:lnTo>
                  <a:lnTo>
                    <a:pt x="7987862" y="317792"/>
                  </a:lnTo>
                  <a:lnTo>
                    <a:pt x="7828966" y="0"/>
                  </a:lnTo>
                  <a:lnTo>
                    <a:pt x="11024498" y="0"/>
                  </a:lnTo>
                  <a:lnTo>
                    <a:pt x="10863742" y="321511"/>
                  </a:lnTo>
                  <a:lnTo>
                    <a:pt x="11135384" y="864794"/>
                  </a:lnTo>
                  <a:lnTo>
                    <a:pt x="11857444" y="864794"/>
                  </a:lnTo>
                  <a:lnTo>
                    <a:pt x="12129086" y="321511"/>
                  </a:lnTo>
                  <a:lnTo>
                    <a:pt x="11968330" y="0"/>
                  </a:lnTo>
                  <a:lnTo>
                    <a:pt x="13326035" y="0"/>
                  </a:lnTo>
                  <a:lnTo>
                    <a:pt x="13326035" y="7893423"/>
                  </a:lnTo>
                  <a:lnTo>
                    <a:pt x="13052561" y="7893423"/>
                  </a:lnTo>
                  <a:lnTo>
                    <a:pt x="13164392" y="7669762"/>
                  </a:lnTo>
                  <a:lnTo>
                    <a:pt x="12892750" y="7126478"/>
                  </a:lnTo>
                  <a:lnTo>
                    <a:pt x="12170690" y="7126478"/>
                  </a:lnTo>
                  <a:lnTo>
                    <a:pt x="11899048" y="7669762"/>
                  </a:lnTo>
                  <a:lnTo>
                    <a:pt x="12010879" y="7893423"/>
                  </a:lnTo>
                  <a:lnTo>
                    <a:pt x="10981949" y="7893423"/>
                  </a:lnTo>
                  <a:lnTo>
                    <a:pt x="11093780" y="7669762"/>
                  </a:lnTo>
                  <a:lnTo>
                    <a:pt x="10822138" y="7126478"/>
                  </a:lnTo>
                  <a:lnTo>
                    <a:pt x="10100078" y="7126478"/>
                  </a:lnTo>
                  <a:lnTo>
                    <a:pt x="9828436" y="7669762"/>
                  </a:lnTo>
                  <a:lnTo>
                    <a:pt x="9940267" y="7893423"/>
                  </a:lnTo>
                  <a:lnTo>
                    <a:pt x="8911337" y="7893423"/>
                  </a:lnTo>
                  <a:lnTo>
                    <a:pt x="9023168" y="7669762"/>
                  </a:lnTo>
                  <a:lnTo>
                    <a:pt x="8751526" y="7126478"/>
                  </a:lnTo>
                  <a:lnTo>
                    <a:pt x="8029466" y="7126478"/>
                  </a:lnTo>
                  <a:lnTo>
                    <a:pt x="7757824" y="7669762"/>
                  </a:lnTo>
                  <a:lnTo>
                    <a:pt x="7869655" y="7893423"/>
                  </a:lnTo>
                  <a:lnTo>
                    <a:pt x="0" y="78934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Google Shape;126;p24">
            <a:extLst>
              <a:ext uri="{FF2B5EF4-FFF2-40B4-BE49-F238E27FC236}">
                <a16:creationId xmlns:a16="http://schemas.microsoft.com/office/drawing/2014/main" id="{2ABBE2EA-32F1-F36A-0008-CCA64B5158F3}"/>
              </a:ext>
            </a:extLst>
          </p:cNvPr>
          <p:cNvSpPr txBox="1">
            <a:spLocks/>
          </p:cNvSpPr>
          <p:nvPr/>
        </p:nvSpPr>
        <p:spPr>
          <a:xfrm>
            <a:off x="8164172" y="6283450"/>
            <a:ext cx="1416150" cy="4072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000" dirty="0">
                <a:solidFill>
                  <a:srgbClr val="141415"/>
                </a:solidFill>
                <a:latin typeface="Livvic" pitchFamily="2" charset="0"/>
                <a:cs typeface="B Koodak" panose="00000700000000000000" pitchFamily="2" charset="-78"/>
                <a:sym typeface="Livvic"/>
              </a:rPr>
              <a:t>دی ۱۴۰۴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41415"/>
              </a:solidFill>
              <a:effectLst/>
              <a:uLnTx/>
              <a:uFillTx/>
              <a:latin typeface="Livvic" pitchFamily="2" charset="0"/>
              <a:ea typeface="Livvic"/>
              <a:cs typeface="B Koodak" panose="00000700000000000000" pitchFamily="2" charset="-78"/>
              <a:sym typeface="Livvic"/>
            </a:endParaRPr>
          </a:p>
        </p:txBody>
      </p:sp>
      <p:sp>
        <p:nvSpPr>
          <p:cNvPr id="2" name="Google Shape;126;p24">
            <a:extLst>
              <a:ext uri="{FF2B5EF4-FFF2-40B4-BE49-F238E27FC236}">
                <a16:creationId xmlns:a16="http://schemas.microsoft.com/office/drawing/2014/main" id="{4DEA818F-01D4-DDA5-7D7A-CCDD1387DEEF}"/>
              </a:ext>
            </a:extLst>
          </p:cNvPr>
          <p:cNvSpPr txBox="1">
            <a:spLocks/>
          </p:cNvSpPr>
          <p:nvPr/>
        </p:nvSpPr>
        <p:spPr>
          <a:xfrm>
            <a:off x="12079514" y="4244159"/>
            <a:ext cx="6087313" cy="11558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5400" b="1" dirty="0">
                <a:solidFill>
                  <a:srgbClr val="141415"/>
                </a:solidFill>
                <a:latin typeface="Livvic" pitchFamily="2" charset="0"/>
                <a:cs typeface="2  Bardiya" panose="00000400000000000000" pitchFamily="2" charset="-78"/>
                <a:sym typeface="Livvic"/>
              </a:rPr>
              <a:t>تشخیص بیماری‌های گیاهان با کمک پردازش تصویر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141415"/>
              </a:solidFill>
              <a:effectLst/>
              <a:uLnTx/>
              <a:uFillTx/>
              <a:latin typeface="Livvic" pitchFamily="2" charset="0"/>
              <a:ea typeface="Livvic"/>
              <a:cs typeface="2  Bardiya" panose="00000400000000000000" pitchFamily="2" charset="-78"/>
              <a:sym typeface="Livvic"/>
            </a:endParaRPr>
          </a:p>
        </p:txBody>
      </p:sp>
      <p:sp>
        <p:nvSpPr>
          <p:cNvPr id="7" name="Google Shape;126;p24">
            <a:extLst>
              <a:ext uri="{FF2B5EF4-FFF2-40B4-BE49-F238E27FC236}">
                <a16:creationId xmlns:a16="http://schemas.microsoft.com/office/drawing/2014/main" id="{FE8112C4-B1F0-E8BD-9AAE-C8AC7F2D1D18}"/>
              </a:ext>
            </a:extLst>
          </p:cNvPr>
          <p:cNvSpPr txBox="1">
            <a:spLocks/>
          </p:cNvSpPr>
          <p:nvPr/>
        </p:nvSpPr>
        <p:spPr>
          <a:xfrm>
            <a:off x="6061401" y="2232628"/>
            <a:ext cx="5639979" cy="18266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5500" b="1" dirty="0">
                <a:solidFill>
                  <a:srgbClr val="141415"/>
                </a:solidFill>
                <a:latin typeface="Livvic" pitchFamily="2" charset="0"/>
                <a:cs typeface="B Koodak" panose="00000700000000000000" pitchFamily="2" charset="-78"/>
                <a:sym typeface="Livvic"/>
              </a:rPr>
              <a:t>تشخیص بیماری گیاهان باکمک پردازش تصویر</a:t>
            </a:r>
            <a:endParaRPr kumimoji="0" lang="en-US" sz="5500" b="1" i="0" u="none" strike="noStrike" kern="1200" cap="none" spc="0" normalizeH="0" baseline="0" noProof="0" dirty="0">
              <a:ln>
                <a:noFill/>
              </a:ln>
              <a:solidFill>
                <a:srgbClr val="141415"/>
              </a:solidFill>
              <a:effectLst/>
              <a:uLnTx/>
              <a:uFillTx/>
              <a:latin typeface="Livvic" pitchFamily="2" charset="0"/>
              <a:ea typeface="Livvic"/>
              <a:cs typeface="B Koodak" panose="00000700000000000000" pitchFamily="2" charset="-78"/>
              <a:sym typeface="Livvic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5337B2-974A-859E-1C0C-824D444372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1301" y="370779"/>
            <a:ext cx="1062126" cy="13299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AD764D-B56B-4C83-5943-3C0E7F1DCF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813" y="426012"/>
            <a:ext cx="1082768" cy="902408"/>
          </a:xfrm>
          <a:prstGeom prst="rect">
            <a:avLst/>
          </a:prstGeom>
        </p:spPr>
      </p:pic>
      <p:sp>
        <p:nvSpPr>
          <p:cNvPr id="12" name="Google Shape;126;p24">
            <a:extLst>
              <a:ext uri="{FF2B5EF4-FFF2-40B4-BE49-F238E27FC236}">
                <a16:creationId xmlns:a16="http://schemas.microsoft.com/office/drawing/2014/main" id="{8B8D49A3-F03A-2520-4A3F-19FDEDF598FF}"/>
              </a:ext>
            </a:extLst>
          </p:cNvPr>
          <p:cNvSpPr txBox="1">
            <a:spLocks/>
          </p:cNvSpPr>
          <p:nvPr/>
        </p:nvSpPr>
        <p:spPr>
          <a:xfrm>
            <a:off x="6327342" y="1353219"/>
            <a:ext cx="1437640" cy="2914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1100" b="1" dirty="0">
                <a:solidFill>
                  <a:srgbClr val="141415"/>
                </a:solidFill>
                <a:latin typeface="Livvic" pitchFamily="2" charset="0"/>
                <a:cs typeface="B Titr" panose="00000700000000000000" pitchFamily="2" charset="-78"/>
                <a:sym typeface="Livvic"/>
              </a:rPr>
              <a:t>دانشکده مهندسی برق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141415"/>
              </a:solidFill>
              <a:effectLst/>
              <a:uLnTx/>
              <a:uFillTx/>
              <a:latin typeface="Livvic" pitchFamily="2" charset="0"/>
              <a:ea typeface="Livvic"/>
              <a:cs typeface="B Titr" panose="00000700000000000000" pitchFamily="2" charset="-78"/>
              <a:sym typeface="Livvic"/>
            </a:endParaRPr>
          </a:p>
        </p:txBody>
      </p:sp>
      <p:sp>
        <p:nvSpPr>
          <p:cNvPr id="21" name="Google Shape;126;p24">
            <a:extLst>
              <a:ext uri="{FF2B5EF4-FFF2-40B4-BE49-F238E27FC236}">
                <a16:creationId xmlns:a16="http://schemas.microsoft.com/office/drawing/2014/main" id="{1B6EE659-079F-DE86-83AF-72A002F7C3A2}"/>
              </a:ext>
            </a:extLst>
          </p:cNvPr>
          <p:cNvSpPr txBox="1">
            <a:spLocks/>
          </p:cNvSpPr>
          <p:nvPr/>
        </p:nvSpPr>
        <p:spPr>
          <a:xfrm>
            <a:off x="6343521" y="1498168"/>
            <a:ext cx="1581280" cy="2914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Engineering Department</a:t>
            </a:r>
          </a:p>
        </p:txBody>
      </p:sp>
      <p:sp>
        <p:nvSpPr>
          <p:cNvPr id="24" name="Google Shape;126;p24">
            <a:extLst>
              <a:ext uri="{FF2B5EF4-FFF2-40B4-BE49-F238E27FC236}">
                <a16:creationId xmlns:a16="http://schemas.microsoft.com/office/drawing/2014/main" id="{FC2A9DDD-B0B8-91E8-862E-6A71B97110D0}"/>
              </a:ext>
            </a:extLst>
          </p:cNvPr>
          <p:cNvSpPr txBox="1">
            <a:spLocks/>
          </p:cNvSpPr>
          <p:nvPr/>
        </p:nvSpPr>
        <p:spPr>
          <a:xfrm>
            <a:off x="7211281" y="4481963"/>
            <a:ext cx="3318588" cy="165634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200" dirty="0">
                <a:solidFill>
                  <a:srgbClr val="141415"/>
                </a:solidFill>
                <a:latin typeface="Livvic" pitchFamily="2" charset="0"/>
                <a:cs typeface="B Nazanin" panose="00000400000000000000" pitchFamily="2" charset="-78"/>
                <a:sym typeface="Livvic"/>
              </a:rPr>
              <a:t>علی‌سینا شاه‌محمدی مهرجردی</a:t>
            </a:r>
            <a:endParaRPr lang="en-US" sz="2200" dirty="0">
              <a:solidFill>
                <a:srgbClr val="141415"/>
              </a:solidFill>
              <a:latin typeface="Livvic" pitchFamily="2" charset="0"/>
              <a:cs typeface="B Nazanin" panose="00000400000000000000" pitchFamily="2" charset="-78"/>
              <a:sym typeface="Livvic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defRPr/>
            </a:pPr>
            <a:r>
              <a:rPr lang="fa-IR" sz="2200" dirty="0">
                <a:solidFill>
                  <a:srgbClr val="141415"/>
                </a:solidFill>
                <a:latin typeface="Livvic" pitchFamily="2" charset="0"/>
                <a:cs typeface="B Nazanin" panose="00000400000000000000" pitchFamily="2" charset="-78"/>
                <a:sym typeface="Livvic"/>
              </a:rPr>
              <a:t>استاد راهنما: دکتر حسن آقائی‌نیا</a:t>
            </a:r>
            <a:endParaRPr lang="en-US" sz="2200" dirty="0">
              <a:solidFill>
                <a:srgbClr val="141415"/>
              </a:solidFill>
              <a:latin typeface="Livvic" pitchFamily="2" charset="0"/>
              <a:ea typeface="Livvic"/>
              <a:cs typeface="B Nazanin" panose="00000400000000000000" pitchFamily="2" charset="-78"/>
              <a:sym typeface="Livvic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defRPr/>
            </a:pPr>
            <a:r>
              <a:rPr lang="fa-IR" sz="2200" dirty="0">
                <a:solidFill>
                  <a:srgbClr val="141415"/>
                </a:solidFill>
                <a:latin typeface="Livvic" pitchFamily="2" charset="0"/>
                <a:cs typeface="B Nazanin" panose="00000400000000000000" pitchFamily="2" charset="-78"/>
                <a:sym typeface="Livvic"/>
              </a:rPr>
              <a:t>استاد داور: دکتر حمیدرضا امین‌داور</a:t>
            </a:r>
            <a:endParaRPr lang="en-US" sz="2200" dirty="0">
              <a:solidFill>
                <a:srgbClr val="141415"/>
              </a:solidFill>
              <a:latin typeface="Livvic" pitchFamily="2" charset="0"/>
              <a:ea typeface="Livvic"/>
              <a:cs typeface="B Nazanin" panose="00000400000000000000" pitchFamily="2" charset="-78"/>
              <a:sym typeface="Livvic"/>
            </a:endParaRPr>
          </a:p>
        </p:txBody>
      </p:sp>
      <p:sp>
        <p:nvSpPr>
          <p:cNvPr id="25" name="Google Shape;126;p24">
            <a:extLst>
              <a:ext uri="{FF2B5EF4-FFF2-40B4-BE49-F238E27FC236}">
                <a16:creationId xmlns:a16="http://schemas.microsoft.com/office/drawing/2014/main" id="{1C822171-187B-9846-E80C-7EF563AC7186}"/>
              </a:ext>
            </a:extLst>
          </p:cNvPr>
          <p:cNvSpPr txBox="1">
            <a:spLocks/>
          </p:cNvSpPr>
          <p:nvPr/>
        </p:nvSpPr>
        <p:spPr>
          <a:xfrm>
            <a:off x="13964931" y="6065734"/>
            <a:ext cx="3318588" cy="5168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200" dirty="0">
                <a:solidFill>
                  <a:srgbClr val="141415"/>
                </a:solidFill>
                <a:latin typeface="Livvic" pitchFamily="2" charset="0"/>
                <a:cs typeface="B Nazanin" panose="00000400000000000000" pitchFamily="2" charset="-78"/>
                <a:sym typeface="Livvic"/>
              </a:rPr>
              <a:t>استاد راهنما: دکتر حسن آقائی‌نیا</a:t>
            </a: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rgbClr val="141415"/>
              </a:solidFill>
              <a:effectLst/>
              <a:uLnTx/>
              <a:uFillTx/>
              <a:latin typeface="Livvic" pitchFamily="2" charset="0"/>
              <a:ea typeface="Livvic"/>
              <a:cs typeface="B Nazanin" panose="00000400000000000000" pitchFamily="2" charset="-78"/>
              <a:sym typeface="Livvic"/>
            </a:endParaRPr>
          </a:p>
        </p:txBody>
      </p:sp>
      <p:sp>
        <p:nvSpPr>
          <p:cNvPr id="26" name="Google Shape;126;p24">
            <a:extLst>
              <a:ext uri="{FF2B5EF4-FFF2-40B4-BE49-F238E27FC236}">
                <a16:creationId xmlns:a16="http://schemas.microsoft.com/office/drawing/2014/main" id="{11ABE081-FCE4-3B43-E9B7-7150B3CEA513}"/>
              </a:ext>
            </a:extLst>
          </p:cNvPr>
          <p:cNvSpPr txBox="1">
            <a:spLocks/>
          </p:cNvSpPr>
          <p:nvPr/>
        </p:nvSpPr>
        <p:spPr>
          <a:xfrm>
            <a:off x="13780252" y="6546259"/>
            <a:ext cx="3503267" cy="5168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2200" dirty="0">
                <a:solidFill>
                  <a:srgbClr val="141415"/>
                </a:solidFill>
                <a:latin typeface="Livvic" pitchFamily="2" charset="0"/>
                <a:cs typeface="B Nazanin" panose="00000400000000000000" pitchFamily="2" charset="-78"/>
                <a:sym typeface="Livvic"/>
              </a:rPr>
              <a:t>استاد داور: دکتر حمیدرضا امین‌داور</a:t>
            </a: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rgbClr val="141415"/>
              </a:solidFill>
              <a:effectLst/>
              <a:uLnTx/>
              <a:uFillTx/>
              <a:latin typeface="Livvic" pitchFamily="2" charset="0"/>
              <a:ea typeface="Livvic"/>
              <a:cs typeface="B Nazanin" panose="00000400000000000000" pitchFamily="2" charset="-78"/>
              <a:sym typeface="Livvic"/>
            </a:endParaRPr>
          </a:p>
        </p:txBody>
      </p:sp>
    </p:spTree>
    <p:extLst>
      <p:ext uri="{BB962C8B-B14F-4D97-AF65-F5344CB8AC3E}">
        <p14:creationId xmlns:p14="http://schemas.microsoft.com/office/powerpoint/2010/main" val="3143788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46CEF3-C5F4-E498-A861-CEFC7FFF617C}"/>
              </a:ext>
            </a:extLst>
          </p:cNvPr>
          <p:cNvSpPr/>
          <p:nvPr/>
        </p:nvSpPr>
        <p:spPr>
          <a:xfrm flipV="1">
            <a:off x="-109538" y="3429000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B30813-A759-E8B2-35E7-3A58F0C78533}"/>
              </a:ext>
            </a:extLst>
          </p:cNvPr>
          <p:cNvSpPr/>
          <p:nvPr/>
        </p:nvSpPr>
        <p:spPr>
          <a:xfrm>
            <a:off x="2163020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E8BE242-E1B4-FF10-1C1D-4D9A3878FA98}"/>
              </a:ext>
            </a:extLst>
          </p:cNvPr>
          <p:cNvSpPr/>
          <p:nvPr/>
        </p:nvSpPr>
        <p:spPr>
          <a:xfrm>
            <a:off x="6372992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86A07BC-276F-0A88-9E92-1917C122F89B}"/>
              </a:ext>
            </a:extLst>
          </p:cNvPr>
          <p:cNvSpPr/>
          <p:nvPr/>
        </p:nvSpPr>
        <p:spPr>
          <a:xfrm>
            <a:off x="4268006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59F950-86BD-AAF4-51DF-8FC493C4A16E}"/>
              </a:ext>
            </a:extLst>
          </p:cNvPr>
          <p:cNvSpPr/>
          <p:nvPr/>
        </p:nvSpPr>
        <p:spPr>
          <a:xfrm>
            <a:off x="8477978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Google Shape;126;p24">
            <a:extLst>
              <a:ext uri="{FF2B5EF4-FFF2-40B4-BE49-F238E27FC236}">
                <a16:creationId xmlns:a16="http://schemas.microsoft.com/office/drawing/2014/main" id="{4685152E-7C74-BCFF-A490-CF4773FE6113}"/>
              </a:ext>
            </a:extLst>
          </p:cNvPr>
          <p:cNvSpPr txBox="1">
            <a:spLocks/>
          </p:cNvSpPr>
          <p:nvPr/>
        </p:nvSpPr>
        <p:spPr>
          <a:xfrm>
            <a:off x="7583465" y="692941"/>
            <a:ext cx="4265606" cy="1003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5500" b="1" dirty="0">
                <a:solidFill>
                  <a:srgbClr val="141415"/>
                </a:solidFill>
                <a:latin typeface="Livvic" pitchFamily="2" charset="0"/>
                <a:cs typeface="2  Bardiya" panose="00000400000000000000" pitchFamily="2" charset="-78"/>
                <a:sym typeface="Livvic"/>
              </a:rPr>
              <a:t>فهرست مطالب</a:t>
            </a:r>
            <a:endParaRPr kumimoji="0" lang="en-US" sz="5500" b="1" i="0" u="none" strike="noStrike" kern="1200" cap="none" spc="0" normalizeH="0" baseline="0" noProof="0" dirty="0">
              <a:ln>
                <a:noFill/>
              </a:ln>
              <a:solidFill>
                <a:srgbClr val="141415"/>
              </a:solidFill>
              <a:effectLst/>
              <a:uLnTx/>
              <a:uFillTx/>
              <a:latin typeface="Livvic" pitchFamily="2" charset="0"/>
              <a:ea typeface="Livvic"/>
              <a:cs typeface="2  Bardiya" panose="00000400000000000000" pitchFamily="2" charset="-78"/>
              <a:sym typeface="Livvic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709C54-04C1-9ED8-F098-D3EAFEFB6DA2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۲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39B239A-095E-7CC7-868B-E285CAA1B492}"/>
              </a:ext>
            </a:extLst>
          </p:cNvPr>
          <p:cNvSpPr/>
          <p:nvPr/>
        </p:nvSpPr>
        <p:spPr>
          <a:xfrm>
            <a:off x="8477978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۱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63403DB-C7AD-BF0D-4C2D-76BC9925D7E1}"/>
              </a:ext>
            </a:extLst>
          </p:cNvPr>
          <p:cNvSpPr/>
          <p:nvPr/>
        </p:nvSpPr>
        <p:spPr>
          <a:xfrm>
            <a:off x="6372992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2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5EFFA19-5EFA-7EBB-CA57-9A81A5958993}"/>
              </a:ext>
            </a:extLst>
          </p:cNvPr>
          <p:cNvSpPr/>
          <p:nvPr/>
        </p:nvSpPr>
        <p:spPr>
          <a:xfrm>
            <a:off x="4268006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۳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DE93EB8-7EE7-F1F5-B8D5-BB153AEEC7DE}"/>
              </a:ext>
            </a:extLst>
          </p:cNvPr>
          <p:cNvSpPr/>
          <p:nvPr/>
        </p:nvSpPr>
        <p:spPr>
          <a:xfrm>
            <a:off x="2163020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5ABFF5B-6C35-23FC-8863-1FC97E6054C7}"/>
              </a:ext>
            </a:extLst>
          </p:cNvPr>
          <p:cNvGrpSpPr/>
          <p:nvPr/>
        </p:nvGrpSpPr>
        <p:grpSpPr>
          <a:xfrm>
            <a:off x="320296" y="270035"/>
            <a:ext cx="1287524" cy="1244757"/>
            <a:chOff x="320296" y="270035"/>
            <a:chExt cx="1287524" cy="12447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2FCEB82C-777B-D8BF-16EE-B1137933A672}"/>
                </a:ext>
              </a:extLst>
            </p:cNvPr>
            <p:cNvSpPr/>
            <p:nvPr/>
          </p:nvSpPr>
          <p:spPr>
            <a:xfrm>
              <a:off x="320296" y="270035"/>
              <a:ext cx="1287524" cy="12447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6B99A9A-87B6-1EA7-3BF8-34B707B61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831" y="342425"/>
              <a:ext cx="878454" cy="1099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2086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6F5EC-C579-38BE-E8A2-3B826BACA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AB1985-24B5-DAFC-8AE2-E95220E4D0BD}"/>
              </a:ext>
            </a:extLst>
          </p:cNvPr>
          <p:cNvSpPr/>
          <p:nvPr/>
        </p:nvSpPr>
        <p:spPr>
          <a:xfrm flipV="1">
            <a:off x="-109538" y="3429000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82CA178-0821-CD3C-9FE9-520BD383559D}"/>
              </a:ext>
            </a:extLst>
          </p:cNvPr>
          <p:cNvSpPr/>
          <p:nvPr/>
        </p:nvSpPr>
        <p:spPr>
          <a:xfrm>
            <a:off x="1439120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9A8ED3-206E-F93E-C334-E4561EDA8212}"/>
              </a:ext>
            </a:extLst>
          </p:cNvPr>
          <p:cNvSpPr/>
          <p:nvPr/>
        </p:nvSpPr>
        <p:spPr>
          <a:xfrm>
            <a:off x="5649092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CC048B-66BE-404C-EB40-007A0D082FF3}"/>
              </a:ext>
            </a:extLst>
          </p:cNvPr>
          <p:cNvSpPr/>
          <p:nvPr/>
        </p:nvSpPr>
        <p:spPr>
          <a:xfrm>
            <a:off x="3544106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C9EFD0-4031-7B89-6795-56C16096E3DB}"/>
              </a:ext>
            </a:extLst>
          </p:cNvPr>
          <p:cNvSpPr/>
          <p:nvPr/>
        </p:nvSpPr>
        <p:spPr>
          <a:xfrm>
            <a:off x="7754885" y="2972751"/>
            <a:ext cx="1961383" cy="1003935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Google Shape;126;p24">
            <a:extLst>
              <a:ext uri="{FF2B5EF4-FFF2-40B4-BE49-F238E27FC236}">
                <a16:creationId xmlns:a16="http://schemas.microsoft.com/office/drawing/2014/main" id="{B4B6008F-A1FD-072E-3888-5AC86BAABA61}"/>
              </a:ext>
            </a:extLst>
          </p:cNvPr>
          <p:cNvSpPr txBox="1">
            <a:spLocks/>
          </p:cNvSpPr>
          <p:nvPr/>
        </p:nvSpPr>
        <p:spPr>
          <a:xfrm>
            <a:off x="7583465" y="692941"/>
            <a:ext cx="4265606" cy="1003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5500" b="1" dirty="0">
                <a:solidFill>
                  <a:srgbClr val="141415"/>
                </a:solidFill>
                <a:latin typeface="Livvic" pitchFamily="2" charset="0"/>
                <a:cs typeface="2  Bardiya" panose="00000400000000000000" pitchFamily="2" charset="-78"/>
                <a:sym typeface="Livvic"/>
              </a:rPr>
              <a:t>فهرست مطالب</a:t>
            </a:r>
            <a:endParaRPr kumimoji="0" lang="en-US" sz="5500" b="1" i="0" u="none" strike="noStrike" kern="1200" cap="none" spc="0" normalizeH="0" baseline="0" noProof="0" dirty="0">
              <a:ln>
                <a:noFill/>
              </a:ln>
              <a:solidFill>
                <a:srgbClr val="141415"/>
              </a:solidFill>
              <a:effectLst/>
              <a:uLnTx/>
              <a:uFillTx/>
              <a:latin typeface="Livvic" pitchFamily="2" charset="0"/>
              <a:ea typeface="Livvic"/>
              <a:cs typeface="2  Bardiya" panose="00000400000000000000" pitchFamily="2" charset="-78"/>
              <a:sym typeface="Livvic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62B401B-4E26-E7DD-C1AD-6EA9351F8075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۲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DA2E19D-193C-A563-FE02-BACCD87A7617}"/>
              </a:ext>
            </a:extLst>
          </p:cNvPr>
          <p:cNvSpPr/>
          <p:nvPr/>
        </p:nvSpPr>
        <p:spPr>
          <a:xfrm>
            <a:off x="8477978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۱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5C34749-F0D0-03B4-A319-BF76FA761E5B}"/>
              </a:ext>
            </a:extLst>
          </p:cNvPr>
          <p:cNvSpPr/>
          <p:nvPr/>
        </p:nvSpPr>
        <p:spPr>
          <a:xfrm>
            <a:off x="5649092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2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393C12D-1B91-C6C4-B80C-DE79EEAB0AD4}"/>
              </a:ext>
            </a:extLst>
          </p:cNvPr>
          <p:cNvSpPr/>
          <p:nvPr/>
        </p:nvSpPr>
        <p:spPr>
          <a:xfrm>
            <a:off x="3544106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۳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7352854-B045-9171-48F4-3DB3AC93C49C}"/>
              </a:ext>
            </a:extLst>
          </p:cNvPr>
          <p:cNvSpPr/>
          <p:nvPr/>
        </p:nvSpPr>
        <p:spPr>
          <a:xfrm>
            <a:off x="1439120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CDBD79-0F22-3BB4-A0A3-D6534AF887F4}"/>
              </a:ext>
            </a:extLst>
          </p:cNvPr>
          <p:cNvSpPr/>
          <p:nvPr/>
        </p:nvSpPr>
        <p:spPr>
          <a:xfrm>
            <a:off x="7754885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: مقدمه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7A33A5A-E96F-0824-B76B-98F5BAD493CF}"/>
              </a:ext>
            </a:extLst>
          </p:cNvPr>
          <p:cNvGrpSpPr/>
          <p:nvPr/>
        </p:nvGrpSpPr>
        <p:grpSpPr>
          <a:xfrm>
            <a:off x="320296" y="270035"/>
            <a:ext cx="1287524" cy="1244757"/>
            <a:chOff x="320296" y="270035"/>
            <a:chExt cx="1287524" cy="12447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E0DC2DC-AA75-BBAC-DB5A-727D911DA310}"/>
                </a:ext>
              </a:extLst>
            </p:cNvPr>
            <p:cNvSpPr/>
            <p:nvPr/>
          </p:nvSpPr>
          <p:spPr>
            <a:xfrm>
              <a:off x="320296" y="270035"/>
              <a:ext cx="1287524" cy="12447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CBB9C46-7688-A68A-8149-3D3E55C69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831" y="342425"/>
              <a:ext cx="878454" cy="1099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2167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CD19A-6783-E3A1-7891-7E3D1F44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D43D79-E6D4-D88F-16C7-89A230210472}"/>
              </a:ext>
            </a:extLst>
          </p:cNvPr>
          <p:cNvSpPr/>
          <p:nvPr/>
        </p:nvSpPr>
        <p:spPr>
          <a:xfrm flipV="1">
            <a:off x="-109538" y="3429000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721492-F2A7-66EF-F8FC-1FE8D09EC666}"/>
              </a:ext>
            </a:extLst>
          </p:cNvPr>
          <p:cNvSpPr/>
          <p:nvPr/>
        </p:nvSpPr>
        <p:spPr>
          <a:xfrm>
            <a:off x="2163020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367D20-648B-3D0C-A74F-BB2EF112F95F}"/>
              </a:ext>
            </a:extLst>
          </p:cNvPr>
          <p:cNvSpPr/>
          <p:nvPr/>
        </p:nvSpPr>
        <p:spPr>
          <a:xfrm>
            <a:off x="6372992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9413379-E80C-02EE-D1CC-3B951A5DF9A4}"/>
              </a:ext>
            </a:extLst>
          </p:cNvPr>
          <p:cNvSpPr/>
          <p:nvPr/>
        </p:nvSpPr>
        <p:spPr>
          <a:xfrm>
            <a:off x="4268006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B1C5FE-28AC-69B0-1DA7-6B2C1752BEEC}"/>
              </a:ext>
            </a:extLst>
          </p:cNvPr>
          <p:cNvSpPr/>
          <p:nvPr/>
        </p:nvSpPr>
        <p:spPr>
          <a:xfrm>
            <a:off x="8477978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Google Shape;126;p24">
            <a:extLst>
              <a:ext uri="{FF2B5EF4-FFF2-40B4-BE49-F238E27FC236}">
                <a16:creationId xmlns:a16="http://schemas.microsoft.com/office/drawing/2014/main" id="{DC330F1A-75E7-8AEC-2B06-A3B546F7743D}"/>
              </a:ext>
            </a:extLst>
          </p:cNvPr>
          <p:cNvSpPr txBox="1">
            <a:spLocks/>
          </p:cNvSpPr>
          <p:nvPr/>
        </p:nvSpPr>
        <p:spPr>
          <a:xfrm>
            <a:off x="7583465" y="692941"/>
            <a:ext cx="4265606" cy="1003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5500" b="1" dirty="0">
                <a:solidFill>
                  <a:srgbClr val="141415"/>
                </a:solidFill>
                <a:latin typeface="Livvic" pitchFamily="2" charset="0"/>
                <a:cs typeface="2  Bardiya" panose="00000400000000000000" pitchFamily="2" charset="-78"/>
                <a:sym typeface="Livvic"/>
              </a:rPr>
              <a:t>فهرست مطالب</a:t>
            </a:r>
            <a:endParaRPr kumimoji="0" lang="en-US" sz="5500" b="1" i="0" u="none" strike="noStrike" kern="1200" cap="none" spc="0" normalizeH="0" baseline="0" noProof="0" dirty="0">
              <a:ln>
                <a:noFill/>
              </a:ln>
              <a:solidFill>
                <a:srgbClr val="141415"/>
              </a:solidFill>
              <a:effectLst/>
              <a:uLnTx/>
              <a:uFillTx/>
              <a:latin typeface="Livvic" pitchFamily="2" charset="0"/>
              <a:ea typeface="Livvic"/>
              <a:cs typeface="2  Bardiya" panose="00000400000000000000" pitchFamily="2" charset="-78"/>
              <a:sym typeface="Livvic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027DB33-B906-BC21-D959-D02233F22201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۲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DD40136-2F49-9B21-E216-24FC7FB38A2F}"/>
              </a:ext>
            </a:extLst>
          </p:cNvPr>
          <p:cNvSpPr/>
          <p:nvPr/>
        </p:nvSpPr>
        <p:spPr>
          <a:xfrm>
            <a:off x="8477978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۱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B9AA88B-1C2E-CCAE-39E7-960D85208BF3}"/>
              </a:ext>
            </a:extLst>
          </p:cNvPr>
          <p:cNvSpPr/>
          <p:nvPr/>
        </p:nvSpPr>
        <p:spPr>
          <a:xfrm>
            <a:off x="6372992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2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CB4B1D7-2C21-BC27-5B60-C2EF1389BF42}"/>
              </a:ext>
            </a:extLst>
          </p:cNvPr>
          <p:cNvSpPr/>
          <p:nvPr/>
        </p:nvSpPr>
        <p:spPr>
          <a:xfrm>
            <a:off x="4268006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۳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47BEBFC-7C58-61EC-CFB8-748F33EEFD5C}"/>
              </a:ext>
            </a:extLst>
          </p:cNvPr>
          <p:cNvSpPr/>
          <p:nvPr/>
        </p:nvSpPr>
        <p:spPr>
          <a:xfrm>
            <a:off x="2163020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15911BF-A567-2F2B-54EA-13399924D333}"/>
              </a:ext>
            </a:extLst>
          </p:cNvPr>
          <p:cNvGrpSpPr/>
          <p:nvPr/>
        </p:nvGrpSpPr>
        <p:grpSpPr>
          <a:xfrm>
            <a:off x="320296" y="270035"/>
            <a:ext cx="1287524" cy="1244757"/>
            <a:chOff x="320296" y="270035"/>
            <a:chExt cx="1287524" cy="12447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3524222-B52F-0B5C-1F03-D02678876697}"/>
                </a:ext>
              </a:extLst>
            </p:cNvPr>
            <p:cNvSpPr/>
            <p:nvPr/>
          </p:nvSpPr>
          <p:spPr>
            <a:xfrm>
              <a:off x="320296" y="270035"/>
              <a:ext cx="1287524" cy="12447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2E7A191-0CB8-8AB5-10C9-EB099B61F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831" y="342425"/>
              <a:ext cx="878454" cy="1099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7507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B1C14-C8C1-5262-8DE1-225D39E33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E1663C-8EA6-A6C5-5D60-DFB60BE7290E}"/>
              </a:ext>
            </a:extLst>
          </p:cNvPr>
          <p:cNvSpPr/>
          <p:nvPr/>
        </p:nvSpPr>
        <p:spPr>
          <a:xfrm flipV="1">
            <a:off x="-109538" y="3429000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49DCC4-F898-200B-5FCF-58191CC391F3}"/>
              </a:ext>
            </a:extLst>
          </p:cNvPr>
          <p:cNvSpPr/>
          <p:nvPr/>
        </p:nvSpPr>
        <p:spPr>
          <a:xfrm>
            <a:off x="342977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04B5B88-E399-9CF9-CBC7-4F21B233644F}"/>
              </a:ext>
            </a:extLst>
          </p:cNvPr>
          <p:cNvSpPr/>
          <p:nvPr/>
        </p:nvSpPr>
        <p:spPr>
          <a:xfrm>
            <a:off x="4552950" y="2972751"/>
            <a:ext cx="3601258" cy="1003935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EBA624-DE22-9E3C-8A0B-2DB02F74AAE0}"/>
              </a:ext>
            </a:extLst>
          </p:cNvPr>
          <p:cNvSpPr/>
          <p:nvPr/>
        </p:nvSpPr>
        <p:spPr>
          <a:xfrm>
            <a:off x="2447963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524517B-742F-9BFD-99F2-3F9DC2E7FFF0}"/>
              </a:ext>
            </a:extLst>
          </p:cNvPr>
          <p:cNvSpPr/>
          <p:nvPr/>
        </p:nvSpPr>
        <p:spPr>
          <a:xfrm>
            <a:off x="9020903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Google Shape;126;p24">
            <a:extLst>
              <a:ext uri="{FF2B5EF4-FFF2-40B4-BE49-F238E27FC236}">
                <a16:creationId xmlns:a16="http://schemas.microsoft.com/office/drawing/2014/main" id="{35E2C6EC-D9E7-727B-BB71-0F1977B92F44}"/>
              </a:ext>
            </a:extLst>
          </p:cNvPr>
          <p:cNvSpPr txBox="1">
            <a:spLocks/>
          </p:cNvSpPr>
          <p:nvPr/>
        </p:nvSpPr>
        <p:spPr>
          <a:xfrm>
            <a:off x="7583465" y="692941"/>
            <a:ext cx="4265606" cy="1003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5500" b="1" dirty="0">
                <a:solidFill>
                  <a:srgbClr val="141415"/>
                </a:solidFill>
                <a:latin typeface="Livvic" pitchFamily="2" charset="0"/>
                <a:cs typeface="2  Bardiya" panose="00000400000000000000" pitchFamily="2" charset="-78"/>
                <a:sym typeface="Livvic"/>
              </a:rPr>
              <a:t>فهرست مطالب</a:t>
            </a:r>
            <a:endParaRPr kumimoji="0" lang="en-US" sz="5500" b="1" i="0" u="none" strike="noStrike" kern="1200" cap="none" spc="0" normalizeH="0" baseline="0" noProof="0" dirty="0">
              <a:ln>
                <a:noFill/>
              </a:ln>
              <a:solidFill>
                <a:srgbClr val="141415"/>
              </a:solidFill>
              <a:effectLst/>
              <a:uLnTx/>
              <a:uFillTx/>
              <a:latin typeface="Livvic" pitchFamily="2" charset="0"/>
              <a:ea typeface="Livvic"/>
              <a:cs typeface="2  Bardiya" panose="00000400000000000000" pitchFamily="2" charset="-78"/>
              <a:sym typeface="Livvic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550204A-8B80-36DF-8D1E-358E325D7DAC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۲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9F14C3-7A7E-19BB-DD8D-867057C95ACC}"/>
              </a:ext>
            </a:extLst>
          </p:cNvPr>
          <p:cNvSpPr/>
          <p:nvPr/>
        </p:nvSpPr>
        <p:spPr>
          <a:xfrm>
            <a:off x="9020903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۱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B586B2A-78A5-674A-C9C9-746C4AA71FE2}"/>
              </a:ext>
            </a:extLst>
          </p:cNvPr>
          <p:cNvSpPr/>
          <p:nvPr/>
        </p:nvSpPr>
        <p:spPr>
          <a:xfrm>
            <a:off x="6915917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2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81C214E-2C53-30FF-75E4-269C5D3FA9D7}"/>
              </a:ext>
            </a:extLst>
          </p:cNvPr>
          <p:cNvSpPr/>
          <p:nvPr/>
        </p:nvSpPr>
        <p:spPr>
          <a:xfrm>
            <a:off x="2447963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۳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8AE096A-B02C-2D1C-F296-03AE5E089AA1}"/>
              </a:ext>
            </a:extLst>
          </p:cNvPr>
          <p:cNvSpPr/>
          <p:nvPr/>
        </p:nvSpPr>
        <p:spPr>
          <a:xfrm>
            <a:off x="342977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29391A-7542-0AB7-595A-9B4F2C363E6A}"/>
              </a:ext>
            </a:extLst>
          </p:cNvPr>
          <p:cNvSpPr/>
          <p:nvPr/>
        </p:nvSpPr>
        <p:spPr>
          <a:xfrm>
            <a:off x="4562474" y="2972751"/>
            <a:ext cx="2782165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: مرور پژوهش‌های انجام شده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5443298-3C6E-38A0-DF6B-74DF15D2D98A}"/>
              </a:ext>
            </a:extLst>
          </p:cNvPr>
          <p:cNvGrpSpPr/>
          <p:nvPr/>
        </p:nvGrpSpPr>
        <p:grpSpPr>
          <a:xfrm>
            <a:off x="320296" y="270035"/>
            <a:ext cx="1287524" cy="1244757"/>
            <a:chOff x="320296" y="270035"/>
            <a:chExt cx="1287524" cy="12447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ABAB219-52A9-BB98-D51A-18DC5FE8D4FA}"/>
                </a:ext>
              </a:extLst>
            </p:cNvPr>
            <p:cNvSpPr/>
            <p:nvPr/>
          </p:nvSpPr>
          <p:spPr>
            <a:xfrm>
              <a:off x="320296" y="270035"/>
              <a:ext cx="1287524" cy="12447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2AF9DD0-1CA2-B918-38F3-423420489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831" y="342425"/>
              <a:ext cx="878454" cy="1099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7472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77C82-67EA-8808-B7FB-95015F563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642B57-D190-7066-ABD5-9A0151B63C76}"/>
              </a:ext>
            </a:extLst>
          </p:cNvPr>
          <p:cNvSpPr/>
          <p:nvPr/>
        </p:nvSpPr>
        <p:spPr>
          <a:xfrm flipV="1">
            <a:off x="-109538" y="3429000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DC68F67-47D9-ABAA-65D9-0DB17F304490}"/>
              </a:ext>
            </a:extLst>
          </p:cNvPr>
          <p:cNvSpPr/>
          <p:nvPr/>
        </p:nvSpPr>
        <p:spPr>
          <a:xfrm>
            <a:off x="2163020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14EA3ED-D2D8-2DF6-1001-E4AAD95B7F6B}"/>
              </a:ext>
            </a:extLst>
          </p:cNvPr>
          <p:cNvSpPr/>
          <p:nvPr/>
        </p:nvSpPr>
        <p:spPr>
          <a:xfrm>
            <a:off x="6372992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89EC7D-D78D-6785-43D7-0BB6E52DB509}"/>
              </a:ext>
            </a:extLst>
          </p:cNvPr>
          <p:cNvSpPr/>
          <p:nvPr/>
        </p:nvSpPr>
        <p:spPr>
          <a:xfrm>
            <a:off x="4268006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2A03304-69EC-2ECD-5210-1C181FBC6C35}"/>
              </a:ext>
            </a:extLst>
          </p:cNvPr>
          <p:cNvSpPr/>
          <p:nvPr/>
        </p:nvSpPr>
        <p:spPr>
          <a:xfrm>
            <a:off x="8477978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Google Shape;126;p24">
            <a:extLst>
              <a:ext uri="{FF2B5EF4-FFF2-40B4-BE49-F238E27FC236}">
                <a16:creationId xmlns:a16="http://schemas.microsoft.com/office/drawing/2014/main" id="{1F70306B-9B26-552D-7428-9E8A40F76422}"/>
              </a:ext>
            </a:extLst>
          </p:cNvPr>
          <p:cNvSpPr txBox="1">
            <a:spLocks/>
          </p:cNvSpPr>
          <p:nvPr/>
        </p:nvSpPr>
        <p:spPr>
          <a:xfrm>
            <a:off x="7583465" y="692941"/>
            <a:ext cx="4265606" cy="1003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5500" b="1" dirty="0">
                <a:solidFill>
                  <a:srgbClr val="141415"/>
                </a:solidFill>
                <a:latin typeface="Livvic" pitchFamily="2" charset="0"/>
                <a:cs typeface="2  Bardiya" panose="00000400000000000000" pitchFamily="2" charset="-78"/>
                <a:sym typeface="Livvic"/>
              </a:rPr>
              <a:t>فهرست مطالب</a:t>
            </a:r>
            <a:endParaRPr kumimoji="0" lang="en-US" sz="5500" b="1" i="0" u="none" strike="noStrike" kern="1200" cap="none" spc="0" normalizeH="0" baseline="0" noProof="0" dirty="0">
              <a:ln>
                <a:noFill/>
              </a:ln>
              <a:solidFill>
                <a:srgbClr val="141415"/>
              </a:solidFill>
              <a:effectLst/>
              <a:uLnTx/>
              <a:uFillTx/>
              <a:latin typeface="Livvic" pitchFamily="2" charset="0"/>
              <a:ea typeface="Livvic"/>
              <a:cs typeface="2  Bardiya" panose="00000400000000000000" pitchFamily="2" charset="-78"/>
              <a:sym typeface="Livvic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16598C6-C048-896A-FF38-A3F966CC6DB8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۲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255943A-8365-4E4A-C098-EFF32EEBB2A7}"/>
              </a:ext>
            </a:extLst>
          </p:cNvPr>
          <p:cNvSpPr/>
          <p:nvPr/>
        </p:nvSpPr>
        <p:spPr>
          <a:xfrm>
            <a:off x="8477978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۱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835592A-83EE-2162-3733-108F48D613AE}"/>
              </a:ext>
            </a:extLst>
          </p:cNvPr>
          <p:cNvSpPr/>
          <p:nvPr/>
        </p:nvSpPr>
        <p:spPr>
          <a:xfrm>
            <a:off x="6372992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2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58E12F9-0793-E625-ADB2-C533FFC91C91}"/>
              </a:ext>
            </a:extLst>
          </p:cNvPr>
          <p:cNvSpPr/>
          <p:nvPr/>
        </p:nvSpPr>
        <p:spPr>
          <a:xfrm>
            <a:off x="4268006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۳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ED3969A-B574-C1E2-3457-B2EAC046E292}"/>
              </a:ext>
            </a:extLst>
          </p:cNvPr>
          <p:cNvSpPr/>
          <p:nvPr/>
        </p:nvSpPr>
        <p:spPr>
          <a:xfrm>
            <a:off x="2163020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5A24D3-548A-BB67-894C-64BE579CA308}"/>
              </a:ext>
            </a:extLst>
          </p:cNvPr>
          <p:cNvGrpSpPr/>
          <p:nvPr/>
        </p:nvGrpSpPr>
        <p:grpSpPr>
          <a:xfrm>
            <a:off x="320296" y="270035"/>
            <a:ext cx="1287524" cy="1244757"/>
            <a:chOff x="320296" y="270035"/>
            <a:chExt cx="1287524" cy="12447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66ECA8C-024D-BDEA-033B-5500E1E1CC84}"/>
                </a:ext>
              </a:extLst>
            </p:cNvPr>
            <p:cNvSpPr/>
            <p:nvPr/>
          </p:nvSpPr>
          <p:spPr>
            <a:xfrm>
              <a:off x="320296" y="270035"/>
              <a:ext cx="1287524" cy="12447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5E155EC-8BDD-FE96-7F5D-43C76269D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831" y="342425"/>
              <a:ext cx="878454" cy="1099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0273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203B5-7285-C7C9-C132-89FA5F3B2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8603A3-FABB-EFB5-0576-A67FAB9C6D4A}"/>
              </a:ext>
            </a:extLst>
          </p:cNvPr>
          <p:cNvSpPr/>
          <p:nvPr/>
        </p:nvSpPr>
        <p:spPr>
          <a:xfrm flipV="1">
            <a:off x="-109538" y="3429000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8771E6-E1E6-2D76-3894-50D1F96441F4}"/>
              </a:ext>
            </a:extLst>
          </p:cNvPr>
          <p:cNvSpPr/>
          <p:nvPr/>
        </p:nvSpPr>
        <p:spPr>
          <a:xfrm>
            <a:off x="1026741" y="2927032"/>
            <a:ext cx="1238290" cy="1003935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8A5B0BE-2204-8BF4-8354-3954854E1863}"/>
              </a:ext>
            </a:extLst>
          </p:cNvPr>
          <p:cNvSpPr/>
          <p:nvPr/>
        </p:nvSpPr>
        <p:spPr>
          <a:xfrm>
            <a:off x="7954142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19EC541-043C-5E7B-455A-83A0BB0D3857}"/>
              </a:ext>
            </a:extLst>
          </p:cNvPr>
          <p:cNvSpPr/>
          <p:nvPr/>
        </p:nvSpPr>
        <p:spPr>
          <a:xfrm>
            <a:off x="3131727" y="2972751"/>
            <a:ext cx="3951990" cy="1003935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1822867-E306-2154-A919-2BE1626F3136}"/>
              </a:ext>
            </a:extLst>
          </p:cNvPr>
          <p:cNvSpPr/>
          <p:nvPr/>
        </p:nvSpPr>
        <p:spPr>
          <a:xfrm>
            <a:off x="10059128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Google Shape;126;p24">
            <a:extLst>
              <a:ext uri="{FF2B5EF4-FFF2-40B4-BE49-F238E27FC236}">
                <a16:creationId xmlns:a16="http://schemas.microsoft.com/office/drawing/2014/main" id="{A8D29EE9-90B5-88BE-ACBD-EE9EE430F17F}"/>
              </a:ext>
            </a:extLst>
          </p:cNvPr>
          <p:cNvSpPr txBox="1">
            <a:spLocks/>
          </p:cNvSpPr>
          <p:nvPr/>
        </p:nvSpPr>
        <p:spPr>
          <a:xfrm>
            <a:off x="7583465" y="692941"/>
            <a:ext cx="4265606" cy="1003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5500" b="1" dirty="0">
                <a:solidFill>
                  <a:srgbClr val="141415"/>
                </a:solidFill>
                <a:latin typeface="Livvic" pitchFamily="2" charset="0"/>
                <a:cs typeface="2  Bardiya" panose="00000400000000000000" pitchFamily="2" charset="-78"/>
                <a:sym typeface="Livvic"/>
              </a:rPr>
              <a:t>فهرست مطالب</a:t>
            </a:r>
            <a:endParaRPr kumimoji="0" lang="en-US" sz="5500" b="1" i="0" u="none" strike="noStrike" kern="1200" cap="none" spc="0" normalizeH="0" baseline="0" noProof="0" dirty="0">
              <a:ln>
                <a:noFill/>
              </a:ln>
              <a:solidFill>
                <a:srgbClr val="141415"/>
              </a:solidFill>
              <a:effectLst/>
              <a:uLnTx/>
              <a:uFillTx/>
              <a:latin typeface="Livvic" pitchFamily="2" charset="0"/>
              <a:ea typeface="Livvic"/>
              <a:cs typeface="2  Bardiya" panose="00000400000000000000" pitchFamily="2" charset="-78"/>
              <a:sym typeface="Livvic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AA21F1-C940-4CB5-7E4C-4848F9FAF6C5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۲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8A2C901-2A05-601E-7BE9-82019B075B5C}"/>
              </a:ext>
            </a:extLst>
          </p:cNvPr>
          <p:cNvSpPr/>
          <p:nvPr/>
        </p:nvSpPr>
        <p:spPr>
          <a:xfrm>
            <a:off x="10059128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۱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B98587F-0C10-E1F2-2670-031CD2F711D7}"/>
              </a:ext>
            </a:extLst>
          </p:cNvPr>
          <p:cNvSpPr/>
          <p:nvPr/>
        </p:nvSpPr>
        <p:spPr>
          <a:xfrm>
            <a:off x="7954142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2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389F67-E665-0407-4E68-26D03DE31C4A}"/>
              </a:ext>
            </a:extLst>
          </p:cNvPr>
          <p:cNvSpPr/>
          <p:nvPr/>
        </p:nvSpPr>
        <p:spPr>
          <a:xfrm>
            <a:off x="5845427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۳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A105EBF-A56C-EE06-C536-9733A5A21F7F}"/>
              </a:ext>
            </a:extLst>
          </p:cNvPr>
          <p:cNvSpPr/>
          <p:nvPr/>
        </p:nvSpPr>
        <p:spPr>
          <a:xfrm>
            <a:off x="1026741" y="2927032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8F294D2-BAE4-A767-5F41-C73B32C28146}"/>
              </a:ext>
            </a:extLst>
          </p:cNvPr>
          <p:cNvSpPr/>
          <p:nvPr/>
        </p:nvSpPr>
        <p:spPr>
          <a:xfrm>
            <a:off x="3131727" y="2972750"/>
            <a:ext cx="3085294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9B1C162-0D76-57BD-01F1-B432FFCD62B5}"/>
              </a:ext>
            </a:extLst>
          </p:cNvPr>
          <p:cNvGrpSpPr/>
          <p:nvPr/>
        </p:nvGrpSpPr>
        <p:grpSpPr>
          <a:xfrm>
            <a:off x="320296" y="270035"/>
            <a:ext cx="1287524" cy="1244757"/>
            <a:chOff x="320296" y="270035"/>
            <a:chExt cx="1287524" cy="12447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3864E28-6392-93E8-CA15-0ECD52EF441D}"/>
                </a:ext>
              </a:extLst>
            </p:cNvPr>
            <p:cNvSpPr/>
            <p:nvPr/>
          </p:nvSpPr>
          <p:spPr>
            <a:xfrm>
              <a:off x="320296" y="270035"/>
              <a:ext cx="1287524" cy="12447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83DDD59-8638-3218-6BF2-30946D97C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831" y="342425"/>
              <a:ext cx="878454" cy="1099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1351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86D1-D265-5E9A-E0B5-2DE4B0B3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739B227-ACEC-FE74-C7E1-3D6E68DF217E}"/>
              </a:ext>
            </a:extLst>
          </p:cNvPr>
          <p:cNvSpPr/>
          <p:nvPr/>
        </p:nvSpPr>
        <p:spPr>
          <a:xfrm flipV="1">
            <a:off x="-109538" y="3429000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40E725-7C90-9644-ABAC-972222682239}"/>
              </a:ext>
            </a:extLst>
          </p:cNvPr>
          <p:cNvSpPr/>
          <p:nvPr/>
        </p:nvSpPr>
        <p:spPr>
          <a:xfrm>
            <a:off x="2163020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EC6D03-CFAF-26B5-08FC-2EE19A35A50F}"/>
              </a:ext>
            </a:extLst>
          </p:cNvPr>
          <p:cNvSpPr/>
          <p:nvPr/>
        </p:nvSpPr>
        <p:spPr>
          <a:xfrm>
            <a:off x="6372992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57ACB1-28D3-D698-BB3A-F38F74655521}"/>
              </a:ext>
            </a:extLst>
          </p:cNvPr>
          <p:cNvSpPr/>
          <p:nvPr/>
        </p:nvSpPr>
        <p:spPr>
          <a:xfrm>
            <a:off x="4268006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C07D3A-6C69-DF92-438E-29D29197202B}"/>
              </a:ext>
            </a:extLst>
          </p:cNvPr>
          <p:cNvSpPr/>
          <p:nvPr/>
        </p:nvSpPr>
        <p:spPr>
          <a:xfrm>
            <a:off x="8477978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Google Shape;126;p24">
            <a:extLst>
              <a:ext uri="{FF2B5EF4-FFF2-40B4-BE49-F238E27FC236}">
                <a16:creationId xmlns:a16="http://schemas.microsoft.com/office/drawing/2014/main" id="{CE525BE3-CEA3-4AF8-DDB0-9C36E08047E2}"/>
              </a:ext>
            </a:extLst>
          </p:cNvPr>
          <p:cNvSpPr txBox="1">
            <a:spLocks/>
          </p:cNvSpPr>
          <p:nvPr/>
        </p:nvSpPr>
        <p:spPr>
          <a:xfrm>
            <a:off x="7583465" y="692941"/>
            <a:ext cx="4265606" cy="1003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5500" b="1" dirty="0">
                <a:solidFill>
                  <a:srgbClr val="141415"/>
                </a:solidFill>
                <a:latin typeface="Livvic" pitchFamily="2" charset="0"/>
                <a:cs typeface="2  Bardiya" panose="00000400000000000000" pitchFamily="2" charset="-78"/>
                <a:sym typeface="Livvic"/>
              </a:rPr>
              <a:t>فهرست مطالب</a:t>
            </a:r>
            <a:endParaRPr kumimoji="0" lang="en-US" sz="5500" b="1" i="0" u="none" strike="noStrike" kern="1200" cap="none" spc="0" normalizeH="0" baseline="0" noProof="0" dirty="0">
              <a:ln>
                <a:noFill/>
              </a:ln>
              <a:solidFill>
                <a:srgbClr val="141415"/>
              </a:solidFill>
              <a:effectLst/>
              <a:uLnTx/>
              <a:uFillTx/>
              <a:latin typeface="Livvic" pitchFamily="2" charset="0"/>
              <a:ea typeface="Livvic"/>
              <a:cs typeface="2  Bardiya" panose="00000400000000000000" pitchFamily="2" charset="-78"/>
              <a:sym typeface="Livvic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C24B822-9CA4-F6E3-B3C1-D9D63E3DFDB8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۲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057E272-FA29-B163-E855-C303C745278B}"/>
              </a:ext>
            </a:extLst>
          </p:cNvPr>
          <p:cNvSpPr/>
          <p:nvPr/>
        </p:nvSpPr>
        <p:spPr>
          <a:xfrm>
            <a:off x="8477978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۱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68524B-D980-FB20-95E5-B47362F45DCE}"/>
              </a:ext>
            </a:extLst>
          </p:cNvPr>
          <p:cNvSpPr/>
          <p:nvPr/>
        </p:nvSpPr>
        <p:spPr>
          <a:xfrm>
            <a:off x="6372992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2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17C3A02-2CF4-6923-CD65-209547E03D62}"/>
              </a:ext>
            </a:extLst>
          </p:cNvPr>
          <p:cNvSpPr/>
          <p:nvPr/>
        </p:nvSpPr>
        <p:spPr>
          <a:xfrm>
            <a:off x="4268006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۳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A3D441-91B2-5A89-5440-457DB0EEA893}"/>
              </a:ext>
            </a:extLst>
          </p:cNvPr>
          <p:cNvSpPr/>
          <p:nvPr/>
        </p:nvSpPr>
        <p:spPr>
          <a:xfrm>
            <a:off x="2163020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70BF71-AEF0-0982-D170-2C54037D2BD3}"/>
              </a:ext>
            </a:extLst>
          </p:cNvPr>
          <p:cNvGrpSpPr/>
          <p:nvPr/>
        </p:nvGrpSpPr>
        <p:grpSpPr>
          <a:xfrm>
            <a:off x="320296" y="270035"/>
            <a:ext cx="1287524" cy="1244757"/>
            <a:chOff x="320296" y="270035"/>
            <a:chExt cx="1287524" cy="12447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9299EC3-1045-E098-C1F0-534CBA2EBE6D}"/>
                </a:ext>
              </a:extLst>
            </p:cNvPr>
            <p:cNvSpPr/>
            <p:nvPr/>
          </p:nvSpPr>
          <p:spPr>
            <a:xfrm>
              <a:off x="320296" y="270035"/>
              <a:ext cx="1287524" cy="12447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498BC1E-307F-9213-74F6-C7D657435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831" y="342425"/>
              <a:ext cx="878454" cy="1099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7627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03ABF-1DBE-1FD3-1458-267BEA2E6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81CC9E-4058-50F5-54DF-3E7878A011CD}"/>
              </a:ext>
            </a:extLst>
          </p:cNvPr>
          <p:cNvSpPr/>
          <p:nvPr/>
        </p:nvSpPr>
        <p:spPr>
          <a:xfrm flipV="1">
            <a:off x="-109538" y="3429000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D90611-93F2-43E8-2E3B-4D58557B093C}"/>
              </a:ext>
            </a:extLst>
          </p:cNvPr>
          <p:cNvSpPr/>
          <p:nvPr/>
        </p:nvSpPr>
        <p:spPr>
          <a:xfrm>
            <a:off x="1586107" y="2972751"/>
            <a:ext cx="2392116" cy="1003935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8C4835-2976-4FD6-6F4D-D173585C3C76}"/>
              </a:ext>
            </a:extLst>
          </p:cNvPr>
          <p:cNvSpPr/>
          <p:nvPr/>
        </p:nvSpPr>
        <p:spPr>
          <a:xfrm>
            <a:off x="6962696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EEC02B-AF4B-0091-3869-4E6924DB0610}"/>
              </a:ext>
            </a:extLst>
          </p:cNvPr>
          <p:cNvSpPr/>
          <p:nvPr/>
        </p:nvSpPr>
        <p:spPr>
          <a:xfrm>
            <a:off x="4857710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3F1E6A5-A937-75C7-EA4A-2E4EFDBFE98D}"/>
              </a:ext>
            </a:extLst>
          </p:cNvPr>
          <p:cNvSpPr/>
          <p:nvPr/>
        </p:nvSpPr>
        <p:spPr>
          <a:xfrm>
            <a:off x="9067682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Google Shape;126;p24">
            <a:extLst>
              <a:ext uri="{FF2B5EF4-FFF2-40B4-BE49-F238E27FC236}">
                <a16:creationId xmlns:a16="http://schemas.microsoft.com/office/drawing/2014/main" id="{21ACF8CD-4796-4A58-61D4-9AE893DBA9F3}"/>
              </a:ext>
            </a:extLst>
          </p:cNvPr>
          <p:cNvSpPr txBox="1">
            <a:spLocks/>
          </p:cNvSpPr>
          <p:nvPr/>
        </p:nvSpPr>
        <p:spPr>
          <a:xfrm>
            <a:off x="7583465" y="692941"/>
            <a:ext cx="4265606" cy="1003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5500" b="1" dirty="0">
                <a:solidFill>
                  <a:srgbClr val="141415"/>
                </a:solidFill>
                <a:latin typeface="Livvic" pitchFamily="2" charset="0"/>
                <a:cs typeface="2  Bardiya" panose="00000400000000000000" pitchFamily="2" charset="-78"/>
                <a:sym typeface="Livvic"/>
              </a:rPr>
              <a:t>فهرست مطالب</a:t>
            </a:r>
            <a:endParaRPr kumimoji="0" lang="en-US" sz="5500" b="1" i="0" u="none" strike="noStrike" kern="1200" cap="none" spc="0" normalizeH="0" baseline="0" noProof="0" dirty="0">
              <a:ln>
                <a:noFill/>
              </a:ln>
              <a:solidFill>
                <a:srgbClr val="141415"/>
              </a:solidFill>
              <a:effectLst/>
              <a:uLnTx/>
              <a:uFillTx/>
              <a:latin typeface="Livvic" pitchFamily="2" charset="0"/>
              <a:ea typeface="Livvic"/>
              <a:cs typeface="2  Bardiya" panose="00000400000000000000" pitchFamily="2" charset="-78"/>
              <a:sym typeface="Livvic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7F8B1F7-DF4F-986D-E974-B61712365E44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۲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897E261-0570-5726-528D-8A8FD38E2FF2}"/>
              </a:ext>
            </a:extLst>
          </p:cNvPr>
          <p:cNvSpPr/>
          <p:nvPr/>
        </p:nvSpPr>
        <p:spPr>
          <a:xfrm>
            <a:off x="9067682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۱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2140A1A-4A5B-3799-B166-221724025AAE}"/>
              </a:ext>
            </a:extLst>
          </p:cNvPr>
          <p:cNvSpPr/>
          <p:nvPr/>
        </p:nvSpPr>
        <p:spPr>
          <a:xfrm>
            <a:off x="6962696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2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C68504D-DBF4-D3A0-D39F-333248CBB647}"/>
              </a:ext>
            </a:extLst>
          </p:cNvPr>
          <p:cNvSpPr/>
          <p:nvPr/>
        </p:nvSpPr>
        <p:spPr>
          <a:xfrm>
            <a:off x="4857710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۳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44CB312-4B15-B113-2238-79C221586D16}"/>
              </a:ext>
            </a:extLst>
          </p:cNvPr>
          <p:cNvSpPr/>
          <p:nvPr/>
        </p:nvSpPr>
        <p:spPr>
          <a:xfrm>
            <a:off x="2691618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E185F7-899A-DE24-0943-AEFFE992FB12}"/>
              </a:ext>
            </a:extLst>
          </p:cNvPr>
          <p:cNvSpPr/>
          <p:nvPr/>
        </p:nvSpPr>
        <p:spPr>
          <a:xfrm>
            <a:off x="1699316" y="2972751"/>
            <a:ext cx="1328837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: نتیجه گیری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CF3E6B-444C-6EDD-3032-593A3F49DF60}"/>
              </a:ext>
            </a:extLst>
          </p:cNvPr>
          <p:cNvGrpSpPr/>
          <p:nvPr/>
        </p:nvGrpSpPr>
        <p:grpSpPr>
          <a:xfrm>
            <a:off x="320296" y="270035"/>
            <a:ext cx="1287524" cy="1244757"/>
            <a:chOff x="320296" y="270035"/>
            <a:chExt cx="1287524" cy="12447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87F0F5A-43A9-D818-A68E-A78C73CC98E3}"/>
                </a:ext>
              </a:extLst>
            </p:cNvPr>
            <p:cNvSpPr/>
            <p:nvPr/>
          </p:nvSpPr>
          <p:spPr>
            <a:xfrm>
              <a:off x="320296" y="270035"/>
              <a:ext cx="1287524" cy="12447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63622BF-0D51-BF75-21F1-E4DE71BDE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831" y="342425"/>
              <a:ext cx="878454" cy="1099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6510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C25E4-8C55-561A-1FF1-DDF024D3D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8D0BE8-6698-4A65-FE26-67DE66AEBA93}"/>
              </a:ext>
            </a:extLst>
          </p:cNvPr>
          <p:cNvSpPr/>
          <p:nvPr/>
        </p:nvSpPr>
        <p:spPr>
          <a:xfrm flipV="1">
            <a:off x="-109538" y="3429000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41D8F3-A9B3-B5D7-F529-A8C048179433}"/>
              </a:ext>
            </a:extLst>
          </p:cNvPr>
          <p:cNvSpPr/>
          <p:nvPr/>
        </p:nvSpPr>
        <p:spPr>
          <a:xfrm>
            <a:off x="2163020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1E28ED-3B03-632B-176E-7CF9C40A12E5}"/>
              </a:ext>
            </a:extLst>
          </p:cNvPr>
          <p:cNvSpPr/>
          <p:nvPr/>
        </p:nvSpPr>
        <p:spPr>
          <a:xfrm>
            <a:off x="6372992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4665BC-CFF6-5859-C3F8-7FE1B7489488}"/>
              </a:ext>
            </a:extLst>
          </p:cNvPr>
          <p:cNvSpPr/>
          <p:nvPr/>
        </p:nvSpPr>
        <p:spPr>
          <a:xfrm>
            <a:off x="4268006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9AF5A8F-B2F2-16F5-D41D-6C9E563A2B8A}"/>
              </a:ext>
            </a:extLst>
          </p:cNvPr>
          <p:cNvSpPr/>
          <p:nvPr/>
        </p:nvSpPr>
        <p:spPr>
          <a:xfrm>
            <a:off x="8477978" y="2972751"/>
            <a:ext cx="1238290" cy="1003935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Google Shape;126;p24">
            <a:extLst>
              <a:ext uri="{FF2B5EF4-FFF2-40B4-BE49-F238E27FC236}">
                <a16:creationId xmlns:a16="http://schemas.microsoft.com/office/drawing/2014/main" id="{C6866344-E952-0BF2-0456-B8D4BD7B927E}"/>
              </a:ext>
            </a:extLst>
          </p:cNvPr>
          <p:cNvSpPr txBox="1">
            <a:spLocks/>
          </p:cNvSpPr>
          <p:nvPr/>
        </p:nvSpPr>
        <p:spPr>
          <a:xfrm>
            <a:off x="7583465" y="692941"/>
            <a:ext cx="4265606" cy="1003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5500" b="1" dirty="0">
                <a:solidFill>
                  <a:srgbClr val="141415"/>
                </a:solidFill>
                <a:latin typeface="Livvic" pitchFamily="2" charset="0"/>
                <a:cs typeface="2  Bardiya" panose="00000400000000000000" pitchFamily="2" charset="-78"/>
                <a:sym typeface="Livvic"/>
              </a:rPr>
              <a:t>فهرست مطالب</a:t>
            </a:r>
            <a:endParaRPr kumimoji="0" lang="en-US" sz="5500" b="1" i="0" u="none" strike="noStrike" kern="1200" cap="none" spc="0" normalizeH="0" baseline="0" noProof="0" dirty="0">
              <a:ln>
                <a:noFill/>
              </a:ln>
              <a:solidFill>
                <a:srgbClr val="141415"/>
              </a:solidFill>
              <a:effectLst/>
              <a:uLnTx/>
              <a:uFillTx/>
              <a:latin typeface="Livvic" pitchFamily="2" charset="0"/>
              <a:ea typeface="Livvic"/>
              <a:cs typeface="2  Bardiya" panose="00000400000000000000" pitchFamily="2" charset="-78"/>
              <a:sym typeface="Livvic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5FAE654-FF95-B3EC-B319-C1B4BA32EEF9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۲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81AB84B-315F-5618-2799-70E6D9A909F2}"/>
              </a:ext>
            </a:extLst>
          </p:cNvPr>
          <p:cNvSpPr/>
          <p:nvPr/>
        </p:nvSpPr>
        <p:spPr>
          <a:xfrm>
            <a:off x="8477978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۱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BC8E3DD-5511-8B29-078C-0CE88963C6F3}"/>
              </a:ext>
            </a:extLst>
          </p:cNvPr>
          <p:cNvSpPr/>
          <p:nvPr/>
        </p:nvSpPr>
        <p:spPr>
          <a:xfrm>
            <a:off x="6372992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2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E08754D-E898-090F-8FCA-D0208EFFE463}"/>
              </a:ext>
            </a:extLst>
          </p:cNvPr>
          <p:cNvSpPr/>
          <p:nvPr/>
        </p:nvSpPr>
        <p:spPr>
          <a:xfrm>
            <a:off x="4268006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۳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BD044EE-1CE7-6239-0B47-7003F675FD06}"/>
              </a:ext>
            </a:extLst>
          </p:cNvPr>
          <p:cNvSpPr/>
          <p:nvPr/>
        </p:nvSpPr>
        <p:spPr>
          <a:xfrm>
            <a:off x="2163020" y="2972751"/>
            <a:ext cx="1238290" cy="1003935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قسمت 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0327D3-B794-C7C4-1793-4CC548BC519D}"/>
              </a:ext>
            </a:extLst>
          </p:cNvPr>
          <p:cNvGrpSpPr/>
          <p:nvPr/>
        </p:nvGrpSpPr>
        <p:grpSpPr>
          <a:xfrm>
            <a:off x="320296" y="270035"/>
            <a:ext cx="1287524" cy="1244757"/>
            <a:chOff x="320296" y="270035"/>
            <a:chExt cx="1287524" cy="12447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98FC85C-6B8C-1719-74BF-29D6B8DF5252}"/>
                </a:ext>
              </a:extLst>
            </p:cNvPr>
            <p:cNvSpPr/>
            <p:nvPr/>
          </p:nvSpPr>
          <p:spPr>
            <a:xfrm>
              <a:off x="320296" y="270035"/>
              <a:ext cx="1287524" cy="12447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D8E31FD-D46F-F017-84C6-CA94BCDB2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831" y="342425"/>
              <a:ext cx="878454" cy="1099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9981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51858-D0DA-EF46-FDDA-72745360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10944D-83AE-B795-5826-359AB1517A8D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96D69B-3051-3FEE-B4E8-206EBEDAFD18}"/>
              </a:ext>
            </a:extLst>
          </p:cNvPr>
          <p:cNvSpPr/>
          <p:nvPr/>
        </p:nvSpPr>
        <p:spPr>
          <a:xfrm>
            <a:off x="7543800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8458846-A1BF-30EC-9DF7-41C683D26D74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65868F0-0E2D-7190-4E62-964B755F6D9D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9CE688F-A71E-BDAD-4DE8-45ABF16A7583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A4DE128-7CE5-586E-18C1-2E47DF0E6DB9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3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F0871BD-669C-D01F-2D3A-FE3AF086776A}"/>
              </a:ext>
            </a:extLst>
          </p:cNvPr>
          <p:cNvSpPr/>
          <p:nvPr/>
        </p:nvSpPr>
        <p:spPr>
          <a:xfrm>
            <a:off x="1097268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7F1AFE3-2C9C-854A-C766-AFEB885863C2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B51221A-21DA-12FF-DF07-1B81D4DB595E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36273E9-B86C-FA23-3575-5FE9E204942A}"/>
              </a:ext>
            </a:extLst>
          </p:cNvPr>
          <p:cNvSpPr/>
          <p:nvPr/>
        </p:nvSpPr>
        <p:spPr>
          <a:xfrm>
            <a:off x="7543800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7A7CDB5-D5F2-8E5B-D072-25B9893E3515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6EC4361-5CF6-E8BB-74B6-DA65AB170E77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B55CF21-3DA7-D1DF-C53E-F43F69073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9066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A1E7E-8AC0-5C53-93D4-A1145DFEE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0B327A-169E-49B2-D802-E07553478A4E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52E293-96B1-9CBA-5B00-9AAB3089C64F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16FAB6-24B8-F80D-92F1-F38AD5EFDB36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618EE91-ED01-EBCD-032D-2BD7DC4E6FF2}"/>
              </a:ext>
            </a:extLst>
          </p:cNvPr>
          <p:cNvSpPr/>
          <p:nvPr/>
        </p:nvSpPr>
        <p:spPr>
          <a:xfrm>
            <a:off x="7900714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79F2694-1B03-28A2-F0BB-5A835CD85E7E}"/>
              </a:ext>
            </a:extLst>
          </p:cNvPr>
          <p:cNvSpPr/>
          <p:nvPr/>
        </p:nvSpPr>
        <p:spPr>
          <a:xfrm>
            <a:off x="10234730" y="264316"/>
            <a:ext cx="1595321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E3471D2-5C3D-8483-C6E3-6B9790DEC5A6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3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9CB1E1-8014-7390-392A-5D1F6391CEE2}"/>
              </a:ext>
            </a:extLst>
          </p:cNvPr>
          <p:cNvSpPr/>
          <p:nvPr/>
        </p:nvSpPr>
        <p:spPr>
          <a:xfrm>
            <a:off x="10887075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0A05BEC-2E19-4C59-5D9B-F3F844956D5D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0657BB6-8F53-F380-5928-CEAA6F50DB25}"/>
              </a:ext>
            </a:extLst>
          </p:cNvPr>
          <p:cNvSpPr/>
          <p:nvPr/>
        </p:nvSpPr>
        <p:spPr>
          <a:xfrm>
            <a:off x="7900714" y="264315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D944699-8824-9CF7-6E94-2F537F23C1A7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DEE2AB7-E6F3-FDC6-EF55-E71FC8F8E13B}"/>
              </a:ext>
            </a:extLst>
          </p:cNvPr>
          <p:cNvSpPr/>
          <p:nvPr/>
        </p:nvSpPr>
        <p:spPr>
          <a:xfrm>
            <a:off x="10234730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مقدمه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D5CAD22-96EF-887D-B210-8733E9B4163C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2056919-92FB-B962-DF69-3F37A549ECA1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59F504D-9116-4B6A-6435-CB06FA97B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2F3C92B-56F1-52F2-ED2B-7DCCFAF5A6B6}"/>
              </a:ext>
            </a:extLst>
          </p:cNvPr>
          <p:cNvSpPr/>
          <p:nvPr/>
        </p:nvSpPr>
        <p:spPr>
          <a:xfrm>
            <a:off x="9067722" y="2163925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094A033-350F-73C4-00E6-20AAAFD75D00}"/>
              </a:ext>
            </a:extLst>
          </p:cNvPr>
          <p:cNvSpPr/>
          <p:nvPr/>
        </p:nvSpPr>
        <p:spPr>
          <a:xfrm>
            <a:off x="9067722" y="216392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EDF156-F1AB-F879-005C-D3274ED0A844}"/>
              </a:ext>
            </a:extLst>
          </p:cNvPr>
          <p:cNvSpPr/>
          <p:nvPr/>
        </p:nvSpPr>
        <p:spPr>
          <a:xfrm>
            <a:off x="9046681" y="358478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مقدمه کلی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بیان مسئله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اهداف پژوهش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018D24-8F2D-F5A7-22AE-137AC6684A9E}"/>
              </a:ext>
            </a:extLst>
          </p:cNvPr>
          <p:cNvSpPr/>
          <p:nvPr/>
        </p:nvSpPr>
        <p:spPr>
          <a:xfrm>
            <a:off x="9044690" y="276373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E980EA-091B-5874-EC51-71BF961776B8}"/>
              </a:ext>
            </a:extLst>
          </p:cNvPr>
          <p:cNvSpPr/>
          <p:nvPr/>
        </p:nvSpPr>
        <p:spPr>
          <a:xfrm>
            <a:off x="6267372" y="2163921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39CE5CD-E46A-ED2A-6260-62C6B64DD10C}"/>
              </a:ext>
            </a:extLst>
          </p:cNvPr>
          <p:cNvSpPr/>
          <p:nvPr/>
        </p:nvSpPr>
        <p:spPr>
          <a:xfrm>
            <a:off x="6267372" y="216392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2720166-7A2B-0A7F-03D8-923124587041}"/>
              </a:ext>
            </a:extLst>
          </p:cNvPr>
          <p:cNvSpPr/>
          <p:nvPr/>
        </p:nvSpPr>
        <p:spPr>
          <a:xfrm>
            <a:off x="6246331" y="3584785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PlantVillage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322D9B6-746E-1CF7-A7A2-D8B57C071461}"/>
              </a:ext>
            </a:extLst>
          </p:cNvPr>
          <p:cNvSpPr/>
          <p:nvPr/>
        </p:nvSpPr>
        <p:spPr>
          <a:xfrm>
            <a:off x="6244340" y="2763734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7FAC266-F78B-EF01-2FA0-7EFC76B6D032}"/>
              </a:ext>
            </a:extLst>
          </p:cNvPr>
          <p:cNvSpPr/>
          <p:nvPr/>
        </p:nvSpPr>
        <p:spPr>
          <a:xfrm>
            <a:off x="3488063" y="216392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C0BE1E3-4CB5-E8AF-D7A3-6DDAFCFCA8F7}"/>
              </a:ext>
            </a:extLst>
          </p:cNvPr>
          <p:cNvSpPr/>
          <p:nvPr/>
        </p:nvSpPr>
        <p:spPr>
          <a:xfrm>
            <a:off x="3488063" y="21639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CFFBC8E-6E48-A219-66BB-B04068425172}"/>
              </a:ext>
            </a:extLst>
          </p:cNvPr>
          <p:cNvSpPr/>
          <p:nvPr/>
        </p:nvSpPr>
        <p:spPr>
          <a:xfrm>
            <a:off x="3467022" y="358478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PlantDoc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88EB8CB-CF2B-C262-8F59-D805B2EF6FBE}"/>
              </a:ext>
            </a:extLst>
          </p:cNvPr>
          <p:cNvSpPr/>
          <p:nvPr/>
        </p:nvSpPr>
        <p:spPr>
          <a:xfrm>
            <a:off x="3465031" y="276373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63CC262-F9D1-A747-F723-07E54C727426}"/>
              </a:ext>
            </a:extLst>
          </p:cNvPr>
          <p:cNvSpPr/>
          <p:nvPr/>
        </p:nvSpPr>
        <p:spPr>
          <a:xfrm>
            <a:off x="685722" y="21639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508044A-3E78-CE33-E331-1894195B283E}"/>
              </a:ext>
            </a:extLst>
          </p:cNvPr>
          <p:cNvSpPr/>
          <p:nvPr/>
        </p:nvSpPr>
        <p:spPr>
          <a:xfrm>
            <a:off x="68572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B9C4B25-9E49-B05D-8F4C-40DA9F6802FD}"/>
              </a:ext>
            </a:extLst>
          </p:cNvPr>
          <p:cNvSpPr/>
          <p:nvPr/>
        </p:nvSpPr>
        <p:spPr>
          <a:xfrm>
            <a:off x="664681" y="35847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تفاوت داده آزمایشگاهی و واقعی</a:t>
            </a: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B4780C4-997B-4001-A9E8-23A001E22AB6}"/>
              </a:ext>
            </a:extLst>
          </p:cNvPr>
          <p:cNvSpPr/>
          <p:nvPr/>
        </p:nvSpPr>
        <p:spPr>
          <a:xfrm>
            <a:off x="662690" y="27637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3347871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4BC3-75DF-C4E0-5CB3-D06C80B20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C4A46E-EAAF-F57F-13DD-8F6534F751F8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90AC63-F5B6-C42D-64D4-0B22E50A3761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42257B-60D6-15D0-385E-564EA8D3F959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EAB2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AD3C3-8730-0B20-F523-25C760DC4647}"/>
              </a:ext>
            </a:extLst>
          </p:cNvPr>
          <p:cNvSpPr/>
          <p:nvPr/>
        </p:nvSpPr>
        <p:spPr>
          <a:xfrm>
            <a:off x="7900714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8908E0-8868-A1FE-6A4B-071D78362B1A}"/>
              </a:ext>
            </a:extLst>
          </p:cNvPr>
          <p:cNvSpPr/>
          <p:nvPr/>
        </p:nvSpPr>
        <p:spPr>
          <a:xfrm>
            <a:off x="10234730" y="264316"/>
            <a:ext cx="1595321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632C8A-84C8-C4B2-21E8-C99D417834B3}"/>
              </a:ext>
            </a:extLst>
          </p:cNvPr>
          <p:cNvSpPr/>
          <p:nvPr/>
        </p:nvSpPr>
        <p:spPr>
          <a:xfrm>
            <a:off x="10887075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0303C71-B1E6-C386-9DE2-C8D3F275C4C2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71165C1-8851-4984-34B7-F22D7C871DB4}"/>
              </a:ext>
            </a:extLst>
          </p:cNvPr>
          <p:cNvSpPr/>
          <p:nvPr/>
        </p:nvSpPr>
        <p:spPr>
          <a:xfrm>
            <a:off x="7900714" y="264315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019896C-8A10-0037-3008-FFAA88145598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2AEAA51-0AE8-2CAE-79BB-336BCD768ED8}"/>
              </a:ext>
            </a:extLst>
          </p:cNvPr>
          <p:cNvSpPr/>
          <p:nvPr/>
        </p:nvSpPr>
        <p:spPr>
          <a:xfrm>
            <a:off x="10234730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مقدمه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D68824-DB31-2A99-33D2-08EB42BF3FF0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6E7E8A3-4874-E975-A2F2-ABB7C0D6E0EE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23BF2F9-E03E-CDBC-3CD3-232053791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0E6D67-75BF-4D75-790A-3CC32E14E14E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4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829419-EAF0-A6E9-2FE5-649EA59EDAF2}"/>
              </a:ext>
            </a:extLst>
          </p:cNvPr>
          <p:cNvSpPr/>
          <p:nvPr/>
        </p:nvSpPr>
        <p:spPr>
          <a:xfrm>
            <a:off x="1727200" y="1417649"/>
            <a:ext cx="9529060" cy="4716730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5AF525-FE99-0BCE-C715-C3E17B9F742E}"/>
              </a:ext>
            </a:extLst>
          </p:cNvPr>
          <p:cNvSpPr/>
          <p:nvPr/>
        </p:nvSpPr>
        <p:spPr>
          <a:xfrm>
            <a:off x="8635931" y="2163924"/>
            <a:ext cx="2620329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472F267-567B-AE08-690B-DD010F9081C7}"/>
              </a:ext>
            </a:extLst>
          </p:cNvPr>
          <p:cNvSpPr/>
          <p:nvPr/>
        </p:nvSpPr>
        <p:spPr>
          <a:xfrm>
            <a:off x="-1230157" y="216392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B295983-CB33-A223-EC86-551FAC1A6823}"/>
              </a:ext>
            </a:extLst>
          </p:cNvPr>
          <p:cNvSpPr/>
          <p:nvPr/>
        </p:nvSpPr>
        <p:spPr>
          <a:xfrm>
            <a:off x="-1230157" y="216392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306996C-FDF7-AAE1-B31B-E6101EB3A51E}"/>
              </a:ext>
            </a:extLst>
          </p:cNvPr>
          <p:cNvSpPr/>
          <p:nvPr/>
        </p:nvSpPr>
        <p:spPr>
          <a:xfrm>
            <a:off x="-1251198" y="3584788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PlantVillage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F1FD912-D048-FCD6-D9BF-127822C5370C}"/>
              </a:ext>
            </a:extLst>
          </p:cNvPr>
          <p:cNvSpPr/>
          <p:nvPr/>
        </p:nvSpPr>
        <p:spPr>
          <a:xfrm>
            <a:off x="-1253189" y="276373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4A434B6-D2D8-C329-5AF2-D78DAD1FFE67}"/>
              </a:ext>
            </a:extLst>
          </p:cNvPr>
          <p:cNvSpPr/>
          <p:nvPr/>
        </p:nvSpPr>
        <p:spPr>
          <a:xfrm>
            <a:off x="-4032498" y="2163922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01551ED-5A89-FD21-E4BA-F83CB6800C2B}"/>
              </a:ext>
            </a:extLst>
          </p:cNvPr>
          <p:cNvSpPr/>
          <p:nvPr/>
        </p:nvSpPr>
        <p:spPr>
          <a:xfrm>
            <a:off x="-4032498" y="2163921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2BD6D00-E9B0-2496-A585-3860ABE740A1}"/>
              </a:ext>
            </a:extLst>
          </p:cNvPr>
          <p:cNvSpPr/>
          <p:nvPr/>
        </p:nvSpPr>
        <p:spPr>
          <a:xfrm>
            <a:off x="-4053539" y="3584786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PlantDoc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481FFCE-8CBE-3650-356F-1209353400FE}"/>
              </a:ext>
            </a:extLst>
          </p:cNvPr>
          <p:cNvSpPr/>
          <p:nvPr/>
        </p:nvSpPr>
        <p:spPr>
          <a:xfrm>
            <a:off x="-4055530" y="2763735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13F086B-1AE5-AA30-F7BD-0BE087BEE579}"/>
              </a:ext>
            </a:extLst>
          </p:cNvPr>
          <p:cNvSpPr/>
          <p:nvPr/>
        </p:nvSpPr>
        <p:spPr>
          <a:xfrm>
            <a:off x="-6813798" y="2163922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A1245C2-E2F1-1A23-C96D-8BDB894BAE86}"/>
              </a:ext>
            </a:extLst>
          </p:cNvPr>
          <p:cNvSpPr/>
          <p:nvPr/>
        </p:nvSpPr>
        <p:spPr>
          <a:xfrm>
            <a:off x="-6813798" y="2163921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4B929D4-EB0A-0769-9F42-86FD63F3798F}"/>
              </a:ext>
            </a:extLst>
          </p:cNvPr>
          <p:cNvSpPr/>
          <p:nvPr/>
        </p:nvSpPr>
        <p:spPr>
          <a:xfrm>
            <a:off x="-6834839" y="3584786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تفاوت داده آزمایشگاهی و واقعی</a:t>
            </a: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C70C7CC-65EE-EE8C-7236-27F5C4FF5B25}"/>
              </a:ext>
            </a:extLst>
          </p:cNvPr>
          <p:cNvSpPr/>
          <p:nvPr/>
        </p:nvSpPr>
        <p:spPr>
          <a:xfrm>
            <a:off x="-6836830" y="2763735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4.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3AE33E7-F378-2ADF-3230-FD411F833FF5}"/>
              </a:ext>
            </a:extLst>
          </p:cNvPr>
          <p:cNvSpPr/>
          <p:nvPr/>
        </p:nvSpPr>
        <p:spPr>
          <a:xfrm>
            <a:off x="9496405" y="2667847"/>
            <a:ext cx="172897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b="1" dirty="0">
                <a:cs typeface="2  Bardiya" panose="00000400000000000000" pitchFamily="2" charset="-78"/>
              </a:rPr>
              <a:t>مقدمه کلی</a:t>
            </a:r>
          </a:p>
          <a:p>
            <a:pPr algn="ctr"/>
            <a:r>
              <a:rPr lang="fa-IR" sz="1400" b="1" dirty="0">
                <a:cs typeface="2  Bardiya" panose="00000400000000000000" pitchFamily="2" charset="-78"/>
              </a:rPr>
              <a:t>بیان مسئله</a:t>
            </a:r>
          </a:p>
          <a:p>
            <a:pPr algn="ctr"/>
            <a:r>
              <a:rPr lang="fa-IR" sz="1400" b="1" dirty="0">
                <a:cs typeface="2  Bardiya" panose="00000400000000000000" pitchFamily="2" charset="-78"/>
              </a:rPr>
              <a:t>اهداف پژوهش</a:t>
            </a:r>
            <a:endParaRPr lang="en-US" sz="1400" b="1" dirty="0">
              <a:cs typeface="2  Bardiya" panose="00000400000000000000" pitchFamily="2" charset="-78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EEF94D9-5C1F-87A0-3BA5-A1CEE5EA4572}"/>
              </a:ext>
            </a:extLst>
          </p:cNvPr>
          <p:cNvSpPr/>
          <p:nvPr/>
        </p:nvSpPr>
        <p:spPr>
          <a:xfrm>
            <a:off x="9995804" y="2001485"/>
            <a:ext cx="719840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20337B-5EC3-C239-BA42-CD50C78D0255}"/>
              </a:ext>
            </a:extLst>
          </p:cNvPr>
          <p:cNvSpPr/>
          <p:nvPr/>
        </p:nvSpPr>
        <p:spPr>
          <a:xfrm>
            <a:off x="7455920" y="1916398"/>
            <a:ext cx="1800708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200" b="1" dirty="0">
                <a:cs typeface="2  Bardiya" panose="00000400000000000000" pitchFamily="2" charset="-78"/>
              </a:rPr>
              <a:t>مقدمه کلی: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06487C-79CB-8162-B5AE-F639BA3A9280}"/>
              </a:ext>
            </a:extLst>
          </p:cNvPr>
          <p:cNvCxnSpPr/>
          <p:nvPr/>
        </p:nvCxnSpPr>
        <p:spPr>
          <a:xfrm>
            <a:off x="9684941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C58114-1126-DA01-769A-8C5298DBB84C}"/>
              </a:ext>
            </a:extLst>
          </p:cNvPr>
          <p:cNvSpPr/>
          <p:nvPr/>
        </p:nvSpPr>
        <p:spPr>
          <a:xfrm>
            <a:off x="3223860" y="2340554"/>
            <a:ext cx="5636359" cy="311063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اهمیت کشاورزی در امنیت غذایی و توسعه پایدار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خسارات گسترده ناشی از بیماری‌های گیاهی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محدودیت روش‌های سنتی تشخیص بیماری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نقش پردازش تصویر و یادگیری عمیق در تشخیص هوشمند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معرفی چارچوب دو‌مرحله‌ای پیشنهادی پروژه</a:t>
            </a:r>
            <a:endParaRPr lang="en-US" sz="1900" b="1" dirty="0">
              <a:cs typeface="2 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27523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D7541-2699-C927-39DC-905E306F6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7A256B8-4BFA-2ACE-86D8-7488C9AE5D66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42D07A-2DF9-E502-ED16-C5A82955D118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B93EBDA-A38A-BB86-37CD-05DC0BE60124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EAB2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504292-A78B-1516-98E9-67F017E2C09C}"/>
              </a:ext>
            </a:extLst>
          </p:cNvPr>
          <p:cNvSpPr/>
          <p:nvPr/>
        </p:nvSpPr>
        <p:spPr>
          <a:xfrm>
            <a:off x="7900714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40E32C6-8EC7-C880-7787-2BD1B72E1A50}"/>
              </a:ext>
            </a:extLst>
          </p:cNvPr>
          <p:cNvSpPr/>
          <p:nvPr/>
        </p:nvSpPr>
        <p:spPr>
          <a:xfrm>
            <a:off x="10234730" y="264316"/>
            <a:ext cx="1595321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EBE61A2-5235-70A3-B64A-464001EEDCBE}"/>
              </a:ext>
            </a:extLst>
          </p:cNvPr>
          <p:cNvSpPr/>
          <p:nvPr/>
        </p:nvSpPr>
        <p:spPr>
          <a:xfrm>
            <a:off x="10887075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BEB07D6-A9F9-5E0C-8E98-970E4F9ADB9A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FC0699-A348-57FD-1352-B85D1CBA1962}"/>
              </a:ext>
            </a:extLst>
          </p:cNvPr>
          <p:cNvSpPr/>
          <p:nvPr/>
        </p:nvSpPr>
        <p:spPr>
          <a:xfrm>
            <a:off x="7900714" y="264315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56D4386-0560-1171-767C-6E2BBD612B32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7D2C3B-FCEC-9BC2-DE78-6563D379D4DB}"/>
              </a:ext>
            </a:extLst>
          </p:cNvPr>
          <p:cNvSpPr/>
          <p:nvPr/>
        </p:nvSpPr>
        <p:spPr>
          <a:xfrm>
            <a:off x="10234730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مقدمه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8919FE-B38C-E7B0-7C89-AB7EF165C316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880F8B1-DC02-8FC4-48BA-E68A6614E033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E125BDD-6F39-B2CB-3E0F-2352B7992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75A760F-BB5C-1FD7-BA1B-E8881E59BD31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4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FCDB47-C5AB-B2C8-202C-B35CF211F92E}"/>
              </a:ext>
            </a:extLst>
          </p:cNvPr>
          <p:cNvSpPr/>
          <p:nvPr/>
        </p:nvSpPr>
        <p:spPr>
          <a:xfrm>
            <a:off x="1727200" y="1398795"/>
            <a:ext cx="9529060" cy="4716730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C73B06-7E80-E8FA-B61E-994D358BBF2C}"/>
              </a:ext>
            </a:extLst>
          </p:cNvPr>
          <p:cNvSpPr/>
          <p:nvPr/>
        </p:nvSpPr>
        <p:spPr>
          <a:xfrm>
            <a:off x="8635931" y="2163924"/>
            <a:ext cx="2620329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E0B84B6-D447-9E9D-4294-15F79149AEEE}"/>
              </a:ext>
            </a:extLst>
          </p:cNvPr>
          <p:cNvSpPr/>
          <p:nvPr/>
        </p:nvSpPr>
        <p:spPr>
          <a:xfrm>
            <a:off x="-1230157" y="216392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46B75A8-F705-8D7F-18E6-F95216AD082E}"/>
              </a:ext>
            </a:extLst>
          </p:cNvPr>
          <p:cNvSpPr/>
          <p:nvPr/>
        </p:nvSpPr>
        <p:spPr>
          <a:xfrm>
            <a:off x="-1230157" y="216392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1359CC7-B7EB-C99E-B316-927B88A4DD78}"/>
              </a:ext>
            </a:extLst>
          </p:cNvPr>
          <p:cNvSpPr/>
          <p:nvPr/>
        </p:nvSpPr>
        <p:spPr>
          <a:xfrm>
            <a:off x="-1251198" y="3584788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PlantVillage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6CAD41C-42EB-D7C8-624C-3F0884DF84B7}"/>
              </a:ext>
            </a:extLst>
          </p:cNvPr>
          <p:cNvSpPr/>
          <p:nvPr/>
        </p:nvSpPr>
        <p:spPr>
          <a:xfrm>
            <a:off x="-1253189" y="276373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FEAC7D4-789A-A4C9-7256-4A850B386000}"/>
              </a:ext>
            </a:extLst>
          </p:cNvPr>
          <p:cNvSpPr/>
          <p:nvPr/>
        </p:nvSpPr>
        <p:spPr>
          <a:xfrm>
            <a:off x="-4032498" y="2163922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5F27D9D-95E4-949A-EC5B-59EAF58852E9}"/>
              </a:ext>
            </a:extLst>
          </p:cNvPr>
          <p:cNvSpPr/>
          <p:nvPr/>
        </p:nvSpPr>
        <p:spPr>
          <a:xfrm>
            <a:off x="-4032498" y="2163921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30EDB41-2EF8-ABA6-AE17-833FEDBF77BD}"/>
              </a:ext>
            </a:extLst>
          </p:cNvPr>
          <p:cNvSpPr/>
          <p:nvPr/>
        </p:nvSpPr>
        <p:spPr>
          <a:xfrm>
            <a:off x="-4053539" y="3584786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PlantDoc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2D29E87-D182-8AE2-98FC-455818773120}"/>
              </a:ext>
            </a:extLst>
          </p:cNvPr>
          <p:cNvSpPr/>
          <p:nvPr/>
        </p:nvSpPr>
        <p:spPr>
          <a:xfrm>
            <a:off x="-4055530" y="2763735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192C393-D0C6-AC18-503C-621C87EAF0A1}"/>
              </a:ext>
            </a:extLst>
          </p:cNvPr>
          <p:cNvSpPr/>
          <p:nvPr/>
        </p:nvSpPr>
        <p:spPr>
          <a:xfrm>
            <a:off x="-6813798" y="2163922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6B142C6-FAF7-FB7D-907B-71D99BE550C5}"/>
              </a:ext>
            </a:extLst>
          </p:cNvPr>
          <p:cNvSpPr/>
          <p:nvPr/>
        </p:nvSpPr>
        <p:spPr>
          <a:xfrm>
            <a:off x="-6813798" y="2163921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D5F320D-155B-38BB-DAEC-0C91E7FF9FBD}"/>
              </a:ext>
            </a:extLst>
          </p:cNvPr>
          <p:cNvSpPr/>
          <p:nvPr/>
        </p:nvSpPr>
        <p:spPr>
          <a:xfrm>
            <a:off x="-6834839" y="3584786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تفاوت داده آزمایشگاهی و واقعی</a:t>
            </a: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0623F93-11BA-52F2-E627-20F046C6728A}"/>
              </a:ext>
            </a:extLst>
          </p:cNvPr>
          <p:cNvSpPr/>
          <p:nvPr/>
        </p:nvSpPr>
        <p:spPr>
          <a:xfrm>
            <a:off x="-6836830" y="2763735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4.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E208824-9E2E-3B76-C871-A1CB1035D4E1}"/>
              </a:ext>
            </a:extLst>
          </p:cNvPr>
          <p:cNvSpPr/>
          <p:nvPr/>
        </p:nvSpPr>
        <p:spPr>
          <a:xfrm>
            <a:off x="9496405" y="2667847"/>
            <a:ext cx="172897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b="1" dirty="0">
                <a:cs typeface="2  Bardiya" panose="00000400000000000000" pitchFamily="2" charset="-78"/>
              </a:rPr>
              <a:t>مقدمه کلی</a:t>
            </a:r>
          </a:p>
          <a:p>
            <a:pPr algn="ctr"/>
            <a:r>
              <a:rPr lang="fa-IR" sz="1400" b="1" dirty="0">
                <a:cs typeface="2  Bardiya" panose="00000400000000000000" pitchFamily="2" charset="-78"/>
              </a:rPr>
              <a:t>بیان مسئله</a:t>
            </a:r>
          </a:p>
          <a:p>
            <a:pPr algn="ctr"/>
            <a:r>
              <a:rPr lang="fa-IR" sz="1400" b="1" dirty="0">
                <a:cs typeface="2  Bardiya" panose="00000400000000000000" pitchFamily="2" charset="-78"/>
              </a:rPr>
              <a:t>اهداف پژوهش</a:t>
            </a:r>
            <a:endParaRPr lang="en-US" sz="1400" b="1" dirty="0">
              <a:cs typeface="2  Bardiya" panose="00000400000000000000" pitchFamily="2" charset="-78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F381B0E-C1E6-8501-C94B-777770C9850B}"/>
              </a:ext>
            </a:extLst>
          </p:cNvPr>
          <p:cNvSpPr/>
          <p:nvPr/>
        </p:nvSpPr>
        <p:spPr>
          <a:xfrm>
            <a:off x="9995804" y="2001485"/>
            <a:ext cx="719840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B70AAD-5704-8082-957D-5B5364DC4C14}"/>
              </a:ext>
            </a:extLst>
          </p:cNvPr>
          <p:cNvSpPr/>
          <p:nvPr/>
        </p:nvSpPr>
        <p:spPr>
          <a:xfrm>
            <a:off x="7455920" y="1916398"/>
            <a:ext cx="1800708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200" b="1" dirty="0">
                <a:cs typeface="2  Bardiya" panose="00000400000000000000" pitchFamily="2" charset="-78"/>
              </a:rPr>
              <a:t>بیان مسئله: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7787F2-C46D-87C4-CA25-85FBDF08D06C}"/>
              </a:ext>
            </a:extLst>
          </p:cNvPr>
          <p:cNvCxnSpPr/>
          <p:nvPr/>
        </p:nvCxnSpPr>
        <p:spPr>
          <a:xfrm>
            <a:off x="9684941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9D9E073-9499-610B-B863-5154DD3A2131}"/>
              </a:ext>
            </a:extLst>
          </p:cNvPr>
          <p:cNvSpPr/>
          <p:nvPr/>
        </p:nvSpPr>
        <p:spPr>
          <a:xfrm>
            <a:off x="3223860" y="2340554"/>
            <a:ext cx="5636359" cy="311063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دشواری تشخیص زودهنگام بیماری‌های گیاهی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شباهت ظاهری علائم در مراحل اولیه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پیچیدگی تصاویر واقعی مزرعه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ضعف روش‌های سنتی و کلاسیک پردازش تصویر</a:t>
            </a:r>
          </a:p>
        </p:txBody>
      </p:sp>
    </p:spTree>
    <p:extLst>
      <p:ext uri="{BB962C8B-B14F-4D97-AF65-F5344CB8AC3E}">
        <p14:creationId xmlns:p14="http://schemas.microsoft.com/office/powerpoint/2010/main" val="2539729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13BF6-C143-399D-7949-FB351D29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DDDE60-5F5D-C5FA-20DC-40E9AEF136C8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BAF180F-6DD2-1719-1F59-2841AC1ACB4D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FC643BE-81B7-6463-E7DA-F04E60491405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EAB2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A12C7EC-13E6-DB39-1DE9-92A3021DC1F6}"/>
              </a:ext>
            </a:extLst>
          </p:cNvPr>
          <p:cNvSpPr/>
          <p:nvPr/>
        </p:nvSpPr>
        <p:spPr>
          <a:xfrm>
            <a:off x="7900714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F49D513-6C81-7991-A307-8325DD9184F7}"/>
              </a:ext>
            </a:extLst>
          </p:cNvPr>
          <p:cNvSpPr/>
          <p:nvPr/>
        </p:nvSpPr>
        <p:spPr>
          <a:xfrm>
            <a:off x="10234730" y="264316"/>
            <a:ext cx="1595321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349A2E0-4AEC-EF88-75A8-9C0CCFA7E55C}"/>
              </a:ext>
            </a:extLst>
          </p:cNvPr>
          <p:cNvSpPr/>
          <p:nvPr/>
        </p:nvSpPr>
        <p:spPr>
          <a:xfrm>
            <a:off x="10887075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FAF3DC0-1C3D-DC55-C04A-4D62806D1D86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34D0541-2012-875C-7D5C-D88A44B8CCAF}"/>
              </a:ext>
            </a:extLst>
          </p:cNvPr>
          <p:cNvSpPr/>
          <p:nvPr/>
        </p:nvSpPr>
        <p:spPr>
          <a:xfrm>
            <a:off x="7900714" y="264315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ECB892F-CDCC-F494-EE4E-9E4FAAFA8DB2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BA0FF73-3871-0F5D-9911-A2BE6465A803}"/>
              </a:ext>
            </a:extLst>
          </p:cNvPr>
          <p:cNvSpPr/>
          <p:nvPr/>
        </p:nvSpPr>
        <p:spPr>
          <a:xfrm>
            <a:off x="10234730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مقدمه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9C6D79-20E3-92E6-F686-FA393A1B527C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E1F65C2-6A10-1D7A-4776-1EFA934367A4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DFB64B-E4C2-BC35-29E9-DED4FB3C4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3FDB5D-D9E3-4F01-7D70-EBED906A26F7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4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898076-41CE-A2D8-43FF-CE7E41CA81B3}"/>
              </a:ext>
            </a:extLst>
          </p:cNvPr>
          <p:cNvSpPr/>
          <p:nvPr/>
        </p:nvSpPr>
        <p:spPr>
          <a:xfrm>
            <a:off x="1727200" y="1426707"/>
            <a:ext cx="9529060" cy="4716730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C314767-C119-6BD4-5E80-5D80AA35DECC}"/>
              </a:ext>
            </a:extLst>
          </p:cNvPr>
          <p:cNvSpPr/>
          <p:nvPr/>
        </p:nvSpPr>
        <p:spPr>
          <a:xfrm>
            <a:off x="8635931" y="2163924"/>
            <a:ext cx="2620329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230ED20-EF84-6D05-7C5F-65E8E6A69281}"/>
              </a:ext>
            </a:extLst>
          </p:cNvPr>
          <p:cNvSpPr/>
          <p:nvPr/>
        </p:nvSpPr>
        <p:spPr>
          <a:xfrm>
            <a:off x="-1230157" y="216392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41FCA57-EAC4-D8B2-C02F-8F3870278F24}"/>
              </a:ext>
            </a:extLst>
          </p:cNvPr>
          <p:cNvSpPr/>
          <p:nvPr/>
        </p:nvSpPr>
        <p:spPr>
          <a:xfrm>
            <a:off x="-1230157" y="216392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2579EF4-E7D8-E002-8F93-BDF7B671F561}"/>
              </a:ext>
            </a:extLst>
          </p:cNvPr>
          <p:cNvSpPr/>
          <p:nvPr/>
        </p:nvSpPr>
        <p:spPr>
          <a:xfrm>
            <a:off x="-1251198" y="3584788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PlantVillage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2135135-FF22-B860-8D75-ABB86DDE925A}"/>
              </a:ext>
            </a:extLst>
          </p:cNvPr>
          <p:cNvSpPr/>
          <p:nvPr/>
        </p:nvSpPr>
        <p:spPr>
          <a:xfrm>
            <a:off x="-1253189" y="276373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6003240-7FE8-EF75-2F2F-F3861E838DFB}"/>
              </a:ext>
            </a:extLst>
          </p:cNvPr>
          <p:cNvSpPr/>
          <p:nvPr/>
        </p:nvSpPr>
        <p:spPr>
          <a:xfrm>
            <a:off x="-4032498" y="2163922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69ABA8C-E7B7-5601-DD73-72BAEE37BEFD}"/>
              </a:ext>
            </a:extLst>
          </p:cNvPr>
          <p:cNvSpPr/>
          <p:nvPr/>
        </p:nvSpPr>
        <p:spPr>
          <a:xfrm>
            <a:off x="-4032498" y="2163921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A47E763-9AD8-3B05-27EB-DB1C3214E3F9}"/>
              </a:ext>
            </a:extLst>
          </p:cNvPr>
          <p:cNvSpPr/>
          <p:nvPr/>
        </p:nvSpPr>
        <p:spPr>
          <a:xfrm>
            <a:off x="-4053539" y="3584786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PlantDoc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B3AAD14-CEAD-F961-624C-D205C383427E}"/>
              </a:ext>
            </a:extLst>
          </p:cNvPr>
          <p:cNvSpPr/>
          <p:nvPr/>
        </p:nvSpPr>
        <p:spPr>
          <a:xfrm>
            <a:off x="-4055530" y="2763735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C2F4AD7-CA89-1C9B-5A0B-607C5D1AD830}"/>
              </a:ext>
            </a:extLst>
          </p:cNvPr>
          <p:cNvSpPr/>
          <p:nvPr/>
        </p:nvSpPr>
        <p:spPr>
          <a:xfrm>
            <a:off x="-6813798" y="2163922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2D8044E-438B-252C-7473-B8D513EA817F}"/>
              </a:ext>
            </a:extLst>
          </p:cNvPr>
          <p:cNvSpPr/>
          <p:nvPr/>
        </p:nvSpPr>
        <p:spPr>
          <a:xfrm>
            <a:off x="-6813798" y="2163921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18AE6A1-6CB7-8090-4C01-B4D0E7868BF7}"/>
              </a:ext>
            </a:extLst>
          </p:cNvPr>
          <p:cNvSpPr/>
          <p:nvPr/>
        </p:nvSpPr>
        <p:spPr>
          <a:xfrm>
            <a:off x="-6834839" y="3584786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تفاوت داده آزمایشگاهی و واقعی</a:t>
            </a: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F05D672-F2FF-ADB3-B4DC-19317773A5EE}"/>
              </a:ext>
            </a:extLst>
          </p:cNvPr>
          <p:cNvSpPr/>
          <p:nvPr/>
        </p:nvSpPr>
        <p:spPr>
          <a:xfrm>
            <a:off x="-6836830" y="2763735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4.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CB675FD-0EFE-3A00-AC8F-023B2E50C8B7}"/>
              </a:ext>
            </a:extLst>
          </p:cNvPr>
          <p:cNvSpPr/>
          <p:nvPr/>
        </p:nvSpPr>
        <p:spPr>
          <a:xfrm>
            <a:off x="9496405" y="2667847"/>
            <a:ext cx="172897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b="1" dirty="0">
                <a:cs typeface="2  Bardiya" panose="00000400000000000000" pitchFamily="2" charset="-78"/>
              </a:rPr>
              <a:t>مقدمه کلی</a:t>
            </a:r>
          </a:p>
          <a:p>
            <a:pPr algn="ctr"/>
            <a:r>
              <a:rPr lang="fa-IR" sz="1400" b="1" dirty="0">
                <a:cs typeface="2  Bardiya" panose="00000400000000000000" pitchFamily="2" charset="-78"/>
              </a:rPr>
              <a:t>بیان مسئله</a:t>
            </a:r>
          </a:p>
          <a:p>
            <a:pPr algn="ctr"/>
            <a:r>
              <a:rPr lang="fa-IR" sz="1400" b="1" dirty="0">
                <a:cs typeface="2  Bardiya" panose="00000400000000000000" pitchFamily="2" charset="-78"/>
              </a:rPr>
              <a:t>اهداف پژوهش</a:t>
            </a:r>
            <a:endParaRPr lang="en-US" sz="1400" b="1" dirty="0">
              <a:cs typeface="2  Bardiya" panose="00000400000000000000" pitchFamily="2" charset="-78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4386C22-64AB-E477-C89D-C286F24303AC}"/>
              </a:ext>
            </a:extLst>
          </p:cNvPr>
          <p:cNvSpPr/>
          <p:nvPr/>
        </p:nvSpPr>
        <p:spPr>
          <a:xfrm>
            <a:off x="9995804" y="2001485"/>
            <a:ext cx="719840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52FB5C-EA5E-9D73-6BAF-E32079CC848E}"/>
              </a:ext>
            </a:extLst>
          </p:cNvPr>
          <p:cNvSpPr/>
          <p:nvPr/>
        </p:nvSpPr>
        <p:spPr>
          <a:xfrm>
            <a:off x="6966413" y="1916398"/>
            <a:ext cx="2290216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200" b="1" dirty="0">
                <a:cs typeface="2  Bardiya" panose="00000400000000000000" pitchFamily="2" charset="-78"/>
              </a:rPr>
              <a:t>اهداف پژوهش: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FA8A957-8033-DB19-0204-AA6B9A97E260}"/>
              </a:ext>
            </a:extLst>
          </p:cNvPr>
          <p:cNvCxnSpPr/>
          <p:nvPr/>
        </p:nvCxnSpPr>
        <p:spPr>
          <a:xfrm>
            <a:off x="9684941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509075D-5C58-2816-3753-DB341FCCC46F}"/>
              </a:ext>
            </a:extLst>
          </p:cNvPr>
          <p:cNvSpPr/>
          <p:nvPr/>
        </p:nvSpPr>
        <p:spPr>
          <a:xfrm>
            <a:off x="3223860" y="2340554"/>
            <a:ext cx="5636359" cy="311063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b="1" dirty="0">
                <a:cs typeface="2  Koodak" panose="00000700000000000000" pitchFamily="2" charset="-78"/>
              </a:rPr>
              <a:t>طراحی سامانه هوشمند تشخیص بیماری‌های گیاهی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b="1" dirty="0">
                <a:cs typeface="2  Koodak" panose="00000700000000000000" pitchFamily="2" charset="-78"/>
              </a:rPr>
              <a:t>مقایسه معماری‌های مختلف </a:t>
            </a:r>
            <a:r>
              <a:rPr lang="en-US" sz="1900" b="1" dirty="0">
                <a:cs typeface="2  Koodak" panose="00000700000000000000" pitchFamily="2" charset="-78"/>
              </a:rPr>
              <a:t>CNN</a:t>
            </a:r>
            <a:r>
              <a:rPr lang="fa-IR" sz="1900" b="1" dirty="0">
                <a:cs typeface="2  Koodak" panose="00000700000000000000" pitchFamily="2" charset="-78"/>
              </a:rPr>
              <a:t> روی </a:t>
            </a:r>
            <a:r>
              <a:rPr lang="en-US" sz="1900" b="1" dirty="0" err="1">
                <a:cs typeface="2  Koodak" panose="00000700000000000000" pitchFamily="2" charset="-78"/>
              </a:rPr>
              <a:t>PlantVillage</a:t>
            </a:r>
            <a:endParaRPr lang="en-US" sz="1900" b="1" dirty="0"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b="1" dirty="0">
                <a:cs typeface="2  Koodak" panose="00000700000000000000" pitchFamily="2" charset="-78"/>
              </a:rPr>
              <a:t>بهبود دقت با استفاده از مدل </a:t>
            </a:r>
            <a:r>
              <a:rPr lang="en-US" sz="1900" b="1" dirty="0">
                <a:cs typeface="2  Koodak" panose="00000700000000000000" pitchFamily="2" charset="-78"/>
              </a:rPr>
              <a:t>Ensemble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b="1" dirty="0">
                <a:cs typeface="2  Koodak" panose="00000700000000000000" pitchFamily="2" charset="-78"/>
              </a:rPr>
              <a:t>تشخیص ناحیه بیماری در تصاویر واقعی با </a:t>
            </a:r>
            <a:r>
              <a:rPr lang="en-US" sz="1900" b="1" dirty="0">
                <a:cs typeface="2  Koodak" panose="00000700000000000000" pitchFamily="2" charset="-78"/>
              </a:rPr>
              <a:t>YOLOX</a:t>
            </a:r>
          </a:p>
        </p:txBody>
      </p:sp>
    </p:spTree>
    <p:extLst>
      <p:ext uri="{BB962C8B-B14F-4D97-AF65-F5344CB8AC3E}">
        <p14:creationId xmlns:p14="http://schemas.microsoft.com/office/powerpoint/2010/main" val="1835908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6F5A5-48DA-0044-594E-EDF7FEF64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7CB5059-F0AD-0A5D-370E-96F5B1A54779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EF710D-3FC0-7A8E-20CD-081D5FCB8495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EE03E39-4979-1E0C-14EF-C0E305E8338A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EAB2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89439F7-E4A9-46C3-3DDF-DB228D7AB0F7}"/>
              </a:ext>
            </a:extLst>
          </p:cNvPr>
          <p:cNvSpPr/>
          <p:nvPr/>
        </p:nvSpPr>
        <p:spPr>
          <a:xfrm>
            <a:off x="7900714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BC47E0B-AA0F-51D8-4236-8A68B9ECEAC6}"/>
              </a:ext>
            </a:extLst>
          </p:cNvPr>
          <p:cNvSpPr/>
          <p:nvPr/>
        </p:nvSpPr>
        <p:spPr>
          <a:xfrm>
            <a:off x="10234730" y="264316"/>
            <a:ext cx="1595321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6A79DAF-71AD-2BED-DEB4-3776C638DE63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4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D134E05-8B19-E51E-C172-98FB1CC57A50}"/>
              </a:ext>
            </a:extLst>
          </p:cNvPr>
          <p:cNvSpPr/>
          <p:nvPr/>
        </p:nvSpPr>
        <p:spPr>
          <a:xfrm>
            <a:off x="10887075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E20B55D-E38C-2A26-59DE-C12B64486A7C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6C2307B-BF08-318C-E72F-F06C64B6B8DC}"/>
              </a:ext>
            </a:extLst>
          </p:cNvPr>
          <p:cNvSpPr/>
          <p:nvPr/>
        </p:nvSpPr>
        <p:spPr>
          <a:xfrm>
            <a:off x="7900714" y="264315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3DD33DC-EAC3-2E9A-623C-FDD3B34E8217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8839343-EDD3-EDB9-5FF9-2A3E850F43E3}"/>
              </a:ext>
            </a:extLst>
          </p:cNvPr>
          <p:cNvSpPr/>
          <p:nvPr/>
        </p:nvSpPr>
        <p:spPr>
          <a:xfrm>
            <a:off x="10234730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مقدمه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D02EFD-E478-1A5B-AB03-75407F7480EB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598FF4E-EF48-4FDA-AF25-719BF766340C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E6E3919-3272-E364-BF41-8D948B574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227166-CD98-E1C5-BF3E-A3EF03A54167}"/>
              </a:ext>
            </a:extLst>
          </p:cNvPr>
          <p:cNvSpPr/>
          <p:nvPr/>
        </p:nvSpPr>
        <p:spPr>
          <a:xfrm>
            <a:off x="9067722" y="2163925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3D5B01F-3607-94FC-2ACA-D62008E8FA44}"/>
              </a:ext>
            </a:extLst>
          </p:cNvPr>
          <p:cNvSpPr/>
          <p:nvPr/>
        </p:nvSpPr>
        <p:spPr>
          <a:xfrm>
            <a:off x="9067722" y="216392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FE18AC-41F7-0E66-F3B8-7629EB27147D}"/>
              </a:ext>
            </a:extLst>
          </p:cNvPr>
          <p:cNvSpPr/>
          <p:nvPr/>
        </p:nvSpPr>
        <p:spPr>
          <a:xfrm>
            <a:off x="9046681" y="358478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مقدمه کلی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بیان مسئله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اهداف پژوهش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8C6246-1432-8F7F-838D-D39BB3208E41}"/>
              </a:ext>
            </a:extLst>
          </p:cNvPr>
          <p:cNvSpPr/>
          <p:nvPr/>
        </p:nvSpPr>
        <p:spPr>
          <a:xfrm>
            <a:off x="9044690" y="276373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B45390-0FB7-FAC3-E17D-413B13F809D1}"/>
              </a:ext>
            </a:extLst>
          </p:cNvPr>
          <p:cNvSpPr/>
          <p:nvPr/>
        </p:nvSpPr>
        <p:spPr>
          <a:xfrm>
            <a:off x="6267372" y="2163921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FD0B0A8-6738-C574-5353-568D13AB245C}"/>
              </a:ext>
            </a:extLst>
          </p:cNvPr>
          <p:cNvSpPr/>
          <p:nvPr/>
        </p:nvSpPr>
        <p:spPr>
          <a:xfrm>
            <a:off x="6267372" y="216392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73362A-F203-BFA8-49B0-18DB72625B84}"/>
              </a:ext>
            </a:extLst>
          </p:cNvPr>
          <p:cNvSpPr/>
          <p:nvPr/>
        </p:nvSpPr>
        <p:spPr>
          <a:xfrm>
            <a:off x="6246331" y="3584785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PlantVillage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A9CF3DF-31E9-3C02-8FE0-91D02639C663}"/>
              </a:ext>
            </a:extLst>
          </p:cNvPr>
          <p:cNvSpPr/>
          <p:nvPr/>
        </p:nvSpPr>
        <p:spPr>
          <a:xfrm>
            <a:off x="6244340" y="2763734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D9E1F9B-0F53-F4C2-EF07-F541F21BC9B8}"/>
              </a:ext>
            </a:extLst>
          </p:cNvPr>
          <p:cNvSpPr/>
          <p:nvPr/>
        </p:nvSpPr>
        <p:spPr>
          <a:xfrm>
            <a:off x="3488063" y="216392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5E46784-785D-C98A-54DD-7193AD4FA6C0}"/>
              </a:ext>
            </a:extLst>
          </p:cNvPr>
          <p:cNvSpPr/>
          <p:nvPr/>
        </p:nvSpPr>
        <p:spPr>
          <a:xfrm>
            <a:off x="3488063" y="21639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FCFB1C8-3D13-7620-D272-D593D30B82F7}"/>
              </a:ext>
            </a:extLst>
          </p:cNvPr>
          <p:cNvSpPr/>
          <p:nvPr/>
        </p:nvSpPr>
        <p:spPr>
          <a:xfrm>
            <a:off x="3467022" y="358478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PlantDoc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F786787-A9C9-F1F6-89C3-796C33D993B3}"/>
              </a:ext>
            </a:extLst>
          </p:cNvPr>
          <p:cNvSpPr/>
          <p:nvPr/>
        </p:nvSpPr>
        <p:spPr>
          <a:xfrm>
            <a:off x="3465031" y="276373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00DC148-447F-1794-5DA3-7C2B9228EB92}"/>
              </a:ext>
            </a:extLst>
          </p:cNvPr>
          <p:cNvSpPr/>
          <p:nvPr/>
        </p:nvSpPr>
        <p:spPr>
          <a:xfrm>
            <a:off x="685722" y="21639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D0EE16D-C679-4F82-0384-CE0DF2DF36A2}"/>
              </a:ext>
            </a:extLst>
          </p:cNvPr>
          <p:cNvSpPr/>
          <p:nvPr/>
        </p:nvSpPr>
        <p:spPr>
          <a:xfrm>
            <a:off x="68572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DAF34C7-9C77-7A35-B724-D50A5C16573D}"/>
              </a:ext>
            </a:extLst>
          </p:cNvPr>
          <p:cNvSpPr/>
          <p:nvPr/>
        </p:nvSpPr>
        <p:spPr>
          <a:xfrm>
            <a:off x="664681" y="35847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تفاوت داده آزمایشگاهی و واقعی</a:t>
            </a: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7FFA28B-EB43-E5E3-43B6-F3B454B824F3}"/>
              </a:ext>
            </a:extLst>
          </p:cNvPr>
          <p:cNvSpPr/>
          <p:nvPr/>
        </p:nvSpPr>
        <p:spPr>
          <a:xfrm>
            <a:off x="662690" y="27637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810837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87B59-35D4-BADD-8EA7-CCCA6972A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5DBADD-2596-EF10-9CBE-64270D219F4D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DDB319-1FE2-E104-6504-662FCC82E8B1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7441AB-A306-4746-FE4B-E08948A51E7C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EAB2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C2B16DF-C762-0714-F766-4ADF943C4586}"/>
              </a:ext>
            </a:extLst>
          </p:cNvPr>
          <p:cNvSpPr/>
          <p:nvPr/>
        </p:nvSpPr>
        <p:spPr>
          <a:xfrm>
            <a:off x="7900714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099749-0FAF-F150-203A-1F57DFBE6072}"/>
              </a:ext>
            </a:extLst>
          </p:cNvPr>
          <p:cNvSpPr/>
          <p:nvPr/>
        </p:nvSpPr>
        <p:spPr>
          <a:xfrm>
            <a:off x="10234730" y="264316"/>
            <a:ext cx="1595321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AD6224-4EFC-AD10-3EEE-5F6404BAB9E7}"/>
              </a:ext>
            </a:extLst>
          </p:cNvPr>
          <p:cNvSpPr/>
          <p:nvPr/>
        </p:nvSpPr>
        <p:spPr>
          <a:xfrm>
            <a:off x="10887075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61B2B04-7788-B468-5001-CC2401E52058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866CB02-91C8-4864-E54D-F235DF4B399B}"/>
              </a:ext>
            </a:extLst>
          </p:cNvPr>
          <p:cNvSpPr/>
          <p:nvPr/>
        </p:nvSpPr>
        <p:spPr>
          <a:xfrm>
            <a:off x="7900714" y="264315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D11D44-C142-65FC-E9AA-E07FA2AF8FF5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415C315-8346-E3D4-38C6-137F77F40D71}"/>
              </a:ext>
            </a:extLst>
          </p:cNvPr>
          <p:cNvSpPr/>
          <p:nvPr/>
        </p:nvSpPr>
        <p:spPr>
          <a:xfrm>
            <a:off x="10234730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مقدمه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E96BD5-E863-EFBF-9BA1-DB5EEC7690DD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19E0F73-2C1B-1E0E-633F-193285747284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796C62A-9788-0F0E-076A-ABCFB8E1D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19D959-31C6-EEB7-4532-09721140B2BB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5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3E4AF5-E9DC-D1FE-1F4F-0188EC01D24B}"/>
              </a:ext>
            </a:extLst>
          </p:cNvPr>
          <p:cNvSpPr/>
          <p:nvPr/>
        </p:nvSpPr>
        <p:spPr>
          <a:xfrm>
            <a:off x="11645822" y="2226052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38901FB-9914-ED7D-9F7B-1A5FD52D4FEC}"/>
              </a:ext>
            </a:extLst>
          </p:cNvPr>
          <p:cNvSpPr/>
          <p:nvPr/>
        </p:nvSpPr>
        <p:spPr>
          <a:xfrm>
            <a:off x="11645822" y="2226051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12EE567-2650-ADE7-3444-6CFD0B5AC44D}"/>
              </a:ext>
            </a:extLst>
          </p:cNvPr>
          <p:cNvSpPr/>
          <p:nvPr/>
        </p:nvSpPr>
        <p:spPr>
          <a:xfrm>
            <a:off x="11624781" y="3646916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مقدمه کلی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بیان مسئله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اهداف پژوهش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27488A5-3DD6-173D-2CD7-552B46198B1B}"/>
              </a:ext>
            </a:extLst>
          </p:cNvPr>
          <p:cNvSpPr/>
          <p:nvPr/>
        </p:nvSpPr>
        <p:spPr>
          <a:xfrm>
            <a:off x="11622790" y="2825865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E0821B4-30B4-A39A-D0B5-0F14927451FB}"/>
              </a:ext>
            </a:extLst>
          </p:cNvPr>
          <p:cNvSpPr/>
          <p:nvPr/>
        </p:nvSpPr>
        <p:spPr>
          <a:xfrm>
            <a:off x="1714501" y="1523047"/>
            <a:ext cx="9458246" cy="4592478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F0FBF3D-FBCC-8A5E-8F42-A4A854D9BB0D}"/>
              </a:ext>
            </a:extLst>
          </p:cNvPr>
          <p:cNvSpPr/>
          <p:nvPr/>
        </p:nvSpPr>
        <p:spPr>
          <a:xfrm>
            <a:off x="8553372" y="222605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E9142B5-DC4A-63AC-2FBD-CEF80631B1C1}"/>
              </a:ext>
            </a:extLst>
          </p:cNvPr>
          <p:cNvSpPr/>
          <p:nvPr/>
        </p:nvSpPr>
        <p:spPr>
          <a:xfrm>
            <a:off x="-1240319" y="2295022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6509FA9-6102-36E0-3B94-298DB33346C2}"/>
              </a:ext>
            </a:extLst>
          </p:cNvPr>
          <p:cNvSpPr/>
          <p:nvPr/>
        </p:nvSpPr>
        <p:spPr>
          <a:xfrm>
            <a:off x="-1240319" y="2295021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E0B447B-EF6D-9B87-1DC6-243605F6BC5E}"/>
              </a:ext>
            </a:extLst>
          </p:cNvPr>
          <p:cNvSpPr/>
          <p:nvPr/>
        </p:nvSpPr>
        <p:spPr>
          <a:xfrm>
            <a:off x="-1261360" y="3715886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PlantDoc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B148ED1-826B-9D22-41D6-99B0BC88E781}"/>
              </a:ext>
            </a:extLst>
          </p:cNvPr>
          <p:cNvSpPr/>
          <p:nvPr/>
        </p:nvSpPr>
        <p:spPr>
          <a:xfrm>
            <a:off x="-1263351" y="2894835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446DF3A-AB3C-27E3-82FF-1E94ED3417C8}"/>
              </a:ext>
            </a:extLst>
          </p:cNvPr>
          <p:cNvSpPr/>
          <p:nvPr/>
        </p:nvSpPr>
        <p:spPr>
          <a:xfrm>
            <a:off x="-4042660" y="2295021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D0BD24F-2B00-37F7-FECF-944119CB5C1D}"/>
              </a:ext>
            </a:extLst>
          </p:cNvPr>
          <p:cNvSpPr/>
          <p:nvPr/>
        </p:nvSpPr>
        <p:spPr>
          <a:xfrm>
            <a:off x="-4042660" y="229502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BFCD911-2165-615A-3046-1971913E6997}"/>
              </a:ext>
            </a:extLst>
          </p:cNvPr>
          <p:cNvSpPr/>
          <p:nvPr/>
        </p:nvSpPr>
        <p:spPr>
          <a:xfrm>
            <a:off x="-4063701" y="3715885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تفاوت داده آزمایشگاهی و واقعی</a:t>
            </a: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B562EE2-1B9A-383B-83B5-BD493D0BDC18}"/>
              </a:ext>
            </a:extLst>
          </p:cNvPr>
          <p:cNvSpPr/>
          <p:nvPr/>
        </p:nvSpPr>
        <p:spPr>
          <a:xfrm>
            <a:off x="-4065692" y="2894834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4.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2F1FA3-B785-B426-4358-FD9E535E90E0}"/>
              </a:ext>
            </a:extLst>
          </p:cNvPr>
          <p:cNvSpPr/>
          <p:nvPr/>
        </p:nvSpPr>
        <p:spPr>
          <a:xfrm>
            <a:off x="9496405" y="2517016"/>
            <a:ext cx="172897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1400" b="1" dirty="0" err="1">
                <a:cs typeface="2  Bardiya" panose="00000400000000000000" pitchFamily="2" charset="-78"/>
              </a:rPr>
              <a:t>PlantVillage</a:t>
            </a:r>
            <a:endParaRPr lang="fa-IR" sz="14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44E3F0-EC7E-F43A-6114-63A59F0FF46D}"/>
              </a:ext>
            </a:extLst>
          </p:cNvPr>
          <p:cNvSpPr/>
          <p:nvPr/>
        </p:nvSpPr>
        <p:spPr>
          <a:xfrm>
            <a:off x="9953370" y="2001485"/>
            <a:ext cx="790555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8FCC92-D031-779E-418F-0175A75BF866}"/>
              </a:ext>
            </a:extLst>
          </p:cNvPr>
          <p:cNvSpPr/>
          <p:nvPr/>
        </p:nvSpPr>
        <p:spPr>
          <a:xfrm>
            <a:off x="4619138" y="1916398"/>
            <a:ext cx="4637492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3200" b="1" dirty="0">
                <a:cs typeface="2  Bardiya" panose="00000400000000000000" pitchFamily="2" charset="-78"/>
              </a:rPr>
              <a:t>معرفی دیتاست </a:t>
            </a:r>
            <a:r>
              <a:rPr lang="en-US" sz="3200" b="1" dirty="0" err="1">
                <a:cs typeface="2  Bardiya" panose="00000400000000000000" pitchFamily="2" charset="-78"/>
              </a:rPr>
              <a:t>PlantVillage</a:t>
            </a:r>
            <a:r>
              <a:rPr lang="fa-IR" sz="3200" b="1" dirty="0">
                <a:cs typeface="2  Bardiya" panose="00000400000000000000" pitchFamily="2" charset="-78"/>
              </a:rPr>
              <a:t>: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36140DE-26AF-2389-F5BA-382D71AA44A9}"/>
              </a:ext>
            </a:extLst>
          </p:cNvPr>
          <p:cNvCxnSpPr/>
          <p:nvPr/>
        </p:nvCxnSpPr>
        <p:spPr>
          <a:xfrm>
            <a:off x="9684941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10C4B5-4BFC-7D1B-F30E-D1799A241007}"/>
              </a:ext>
            </a:extLst>
          </p:cNvPr>
          <p:cNvSpPr/>
          <p:nvPr/>
        </p:nvSpPr>
        <p:spPr>
          <a:xfrm>
            <a:off x="3223860" y="2340554"/>
            <a:ext cx="5636359" cy="311063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دیتاست استاندارد و پرکاربرد در تشخیص بیماری گیاهان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تصاویر در شرایط کاملاً کنترل‌شده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پس‌زمینه یکنواخت و نور همگن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شامل ۱۴ محصول سالم و بیمار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ابعاد تصاویر: 256*256 - </a:t>
            </a:r>
            <a:r>
              <a:rPr lang="en-US" sz="1900" dirty="0">
                <a:cs typeface="2  Koodak" panose="00000700000000000000" pitchFamily="2" charset="-78"/>
              </a:rPr>
              <a:t>RGB</a:t>
            </a:r>
            <a:endParaRPr lang="fa-IR" sz="1900" dirty="0">
              <a:cs typeface="2 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87523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E3B45-2495-5D5B-90DE-5A0D6011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009750-5885-A710-95BB-79EEFB0DA9EE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4A148C-0083-9AF2-CAFA-3313EF9760F6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206628A-4A7C-C3B9-20C5-B3259155F08F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EAB2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73335F3-3253-A49B-C48B-CA4DCAA1DB49}"/>
              </a:ext>
            </a:extLst>
          </p:cNvPr>
          <p:cNvSpPr/>
          <p:nvPr/>
        </p:nvSpPr>
        <p:spPr>
          <a:xfrm>
            <a:off x="7900714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FCA147D-D624-0355-00EC-662D5A7CA687}"/>
              </a:ext>
            </a:extLst>
          </p:cNvPr>
          <p:cNvSpPr/>
          <p:nvPr/>
        </p:nvSpPr>
        <p:spPr>
          <a:xfrm>
            <a:off x="10234730" y="264316"/>
            <a:ext cx="1595321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2E27BD9-D714-DA9C-94D4-7D1385D49101}"/>
              </a:ext>
            </a:extLst>
          </p:cNvPr>
          <p:cNvSpPr/>
          <p:nvPr/>
        </p:nvSpPr>
        <p:spPr>
          <a:xfrm>
            <a:off x="10887075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EE8845D-E2D6-6B18-6754-0B28124FE2C1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78C30A2-322D-B910-5AD2-D5AB21BAE804}"/>
              </a:ext>
            </a:extLst>
          </p:cNvPr>
          <p:cNvSpPr/>
          <p:nvPr/>
        </p:nvSpPr>
        <p:spPr>
          <a:xfrm>
            <a:off x="7900714" y="264315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723BEEA-78CC-6C75-D195-A79454B1E908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86CB099-A366-C571-F96C-4B6EFA635962}"/>
              </a:ext>
            </a:extLst>
          </p:cNvPr>
          <p:cNvSpPr/>
          <p:nvPr/>
        </p:nvSpPr>
        <p:spPr>
          <a:xfrm>
            <a:off x="10234730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مقدمه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2E6C06D-A682-E8AF-CE98-41681F02957C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1C892F1-0AC0-A58C-3072-2DE94A88CF94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ED7B622-65EB-67B5-B7CF-7F9E13593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5928-905B-B824-709E-82CC42DCAFB0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5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F22B03-0F33-EAC4-13B7-F7C0CB173B6F}"/>
              </a:ext>
            </a:extLst>
          </p:cNvPr>
          <p:cNvSpPr/>
          <p:nvPr/>
        </p:nvSpPr>
        <p:spPr>
          <a:xfrm>
            <a:off x="11645822" y="2226052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6CA5AFD-2AE6-267B-B2DA-A2D5390DDB93}"/>
              </a:ext>
            </a:extLst>
          </p:cNvPr>
          <p:cNvSpPr/>
          <p:nvPr/>
        </p:nvSpPr>
        <p:spPr>
          <a:xfrm>
            <a:off x="11645822" y="2226051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5D8CAC0-7271-1A06-8300-0190FC28BE70}"/>
              </a:ext>
            </a:extLst>
          </p:cNvPr>
          <p:cNvSpPr/>
          <p:nvPr/>
        </p:nvSpPr>
        <p:spPr>
          <a:xfrm>
            <a:off x="11624781" y="3646916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مقدمه کلی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بیان مسئله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اهداف پژوهش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A9A1396-2246-487F-D727-BB020A0154D3}"/>
              </a:ext>
            </a:extLst>
          </p:cNvPr>
          <p:cNvSpPr/>
          <p:nvPr/>
        </p:nvSpPr>
        <p:spPr>
          <a:xfrm>
            <a:off x="11622790" y="2825865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188FAA5-94D4-D5DA-1DC4-7E5A67456CBC}"/>
              </a:ext>
            </a:extLst>
          </p:cNvPr>
          <p:cNvSpPr/>
          <p:nvPr/>
        </p:nvSpPr>
        <p:spPr>
          <a:xfrm>
            <a:off x="1714501" y="1523047"/>
            <a:ext cx="9458246" cy="4592478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A5851D3-46A0-CA51-0E78-E7E05196AF40}"/>
              </a:ext>
            </a:extLst>
          </p:cNvPr>
          <p:cNvSpPr/>
          <p:nvPr/>
        </p:nvSpPr>
        <p:spPr>
          <a:xfrm>
            <a:off x="8553372" y="222605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2608991-531A-BBA1-7F30-F9F637AE4222}"/>
              </a:ext>
            </a:extLst>
          </p:cNvPr>
          <p:cNvSpPr/>
          <p:nvPr/>
        </p:nvSpPr>
        <p:spPr>
          <a:xfrm>
            <a:off x="-1240319" y="2295022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DE567FE-4EA9-0132-DB13-D351ED56CA43}"/>
              </a:ext>
            </a:extLst>
          </p:cNvPr>
          <p:cNvSpPr/>
          <p:nvPr/>
        </p:nvSpPr>
        <p:spPr>
          <a:xfrm>
            <a:off x="-1240319" y="2295021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0950D29-35C8-1223-E804-7B0F92ACE2CD}"/>
              </a:ext>
            </a:extLst>
          </p:cNvPr>
          <p:cNvSpPr/>
          <p:nvPr/>
        </p:nvSpPr>
        <p:spPr>
          <a:xfrm>
            <a:off x="-1261360" y="3715886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PlantDoc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990B121-CFA5-0647-E9C5-545AB757D56E}"/>
              </a:ext>
            </a:extLst>
          </p:cNvPr>
          <p:cNvSpPr/>
          <p:nvPr/>
        </p:nvSpPr>
        <p:spPr>
          <a:xfrm>
            <a:off x="-1263351" y="2894835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E1BC0E7-C02E-D94F-9396-2AAADE398165}"/>
              </a:ext>
            </a:extLst>
          </p:cNvPr>
          <p:cNvSpPr/>
          <p:nvPr/>
        </p:nvSpPr>
        <p:spPr>
          <a:xfrm>
            <a:off x="-4042660" y="2295021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ACDB1F2-CCC2-19EA-404F-D053B2A6A9EE}"/>
              </a:ext>
            </a:extLst>
          </p:cNvPr>
          <p:cNvSpPr/>
          <p:nvPr/>
        </p:nvSpPr>
        <p:spPr>
          <a:xfrm>
            <a:off x="-4042660" y="229502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EC3661A-3680-2F58-6C7F-ED6D6ABD1B30}"/>
              </a:ext>
            </a:extLst>
          </p:cNvPr>
          <p:cNvSpPr/>
          <p:nvPr/>
        </p:nvSpPr>
        <p:spPr>
          <a:xfrm>
            <a:off x="-4063701" y="3715885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تفاوت داده آزمایشگاهی و واقعی</a:t>
            </a: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A70E37B-E143-30BF-E707-A54BEFC6A2C5}"/>
              </a:ext>
            </a:extLst>
          </p:cNvPr>
          <p:cNvSpPr/>
          <p:nvPr/>
        </p:nvSpPr>
        <p:spPr>
          <a:xfrm>
            <a:off x="-4065692" y="2894834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4.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E96D34-E684-3C30-B9CB-6C0C7C55326A}"/>
              </a:ext>
            </a:extLst>
          </p:cNvPr>
          <p:cNvSpPr/>
          <p:nvPr/>
        </p:nvSpPr>
        <p:spPr>
          <a:xfrm>
            <a:off x="9496405" y="2517016"/>
            <a:ext cx="172897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1400" b="1" dirty="0" err="1">
                <a:cs typeface="2  Bardiya" panose="00000400000000000000" pitchFamily="2" charset="-78"/>
              </a:rPr>
              <a:t>PlantVillage</a:t>
            </a:r>
            <a:endParaRPr lang="fa-IR" sz="14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67367B-6D19-4838-4D72-21F50EEF96F6}"/>
              </a:ext>
            </a:extLst>
          </p:cNvPr>
          <p:cNvSpPr/>
          <p:nvPr/>
        </p:nvSpPr>
        <p:spPr>
          <a:xfrm>
            <a:off x="9953370" y="2001485"/>
            <a:ext cx="790555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8257CA-4E16-2B2D-44AE-76FAA1796990}"/>
              </a:ext>
            </a:extLst>
          </p:cNvPr>
          <p:cNvSpPr/>
          <p:nvPr/>
        </p:nvSpPr>
        <p:spPr>
          <a:xfrm>
            <a:off x="4619136" y="1916398"/>
            <a:ext cx="4637493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3200" b="1" dirty="0">
                <a:cs typeface="2  Bardiya" panose="00000400000000000000" pitchFamily="2" charset="-78"/>
              </a:rPr>
              <a:t>معرفی دیتاست </a:t>
            </a:r>
            <a:r>
              <a:rPr lang="en-US" sz="3200" b="1" dirty="0" err="1">
                <a:cs typeface="2  Bardiya" panose="00000400000000000000" pitchFamily="2" charset="-78"/>
              </a:rPr>
              <a:t>PlantVillage</a:t>
            </a:r>
            <a:r>
              <a:rPr lang="fa-IR" sz="3200" b="1" dirty="0">
                <a:cs typeface="2  Bardiya" panose="00000400000000000000" pitchFamily="2" charset="-78"/>
              </a:rPr>
              <a:t>: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63574D-7929-477F-3CA5-39D2BA3A2246}"/>
              </a:ext>
            </a:extLst>
          </p:cNvPr>
          <p:cNvCxnSpPr/>
          <p:nvPr/>
        </p:nvCxnSpPr>
        <p:spPr>
          <a:xfrm>
            <a:off x="9684941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52D27F50-F63F-8B6A-5246-3032AFCC4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838" y="2532681"/>
            <a:ext cx="4355487" cy="3176100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B52DA6B-67A6-2F6C-D060-A484744725F1}"/>
              </a:ext>
            </a:extLst>
          </p:cNvPr>
          <p:cNvSpPr/>
          <p:nvPr/>
        </p:nvSpPr>
        <p:spPr>
          <a:xfrm>
            <a:off x="6938129" y="2340554"/>
            <a:ext cx="1922090" cy="871943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نمونه تصاویر</a:t>
            </a:r>
          </a:p>
        </p:txBody>
      </p:sp>
    </p:spTree>
    <p:extLst>
      <p:ext uri="{BB962C8B-B14F-4D97-AF65-F5344CB8AC3E}">
        <p14:creationId xmlns:p14="http://schemas.microsoft.com/office/powerpoint/2010/main" val="1115070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CBC1D-3CD1-1677-3A2D-EBFFFE582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499372-AAEE-4F3D-280B-D5F3BEB71DAA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123A27E-AC6F-6981-185A-B5814B80EA50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AB1AB82-C34C-D2BD-0686-9767404976CC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EAB2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09748BD-022C-F701-34E4-365E893D3895}"/>
              </a:ext>
            </a:extLst>
          </p:cNvPr>
          <p:cNvSpPr/>
          <p:nvPr/>
        </p:nvSpPr>
        <p:spPr>
          <a:xfrm>
            <a:off x="7900714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348D47-A138-998E-48E1-1B168934872A}"/>
              </a:ext>
            </a:extLst>
          </p:cNvPr>
          <p:cNvSpPr/>
          <p:nvPr/>
        </p:nvSpPr>
        <p:spPr>
          <a:xfrm>
            <a:off x="10234730" y="264316"/>
            <a:ext cx="1595321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3A4C4BC-1E32-F4FB-3A32-52416CF761D0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5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3718A53-33D8-8A36-1D4A-65FE3359F020}"/>
              </a:ext>
            </a:extLst>
          </p:cNvPr>
          <p:cNvSpPr/>
          <p:nvPr/>
        </p:nvSpPr>
        <p:spPr>
          <a:xfrm>
            <a:off x="10887075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BF7EEAD-85CE-D382-564A-F11F1700BC0E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753A236-1F0C-F018-169D-8ADF8780D3BB}"/>
              </a:ext>
            </a:extLst>
          </p:cNvPr>
          <p:cNvSpPr/>
          <p:nvPr/>
        </p:nvSpPr>
        <p:spPr>
          <a:xfrm>
            <a:off x="7900714" y="264315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E5A9832-0E7C-D7E7-A6D9-0D9B9383ED06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4F9B66F-0DC0-6DB9-D455-AD504A3B4C9B}"/>
              </a:ext>
            </a:extLst>
          </p:cNvPr>
          <p:cNvSpPr/>
          <p:nvPr/>
        </p:nvSpPr>
        <p:spPr>
          <a:xfrm>
            <a:off x="10234730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مقدمه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DDAE5F-964E-D48C-6F15-23B37B85DDAE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F7F52C6-1CD8-89A2-A01C-FDC6AFA202FF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BA165DA-777D-CD67-49B6-85721DEA8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DCAE3F1-541E-7C1F-9152-45EC51EFFE34}"/>
              </a:ext>
            </a:extLst>
          </p:cNvPr>
          <p:cNvSpPr/>
          <p:nvPr/>
        </p:nvSpPr>
        <p:spPr>
          <a:xfrm>
            <a:off x="9067722" y="2163925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0A58870-CA2D-D9CB-12D8-E68325F11814}"/>
              </a:ext>
            </a:extLst>
          </p:cNvPr>
          <p:cNvSpPr/>
          <p:nvPr/>
        </p:nvSpPr>
        <p:spPr>
          <a:xfrm>
            <a:off x="9067722" y="216392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33CC71-6016-375A-C22B-2BFB61239427}"/>
              </a:ext>
            </a:extLst>
          </p:cNvPr>
          <p:cNvSpPr/>
          <p:nvPr/>
        </p:nvSpPr>
        <p:spPr>
          <a:xfrm>
            <a:off x="9046681" y="358478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مقدمه کلی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بیان مسئله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اهداف پژوهش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A1E8BF-7FC8-F1BF-2040-13BAF263A2A0}"/>
              </a:ext>
            </a:extLst>
          </p:cNvPr>
          <p:cNvSpPr/>
          <p:nvPr/>
        </p:nvSpPr>
        <p:spPr>
          <a:xfrm>
            <a:off x="9044690" y="276373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2CDCFB-336E-0E6F-B14A-A211237FCAD7}"/>
              </a:ext>
            </a:extLst>
          </p:cNvPr>
          <p:cNvSpPr/>
          <p:nvPr/>
        </p:nvSpPr>
        <p:spPr>
          <a:xfrm>
            <a:off x="6267372" y="2163921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F125135-D6B1-D79A-67BB-668986DE842A}"/>
              </a:ext>
            </a:extLst>
          </p:cNvPr>
          <p:cNvSpPr/>
          <p:nvPr/>
        </p:nvSpPr>
        <p:spPr>
          <a:xfrm>
            <a:off x="6267372" y="216392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C260CC2-A55C-EA10-54DC-38E9B544FB37}"/>
              </a:ext>
            </a:extLst>
          </p:cNvPr>
          <p:cNvSpPr/>
          <p:nvPr/>
        </p:nvSpPr>
        <p:spPr>
          <a:xfrm>
            <a:off x="6246331" y="3584785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PlantVillage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3FB94C0-BC43-739C-2FED-0CC674ACF821}"/>
              </a:ext>
            </a:extLst>
          </p:cNvPr>
          <p:cNvSpPr/>
          <p:nvPr/>
        </p:nvSpPr>
        <p:spPr>
          <a:xfrm>
            <a:off x="6244340" y="2763734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5605372-311D-A13C-5CAE-A880FEBE4D6D}"/>
              </a:ext>
            </a:extLst>
          </p:cNvPr>
          <p:cNvSpPr/>
          <p:nvPr/>
        </p:nvSpPr>
        <p:spPr>
          <a:xfrm>
            <a:off x="3488063" y="216392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D5FC8BF-B7B9-97A5-1B8C-BE82C34574C3}"/>
              </a:ext>
            </a:extLst>
          </p:cNvPr>
          <p:cNvSpPr/>
          <p:nvPr/>
        </p:nvSpPr>
        <p:spPr>
          <a:xfrm>
            <a:off x="3488063" y="21639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3B7190E-A26E-1438-5701-7B75EC3ECFDF}"/>
              </a:ext>
            </a:extLst>
          </p:cNvPr>
          <p:cNvSpPr/>
          <p:nvPr/>
        </p:nvSpPr>
        <p:spPr>
          <a:xfrm>
            <a:off x="3467022" y="358478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PlantDoc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021B71B-BE36-E190-F4CF-5132550E30C1}"/>
              </a:ext>
            </a:extLst>
          </p:cNvPr>
          <p:cNvSpPr/>
          <p:nvPr/>
        </p:nvSpPr>
        <p:spPr>
          <a:xfrm>
            <a:off x="3465031" y="276373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50FC2B9-A0F6-FB9A-ED69-60871E1C4F37}"/>
              </a:ext>
            </a:extLst>
          </p:cNvPr>
          <p:cNvSpPr/>
          <p:nvPr/>
        </p:nvSpPr>
        <p:spPr>
          <a:xfrm>
            <a:off x="685722" y="21639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54A3F1E-3956-181D-1E7F-41DAC3CE05AD}"/>
              </a:ext>
            </a:extLst>
          </p:cNvPr>
          <p:cNvSpPr/>
          <p:nvPr/>
        </p:nvSpPr>
        <p:spPr>
          <a:xfrm>
            <a:off x="68572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623C4FF-D19E-C570-C104-144553CF2B07}"/>
              </a:ext>
            </a:extLst>
          </p:cNvPr>
          <p:cNvSpPr/>
          <p:nvPr/>
        </p:nvSpPr>
        <p:spPr>
          <a:xfrm>
            <a:off x="664681" y="35847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تفاوت داده آزمایشگاهی و واقعی</a:t>
            </a: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B5C5E79-2A38-EA6B-A298-E29F019BFDD1}"/>
              </a:ext>
            </a:extLst>
          </p:cNvPr>
          <p:cNvSpPr/>
          <p:nvPr/>
        </p:nvSpPr>
        <p:spPr>
          <a:xfrm>
            <a:off x="662690" y="27637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659327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9B499-44E0-306C-25D2-E23B00CA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2226C9-522F-7B10-ADD8-AB772F730A54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465752-9599-3A9A-FF5E-C7399A89DD00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ACF42B-5F9E-7012-53DC-E2CF9C82C98F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EAB2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79658BB-6BB2-5D1A-9982-D2AFA385322D}"/>
              </a:ext>
            </a:extLst>
          </p:cNvPr>
          <p:cNvSpPr/>
          <p:nvPr/>
        </p:nvSpPr>
        <p:spPr>
          <a:xfrm>
            <a:off x="7900714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5FDAE2-EEB2-7238-7234-391C4BCCB5B5}"/>
              </a:ext>
            </a:extLst>
          </p:cNvPr>
          <p:cNvSpPr/>
          <p:nvPr/>
        </p:nvSpPr>
        <p:spPr>
          <a:xfrm>
            <a:off x="10234730" y="264316"/>
            <a:ext cx="1595321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9205FB-E564-A426-3A3F-5AE47097EFFE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۶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CEDECA5-6021-BA53-486B-FDD9E8B228B4}"/>
              </a:ext>
            </a:extLst>
          </p:cNvPr>
          <p:cNvSpPr/>
          <p:nvPr/>
        </p:nvSpPr>
        <p:spPr>
          <a:xfrm>
            <a:off x="10887075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5D404F7-8B91-0730-3915-E4F12AB36DDF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99B21C9-253A-FD9F-7CFA-452975A8EDA7}"/>
              </a:ext>
            </a:extLst>
          </p:cNvPr>
          <p:cNvSpPr/>
          <p:nvPr/>
        </p:nvSpPr>
        <p:spPr>
          <a:xfrm>
            <a:off x="7900714" y="264315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5ED9015-C8C7-DCB7-A57F-DDDB9933A922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482740-88ED-9DF6-4F1F-C7755396DB95}"/>
              </a:ext>
            </a:extLst>
          </p:cNvPr>
          <p:cNvSpPr/>
          <p:nvPr/>
        </p:nvSpPr>
        <p:spPr>
          <a:xfrm>
            <a:off x="10234730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مقدمه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D84D2A4-38B8-15ED-F5E2-C7B4C69F9EDE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05DD5F3-2602-502F-4617-8E71819D7587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47E2AFF-A45D-02FB-40A2-DCAC5DF23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FACF31-1852-3D81-F989-23377DEA6EF8}"/>
              </a:ext>
            </a:extLst>
          </p:cNvPr>
          <p:cNvSpPr/>
          <p:nvPr/>
        </p:nvSpPr>
        <p:spPr>
          <a:xfrm>
            <a:off x="14441969" y="2163923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6ADAE0-06F8-43A9-FF1B-87F7A9F25B61}"/>
              </a:ext>
            </a:extLst>
          </p:cNvPr>
          <p:cNvSpPr/>
          <p:nvPr/>
        </p:nvSpPr>
        <p:spPr>
          <a:xfrm>
            <a:off x="14441969" y="2163922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705E670-407A-26EB-349C-4C8D45221E39}"/>
              </a:ext>
            </a:extLst>
          </p:cNvPr>
          <p:cNvSpPr/>
          <p:nvPr/>
        </p:nvSpPr>
        <p:spPr>
          <a:xfrm>
            <a:off x="14420928" y="3584787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مقدمه کلی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بیان مسئله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اهداف پژوهش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56D4C66-7542-BE58-CB2F-CBC7B39FBEA7}"/>
              </a:ext>
            </a:extLst>
          </p:cNvPr>
          <p:cNvSpPr/>
          <p:nvPr/>
        </p:nvSpPr>
        <p:spPr>
          <a:xfrm>
            <a:off x="14418937" y="2763736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2CFB6E4-EFA7-EC81-F8EB-A36485F0D28F}"/>
              </a:ext>
            </a:extLst>
          </p:cNvPr>
          <p:cNvSpPr/>
          <p:nvPr/>
        </p:nvSpPr>
        <p:spPr>
          <a:xfrm>
            <a:off x="11641619" y="21639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54C5309-D7B9-1209-66AF-2F851B77B54A}"/>
              </a:ext>
            </a:extLst>
          </p:cNvPr>
          <p:cNvSpPr/>
          <p:nvPr/>
        </p:nvSpPr>
        <p:spPr>
          <a:xfrm>
            <a:off x="11641619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6DB2758-EF7D-20DD-77E4-4A43A7C7C33A}"/>
              </a:ext>
            </a:extLst>
          </p:cNvPr>
          <p:cNvSpPr/>
          <p:nvPr/>
        </p:nvSpPr>
        <p:spPr>
          <a:xfrm>
            <a:off x="11620578" y="35847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PlantVillage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413B4AF-0B33-05CF-8795-22D48DABB967}"/>
              </a:ext>
            </a:extLst>
          </p:cNvPr>
          <p:cNvSpPr/>
          <p:nvPr/>
        </p:nvSpPr>
        <p:spPr>
          <a:xfrm>
            <a:off x="11618587" y="27637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5D0F0F5-E0EE-CC88-679F-D3F2B1C07434}"/>
              </a:ext>
            </a:extLst>
          </p:cNvPr>
          <p:cNvSpPr/>
          <p:nvPr/>
        </p:nvSpPr>
        <p:spPr>
          <a:xfrm>
            <a:off x="1682981" y="1398785"/>
            <a:ext cx="9526705" cy="4716740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F7BF2DA-B29B-3881-8C04-44FD3D12D082}"/>
              </a:ext>
            </a:extLst>
          </p:cNvPr>
          <p:cNvSpPr/>
          <p:nvPr/>
        </p:nvSpPr>
        <p:spPr>
          <a:xfrm>
            <a:off x="3488063" y="21639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C0FC1D6-AF71-8C72-8A1B-9E322B8AA2AA}"/>
              </a:ext>
            </a:extLst>
          </p:cNvPr>
          <p:cNvSpPr/>
          <p:nvPr/>
        </p:nvSpPr>
        <p:spPr>
          <a:xfrm>
            <a:off x="-1270078" y="21639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CEA1955-013C-CBC6-FADF-D9E3589D6078}"/>
              </a:ext>
            </a:extLst>
          </p:cNvPr>
          <p:cNvSpPr/>
          <p:nvPr/>
        </p:nvSpPr>
        <p:spPr>
          <a:xfrm>
            <a:off x="-1270078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ABD28B9-03F0-B54C-8B36-78A66776E94C}"/>
              </a:ext>
            </a:extLst>
          </p:cNvPr>
          <p:cNvSpPr/>
          <p:nvPr/>
        </p:nvSpPr>
        <p:spPr>
          <a:xfrm>
            <a:off x="-1291119" y="35847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تفاوت داده آزمایشگاهی و واقعی</a:t>
            </a: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E479E23-16F0-1B82-45B1-358F11C70C0E}"/>
              </a:ext>
            </a:extLst>
          </p:cNvPr>
          <p:cNvSpPr/>
          <p:nvPr/>
        </p:nvSpPr>
        <p:spPr>
          <a:xfrm>
            <a:off x="-1293110" y="27637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4.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8AC6375-3533-4F00-E119-D492F7AA39B3}"/>
              </a:ext>
            </a:extLst>
          </p:cNvPr>
          <p:cNvSpPr/>
          <p:nvPr/>
        </p:nvSpPr>
        <p:spPr>
          <a:xfrm>
            <a:off x="9496405" y="2517016"/>
            <a:ext cx="172897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1400" b="1" dirty="0" err="1">
                <a:cs typeface="2  Bardiya" panose="00000400000000000000" pitchFamily="2" charset="-78"/>
              </a:rPr>
              <a:t>PlantDoc</a:t>
            </a:r>
            <a:endParaRPr lang="fa-IR" sz="1400" b="1" dirty="0">
              <a:cs typeface="2  Bardiya" panose="00000400000000000000" pitchFamily="2" charset="-78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1809FFB-809A-A95D-75AF-C69C30927FDB}"/>
              </a:ext>
            </a:extLst>
          </p:cNvPr>
          <p:cNvSpPr/>
          <p:nvPr/>
        </p:nvSpPr>
        <p:spPr>
          <a:xfrm>
            <a:off x="9873479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B8F2FE6-CC83-6051-E862-C0A82E62F8B8}"/>
              </a:ext>
            </a:extLst>
          </p:cNvPr>
          <p:cNvSpPr/>
          <p:nvPr/>
        </p:nvSpPr>
        <p:spPr>
          <a:xfrm>
            <a:off x="5052769" y="1916398"/>
            <a:ext cx="4203860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3200" b="1" dirty="0">
                <a:cs typeface="2  Bardiya" panose="00000400000000000000" pitchFamily="2" charset="-78"/>
              </a:rPr>
              <a:t>معرفی دیتاست </a:t>
            </a:r>
            <a:r>
              <a:rPr lang="en-US" sz="3200" b="1" dirty="0" err="1">
                <a:cs typeface="2  Bardiya" panose="00000400000000000000" pitchFamily="2" charset="-78"/>
              </a:rPr>
              <a:t>PlantDoc</a:t>
            </a:r>
            <a:r>
              <a:rPr lang="fa-IR" sz="3200" b="1" dirty="0">
                <a:cs typeface="2  Bardiya" panose="00000400000000000000" pitchFamily="2" charset="-78"/>
              </a:rPr>
              <a:t>: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40268FB-A1BF-A73C-B8AF-1DD7DCE2EF9C}"/>
              </a:ext>
            </a:extLst>
          </p:cNvPr>
          <p:cNvCxnSpPr/>
          <p:nvPr/>
        </p:nvCxnSpPr>
        <p:spPr>
          <a:xfrm>
            <a:off x="9684941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98A993-38C3-A99C-0B20-93E6A95D0488}"/>
              </a:ext>
            </a:extLst>
          </p:cNvPr>
          <p:cNvSpPr/>
          <p:nvPr/>
        </p:nvSpPr>
        <p:spPr>
          <a:xfrm>
            <a:off x="3277820" y="2277518"/>
            <a:ext cx="5636359" cy="311063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جمع‌آوری‌شده در شرایط واقعی مزرعه</a:t>
            </a:r>
            <a:endParaRPr lang="en-US" sz="1900" dirty="0"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تنوع بالا در نور، زاویه و پس‌زمینه</a:t>
            </a:r>
            <a:endParaRPr lang="en-US" sz="1900" dirty="0"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داده‌ای چالش‌برانگیز برای مدل‌های طبقه‌بندی</a:t>
            </a:r>
            <a:endParaRPr lang="en-US" sz="1900" dirty="0"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شامل ۱۳ محصول سالم و بیمار</a:t>
            </a:r>
            <a:endParaRPr lang="en-US" sz="1900" dirty="0"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ts val="35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ابعاد تصاویر: 416*416 - </a:t>
            </a:r>
            <a:r>
              <a:rPr lang="en-US" sz="1900" dirty="0">
                <a:cs typeface="2  Koodak" panose="00000700000000000000" pitchFamily="2" charset="-78"/>
              </a:rPr>
              <a:t>RGB</a:t>
            </a:r>
          </a:p>
        </p:txBody>
      </p:sp>
    </p:spTree>
    <p:extLst>
      <p:ext uri="{BB962C8B-B14F-4D97-AF65-F5344CB8AC3E}">
        <p14:creationId xmlns:p14="http://schemas.microsoft.com/office/powerpoint/2010/main" val="47877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90871-8F03-455B-926D-F49DE6304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7C2962-477F-E418-914A-538D06FC82CE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C7865F1-8FBD-D6BC-92CB-7D367A7B92BB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07A4E8B-3AEA-4D0F-CF6E-8AA1C21C2CE6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EAB2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6A6043-259C-E007-1AC4-1654E2427F38}"/>
              </a:ext>
            </a:extLst>
          </p:cNvPr>
          <p:cNvSpPr/>
          <p:nvPr/>
        </p:nvSpPr>
        <p:spPr>
          <a:xfrm>
            <a:off x="7900714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15E7AE5-C8C4-6C4C-88D2-B09A89560D56}"/>
              </a:ext>
            </a:extLst>
          </p:cNvPr>
          <p:cNvSpPr/>
          <p:nvPr/>
        </p:nvSpPr>
        <p:spPr>
          <a:xfrm>
            <a:off x="10234730" y="264316"/>
            <a:ext cx="1595321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8A13FBF-1841-D9A9-0F7B-28527753E3F8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۶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AE0D954-9612-F489-6364-94BDB740EBC5}"/>
              </a:ext>
            </a:extLst>
          </p:cNvPr>
          <p:cNvSpPr/>
          <p:nvPr/>
        </p:nvSpPr>
        <p:spPr>
          <a:xfrm>
            <a:off x="10887075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DE26C8-2C73-6DBC-8CC7-75997A5A5A08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D7AF35E-6561-5615-8534-1F3463066912}"/>
              </a:ext>
            </a:extLst>
          </p:cNvPr>
          <p:cNvSpPr/>
          <p:nvPr/>
        </p:nvSpPr>
        <p:spPr>
          <a:xfrm>
            <a:off x="7900714" y="264315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386B268-AEB1-0023-6B90-772ED48BEFCA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BEB8C6-8ECF-F539-8213-28A77506B80A}"/>
              </a:ext>
            </a:extLst>
          </p:cNvPr>
          <p:cNvSpPr/>
          <p:nvPr/>
        </p:nvSpPr>
        <p:spPr>
          <a:xfrm>
            <a:off x="10234730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مقدمه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54C53C-D113-8623-22C7-414E7E9F6286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428BBDF-3320-91AF-523C-120F5C551D62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3DF002A-AA2D-3DAB-B400-B286F35F6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6B1B9E-5C77-2684-67FB-F04113E9EA69}"/>
              </a:ext>
            </a:extLst>
          </p:cNvPr>
          <p:cNvSpPr/>
          <p:nvPr/>
        </p:nvSpPr>
        <p:spPr>
          <a:xfrm>
            <a:off x="14441969" y="2163923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095A77F-CD97-4493-F7F4-C595C0F6DDD1}"/>
              </a:ext>
            </a:extLst>
          </p:cNvPr>
          <p:cNvSpPr/>
          <p:nvPr/>
        </p:nvSpPr>
        <p:spPr>
          <a:xfrm>
            <a:off x="14441969" y="2163922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A4685F0-63CC-B369-37C4-A2C607BA3B5A}"/>
              </a:ext>
            </a:extLst>
          </p:cNvPr>
          <p:cNvSpPr/>
          <p:nvPr/>
        </p:nvSpPr>
        <p:spPr>
          <a:xfrm>
            <a:off x="14420928" y="3584787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مقدمه کلی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بیان مسئله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اهداف پژوهش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382FDD2-44E6-21B2-C62B-D5D369C9E6BF}"/>
              </a:ext>
            </a:extLst>
          </p:cNvPr>
          <p:cNvSpPr/>
          <p:nvPr/>
        </p:nvSpPr>
        <p:spPr>
          <a:xfrm>
            <a:off x="14418937" y="2763736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91D597-524A-FE1E-5E4E-784E298274A2}"/>
              </a:ext>
            </a:extLst>
          </p:cNvPr>
          <p:cNvSpPr/>
          <p:nvPr/>
        </p:nvSpPr>
        <p:spPr>
          <a:xfrm>
            <a:off x="11641619" y="21639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6EA6669-9354-C452-4ED0-A291B2AD0251}"/>
              </a:ext>
            </a:extLst>
          </p:cNvPr>
          <p:cNvSpPr/>
          <p:nvPr/>
        </p:nvSpPr>
        <p:spPr>
          <a:xfrm>
            <a:off x="11641619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5944E6B-5871-9488-77C2-D075EED1A60E}"/>
              </a:ext>
            </a:extLst>
          </p:cNvPr>
          <p:cNvSpPr/>
          <p:nvPr/>
        </p:nvSpPr>
        <p:spPr>
          <a:xfrm>
            <a:off x="11620578" y="35847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PlantVillage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23B00A3-76F6-527E-5797-B9CB6A08E76C}"/>
              </a:ext>
            </a:extLst>
          </p:cNvPr>
          <p:cNvSpPr/>
          <p:nvPr/>
        </p:nvSpPr>
        <p:spPr>
          <a:xfrm>
            <a:off x="11618587" y="27637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6DB1F92-8785-EB72-F052-0136A1088C9A}"/>
              </a:ext>
            </a:extLst>
          </p:cNvPr>
          <p:cNvSpPr/>
          <p:nvPr/>
        </p:nvSpPr>
        <p:spPr>
          <a:xfrm>
            <a:off x="1682981" y="1398785"/>
            <a:ext cx="9526705" cy="4716740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BFAA6E3-D923-BBCF-061F-CDC8EF5A8231}"/>
              </a:ext>
            </a:extLst>
          </p:cNvPr>
          <p:cNvSpPr/>
          <p:nvPr/>
        </p:nvSpPr>
        <p:spPr>
          <a:xfrm>
            <a:off x="3488063" y="21639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71F06F7-D6F7-282B-20FD-E6164EE69D9D}"/>
              </a:ext>
            </a:extLst>
          </p:cNvPr>
          <p:cNvSpPr/>
          <p:nvPr/>
        </p:nvSpPr>
        <p:spPr>
          <a:xfrm>
            <a:off x="-1270078" y="21639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9198348-5D1B-7918-1A33-2E47CB4337CB}"/>
              </a:ext>
            </a:extLst>
          </p:cNvPr>
          <p:cNvSpPr/>
          <p:nvPr/>
        </p:nvSpPr>
        <p:spPr>
          <a:xfrm>
            <a:off x="-1270078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5491459-4D78-37B1-6FC0-A387E86C49A3}"/>
              </a:ext>
            </a:extLst>
          </p:cNvPr>
          <p:cNvSpPr/>
          <p:nvPr/>
        </p:nvSpPr>
        <p:spPr>
          <a:xfrm>
            <a:off x="-1291119" y="35847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تفاوت داده آزمایشگاهی و واقعی</a:t>
            </a: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A81C4B0-7DB9-8BB5-B756-D892E8C0A6D2}"/>
              </a:ext>
            </a:extLst>
          </p:cNvPr>
          <p:cNvSpPr/>
          <p:nvPr/>
        </p:nvSpPr>
        <p:spPr>
          <a:xfrm>
            <a:off x="-1293110" y="27637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4.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483EE73-D8AD-2332-FB8E-1A504B002526}"/>
              </a:ext>
            </a:extLst>
          </p:cNvPr>
          <p:cNvSpPr/>
          <p:nvPr/>
        </p:nvSpPr>
        <p:spPr>
          <a:xfrm>
            <a:off x="9496405" y="2517016"/>
            <a:ext cx="172897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1400" b="1" dirty="0" err="1">
                <a:cs typeface="2  Bardiya" panose="00000400000000000000" pitchFamily="2" charset="-78"/>
              </a:rPr>
              <a:t>PlantDoc</a:t>
            </a:r>
            <a:endParaRPr lang="fa-IR" sz="1400" b="1" dirty="0">
              <a:cs typeface="2  Bardiya" panose="00000400000000000000" pitchFamily="2" charset="-78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4AF6D2AA-B4A3-780B-B486-DF3E1A09C990}"/>
              </a:ext>
            </a:extLst>
          </p:cNvPr>
          <p:cNvSpPr/>
          <p:nvPr/>
        </p:nvSpPr>
        <p:spPr>
          <a:xfrm>
            <a:off x="9873479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05530A0-0415-6F42-493C-E64D8A3474F3}"/>
              </a:ext>
            </a:extLst>
          </p:cNvPr>
          <p:cNvSpPr/>
          <p:nvPr/>
        </p:nvSpPr>
        <p:spPr>
          <a:xfrm>
            <a:off x="5052769" y="1916398"/>
            <a:ext cx="4203860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3200" b="1" dirty="0">
                <a:cs typeface="2  Bardiya" panose="00000400000000000000" pitchFamily="2" charset="-78"/>
              </a:rPr>
              <a:t>معرفی دیتاست </a:t>
            </a:r>
            <a:r>
              <a:rPr lang="en-US" sz="3200" b="1" dirty="0" err="1">
                <a:cs typeface="2  Bardiya" panose="00000400000000000000" pitchFamily="2" charset="-78"/>
              </a:rPr>
              <a:t>PlantDoc</a:t>
            </a:r>
            <a:r>
              <a:rPr lang="fa-IR" sz="3200" b="1" dirty="0">
                <a:cs typeface="2  Bardiya" panose="00000400000000000000" pitchFamily="2" charset="-78"/>
              </a:rPr>
              <a:t>: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85010C4-F029-6AE2-AD56-CE7B09453C08}"/>
              </a:ext>
            </a:extLst>
          </p:cNvPr>
          <p:cNvCxnSpPr/>
          <p:nvPr/>
        </p:nvCxnSpPr>
        <p:spPr>
          <a:xfrm>
            <a:off x="9684941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0401478-E280-C896-54D5-03AEF76BB7CB}"/>
              </a:ext>
            </a:extLst>
          </p:cNvPr>
          <p:cNvSpPr/>
          <p:nvPr/>
        </p:nvSpPr>
        <p:spPr>
          <a:xfrm>
            <a:off x="7258639" y="2519667"/>
            <a:ext cx="1601580" cy="56856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نمونه تصاویر</a:t>
            </a:r>
            <a:endParaRPr lang="en-US" sz="1900" dirty="0">
              <a:cs typeface="2  Koodak" panose="00000700000000000000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B9693F-70DE-692D-EB9B-EC78939067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062" y="2466125"/>
            <a:ext cx="4590340" cy="343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051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88E95-AD35-BEB8-B767-1C47BC9FE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5D2CAF-E94A-FD87-0886-1DD3D38E90C7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71892B-C56A-2780-30AD-5F8EDE124C16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EBD652-917E-B756-0058-2A5B1D660F89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EAB2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A0843B-7E93-48A0-2EB3-FCA2EBE61560}"/>
              </a:ext>
            </a:extLst>
          </p:cNvPr>
          <p:cNvSpPr/>
          <p:nvPr/>
        </p:nvSpPr>
        <p:spPr>
          <a:xfrm>
            <a:off x="7900714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120F374-880E-FF54-0553-F17A1729934F}"/>
              </a:ext>
            </a:extLst>
          </p:cNvPr>
          <p:cNvSpPr/>
          <p:nvPr/>
        </p:nvSpPr>
        <p:spPr>
          <a:xfrm>
            <a:off x="10234730" y="264316"/>
            <a:ext cx="1595321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20368C2-D2E5-9367-77AE-878E985BC7BF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6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0ACA13B-6DE7-949C-58EC-44E2030A6BBF}"/>
              </a:ext>
            </a:extLst>
          </p:cNvPr>
          <p:cNvSpPr/>
          <p:nvPr/>
        </p:nvSpPr>
        <p:spPr>
          <a:xfrm>
            <a:off x="10887075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D63B843-7119-0E67-4847-9368661313E5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5A3DA42-BA29-D1CE-599E-B27444DC7B2B}"/>
              </a:ext>
            </a:extLst>
          </p:cNvPr>
          <p:cNvSpPr/>
          <p:nvPr/>
        </p:nvSpPr>
        <p:spPr>
          <a:xfrm>
            <a:off x="7900714" y="264315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E2FD6F6-69E2-662E-DE5C-C07CBCEDF0A2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C12090-B7AC-83B2-3FC2-C0E0E95F44A6}"/>
              </a:ext>
            </a:extLst>
          </p:cNvPr>
          <p:cNvSpPr/>
          <p:nvPr/>
        </p:nvSpPr>
        <p:spPr>
          <a:xfrm>
            <a:off x="10234730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مقدمه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913EF6-AA0C-F456-2CF2-6EACDE00D657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C53FA77-45B3-368C-58F8-B9C6D5B095C5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2225E1D-CDEF-8833-BC95-A7598D04C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115BC6F-05DE-C981-7C73-DEA77FE67CA8}"/>
              </a:ext>
            </a:extLst>
          </p:cNvPr>
          <p:cNvSpPr/>
          <p:nvPr/>
        </p:nvSpPr>
        <p:spPr>
          <a:xfrm>
            <a:off x="9067722" y="2163925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8025528-6259-EB06-756E-1989D6705E88}"/>
              </a:ext>
            </a:extLst>
          </p:cNvPr>
          <p:cNvSpPr/>
          <p:nvPr/>
        </p:nvSpPr>
        <p:spPr>
          <a:xfrm>
            <a:off x="9067722" y="216392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14B056-FFA9-9867-4036-B3041B9AC2FA}"/>
              </a:ext>
            </a:extLst>
          </p:cNvPr>
          <p:cNvSpPr/>
          <p:nvPr/>
        </p:nvSpPr>
        <p:spPr>
          <a:xfrm>
            <a:off x="9046681" y="358478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مقدمه کلی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بیان مسئله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اهداف پژوهش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843994-2988-FAED-2F51-D507685CA1C1}"/>
              </a:ext>
            </a:extLst>
          </p:cNvPr>
          <p:cNvSpPr/>
          <p:nvPr/>
        </p:nvSpPr>
        <p:spPr>
          <a:xfrm>
            <a:off x="9044690" y="276373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3DC0FF9-CAE5-B188-1F1F-1DA3D0C56568}"/>
              </a:ext>
            </a:extLst>
          </p:cNvPr>
          <p:cNvSpPr/>
          <p:nvPr/>
        </p:nvSpPr>
        <p:spPr>
          <a:xfrm>
            <a:off x="6267372" y="2163921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ABC0C1E-A787-2A1D-1B3C-2BE78FB1BF6D}"/>
              </a:ext>
            </a:extLst>
          </p:cNvPr>
          <p:cNvSpPr/>
          <p:nvPr/>
        </p:nvSpPr>
        <p:spPr>
          <a:xfrm>
            <a:off x="6267372" y="216392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67F9712-DB61-440D-94E7-0CBECA82FDBC}"/>
              </a:ext>
            </a:extLst>
          </p:cNvPr>
          <p:cNvSpPr/>
          <p:nvPr/>
        </p:nvSpPr>
        <p:spPr>
          <a:xfrm>
            <a:off x="6246331" y="3584785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PlantVillage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7F4FDF1-C382-0E32-5863-5ED890F0563C}"/>
              </a:ext>
            </a:extLst>
          </p:cNvPr>
          <p:cNvSpPr/>
          <p:nvPr/>
        </p:nvSpPr>
        <p:spPr>
          <a:xfrm>
            <a:off x="6244340" y="2763734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AA96C6C-7A0B-9F81-CB48-3FADF9D12D31}"/>
              </a:ext>
            </a:extLst>
          </p:cNvPr>
          <p:cNvSpPr/>
          <p:nvPr/>
        </p:nvSpPr>
        <p:spPr>
          <a:xfrm>
            <a:off x="3488063" y="216392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36B5631-246B-5815-94AC-4121863643EC}"/>
              </a:ext>
            </a:extLst>
          </p:cNvPr>
          <p:cNvSpPr/>
          <p:nvPr/>
        </p:nvSpPr>
        <p:spPr>
          <a:xfrm>
            <a:off x="3488063" y="21639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79B316A-7433-F075-C2C0-D591C4FB2DEB}"/>
              </a:ext>
            </a:extLst>
          </p:cNvPr>
          <p:cNvSpPr/>
          <p:nvPr/>
        </p:nvSpPr>
        <p:spPr>
          <a:xfrm>
            <a:off x="3467022" y="358478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PlantDoc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A6ABD3F-BD2C-F40F-9209-5D2747577404}"/>
              </a:ext>
            </a:extLst>
          </p:cNvPr>
          <p:cNvSpPr/>
          <p:nvPr/>
        </p:nvSpPr>
        <p:spPr>
          <a:xfrm>
            <a:off x="3465031" y="276373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833B9B6-39F2-71A2-B94A-7C6D787706B2}"/>
              </a:ext>
            </a:extLst>
          </p:cNvPr>
          <p:cNvSpPr/>
          <p:nvPr/>
        </p:nvSpPr>
        <p:spPr>
          <a:xfrm>
            <a:off x="685722" y="21639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A83B2A1-7225-2492-EDE1-F1ED4EA1F16D}"/>
              </a:ext>
            </a:extLst>
          </p:cNvPr>
          <p:cNvSpPr/>
          <p:nvPr/>
        </p:nvSpPr>
        <p:spPr>
          <a:xfrm>
            <a:off x="68572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B2D596B-6079-3A2F-A648-81532A488FC0}"/>
              </a:ext>
            </a:extLst>
          </p:cNvPr>
          <p:cNvSpPr/>
          <p:nvPr/>
        </p:nvSpPr>
        <p:spPr>
          <a:xfrm>
            <a:off x="664681" y="35847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تفاوت داده آزمایشگاهی و واقعی</a:t>
            </a: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6F27A4A-1723-2208-3644-607F375DB319}"/>
              </a:ext>
            </a:extLst>
          </p:cNvPr>
          <p:cNvSpPr/>
          <p:nvPr/>
        </p:nvSpPr>
        <p:spPr>
          <a:xfrm>
            <a:off x="662690" y="27637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588152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79351-266E-DBA6-C4B1-409DDF8EF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64DFC8F-DF61-E837-28E1-91E5893A654F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F76241-618C-C310-9321-E8DA4FAAEAC2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CC302F-16BE-4164-3BBD-57C5A084EB00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EAB2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9FC22C-BC04-C34C-062B-4F90137244D0}"/>
              </a:ext>
            </a:extLst>
          </p:cNvPr>
          <p:cNvSpPr/>
          <p:nvPr/>
        </p:nvSpPr>
        <p:spPr>
          <a:xfrm>
            <a:off x="7900714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562BAD2-ECA4-2B61-5D1A-77F6D355C595}"/>
              </a:ext>
            </a:extLst>
          </p:cNvPr>
          <p:cNvSpPr/>
          <p:nvPr/>
        </p:nvSpPr>
        <p:spPr>
          <a:xfrm>
            <a:off x="10234730" y="264316"/>
            <a:ext cx="1595321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784B4E3-DE37-0EDB-40EF-9153C9A57FC6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7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16F62A2-1331-BD9E-AF74-BE0491D63FE2}"/>
              </a:ext>
            </a:extLst>
          </p:cNvPr>
          <p:cNvSpPr/>
          <p:nvPr/>
        </p:nvSpPr>
        <p:spPr>
          <a:xfrm>
            <a:off x="10887075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F2A1171-6AC2-8160-5370-0A20341624EF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90EDB96-A84A-E254-0BCA-4AD2E20C4623}"/>
              </a:ext>
            </a:extLst>
          </p:cNvPr>
          <p:cNvSpPr/>
          <p:nvPr/>
        </p:nvSpPr>
        <p:spPr>
          <a:xfrm>
            <a:off x="7900714" y="264315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3A4B1F-4255-CC0B-5E7F-18E2FAF1F0C1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5F19BC-EA52-7489-524F-572ABE6B1DD5}"/>
              </a:ext>
            </a:extLst>
          </p:cNvPr>
          <p:cNvSpPr/>
          <p:nvPr/>
        </p:nvSpPr>
        <p:spPr>
          <a:xfrm>
            <a:off x="10234730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مقدمه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58E1C2-0D36-A097-3DD6-89848DB660DD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A9067FC-B8CD-83EC-CDD4-59BF6B190310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742D1FD-65AF-740C-FAEF-A24627CE5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6D74577-8368-EAF3-199C-602248180DB5}"/>
              </a:ext>
            </a:extLst>
          </p:cNvPr>
          <p:cNvSpPr/>
          <p:nvPr/>
        </p:nvSpPr>
        <p:spPr>
          <a:xfrm>
            <a:off x="17174837" y="216391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2CC130C-DC79-6C47-D741-F4A18526029D}"/>
              </a:ext>
            </a:extLst>
          </p:cNvPr>
          <p:cNvSpPr/>
          <p:nvPr/>
        </p:nvSpPr>
        <p:spPr>
          <a:xfrm>
            <a:off x="17174837" y="216391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9D35DE9-C082-F36F-287C-4E737EA6D6C8}"/>
              </a:ext>
            </a:extLst>
          </p:cNvPr>
          <p:cNvSpPr/>
          <p:nvPr/>
        </p:nvSpPr>
        <p:spPr>
          <a:xfrm>
            <a:off x="17153796" y="3584782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مقدمه کلی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بیان مسئله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اهداف پژوهش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6629A12-CDA7-0BD1-AD74-D9BEF5A7BF6E}"/>
              </a:ext>
            </a:extLst>
          </p:cNvPr>
          <p:cNvSpPr/>
          <p:nvPr/>
        </p:nvSpPr>
        <p:spPr>
          <a:xfrm>
            <a:off x="17151805" y="276373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23BC3F0-E812-3BCF-8663-7215AAAF24C5}"/>
              </a:ext>
            </a:extLst>
          </p:cNvPr>
          <p:cNvSpPr/>
          <p:nvPr/>
        </p:nvSpPr>
        <p:spPr>
          <a:xfrm>
            <a:off x="14374487" y="216391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CEC851E-24A6-FE66-3CA0-E95E4774D851}"/>
              </a:ext>
            </a:extLst>
          </p:cNvPr>
          <p:cNvSpPr/>
          <p:nvPr/>
        </p:nvSpPr>
        <p:spPr>
          <a:xfrm>
            <a:off x="14374487" y="216391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BA130E3-9F48-75BC-1282-7B6D15584E39}"/>
              </a:ext>
            </a:extLst>
          </p:cNvPr>
          <p:cNvSpPr/>
          <p:nvPr/>
        </p:nvSpPr>
        <p:spPr>
          <a:xfrm>
            <a:off x="14353446" y="3584778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PlantVillage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AA643B5-EACC-9D19-B092-4CEFA6FD4B3F}"/>
              </a:ext>
            </a:extLst>
          </p:cNvPr>
          <p:cNvSpPr/>
          <p:nvPr/>
        </p:nvSpPr>
        <p:spPr>
          <a:xfrm>
            <a:off x="14351455" y="276372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25D7776-232A-262E-5E2E-FAE94B7F8AEA}"/>
              </a:ext>
            </a:extLst>
          </p:cNvPr>
          <p:cNvSpPr/>
          <p:nvPr/>
        </p:nvSpPr>
        <p:spPr>
          <a:xfrm>
            <a:off x="11595178" y="2163913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BFD06DE-391D-F366-CEF2-8E152D752F16}"/>
              </a:ext>
            </a:extLst>
          </p:cNvPr>
          <p:cNvSpPr/>
          <p:nvPr/>
        </p:nvSpPr>
        <p:spPr>
          <a:xfrm>
            <a:off x="11595178" y="2163912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B95680F-0A28-9EB3-0FAB-C2AFE3BCF73A}"/>
              </a:ext>
            </a:extLst>
          </p:cNvPr>
          <p:cNvSpPr/>
          <p:nvPr/>
        </p:nvSpPr>
        <p:spPr>
          <a:xfrm>
            <a:off x="11574137" y="3584777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PlantDoc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BD96CF1-DFE0-9939-3AB2-17566AAE0BE9}"/>
              </a:ext>
            </a:extLst>
          </p:cNvPr>
          <p:cNvSpPr/>
          <p:nvPr/>
        </p:nvSpPr>
        <p:spPr>
          <a:xfrm>
            <a:off x="11572146" y="2763726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FCEE016-3F5E-54CE-741E-D6DFED5BAE88}"/>
              </a:ext>
            </a:extLst>
          </p:cNvPr>
          <p:cNvSpPr/>
          <p:nvPr/>
        </p:nvSpPr>
        <p:spPr>
          <a:xfrm>
            <a:off x="1854849" y="1490203"/>
            <a:ext cx="9322855" cy="4625321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D7AD46D-D284-9606-4F2F-19E5E2F87CBE}"/>
              </a:ext>
            </a:extLst>
          </p:cNvPr>
          <p:cNvSpPr/>
          <p:nvPr/>
        </p:nvSpPr>
        <p:spPr>
          <a:xfrm>
            <a:off x="1854850" y="2163911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9B87A50-37DE-270D-86E9-55D1500A9DB8}"/>
              </a:ext>
            </a:extLst>
          </p:cNvPr>
          <p:cNvSpPr/>
          <p:nvPr/>
        </p:nvSpPr>
        <p:spPr>
          <a:xfrm>
            <a:off x="9587059" y="2469881"/>
            <a:ext cx="1638319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400" b="1" dirty="0">
                <a:cs typeface="2  Bardiya" panose="00000400000000000000" pitchFamily="2" charset="-78"/>
              </a:rPr>
              <a:t>تفاوت داده آزمایشگاهی و واقعی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0B8B9FF-3A90-3341-6BB3-526309943D2B}"/>
              </a:ext>
            </a:extLst>
          </p:cNvPr>
          <p:cNvSpPr/>
          <p:nvPr/>
        </p:nvSpPr>
        <p:spPr>
          <a:xfrm>
            <a:off x="9873479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4.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0CCE6FB-6CB8-C385-9E42-942BCF14EC8C}"/>
              </a:ext>
            </a:extLst>
          </p:cNvPr>
          <p:cNvSpPr/>
          <p:nvPr/>
        </p:nvSpPr>
        <p:spPr>
          <a:xfrm>
            <a:off x="4655200" y="1916398"/>
            <a:ext cx="4601429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200" b="1" dirty="0">
                <a:cs typeface="2  Bardiya" panose="00000400000000000000" pitchFamily="2" charset="-78"/>
              </a:rPr>
              <a:t>تفاوت داده آزمایشگاهی و واقعی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1770210-0CB1-72A2-C9A9-30313857A83A}"/>
              </a:ext>
            </a:extLst>
          </p:cNvPr>
          <p:cNvCxnSpPr/>
          <p:nvPr/>
        </p:nvCxnSpPr>
        <p:spPr>
          <a:xfrm>
            <a:off x="9684941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912E3737-9E61-DC19-FB61-0C3E356649E7}"/>
              </a:ext>
            </a:extLst>
          </p:cNvPr>
          <p:cNvSpPr/>
          <p:nvPr/>
        </p:nvSpPr>
        <p:spPr>
          <a:xfrm>
            <a:off x="3223860" y="2519667"/>
            <a:ext cx="5636359" cy="311063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شرایط کنترل‌شده در مقابل شرایط واقعی</a:t>
            </a:r>
          </a:p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پس‌زمینه ساده در مقابل پس‌زمینه شلوغ</a:t>
            </a:r>
          </a:p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عملکرد بالای طبقه‌بندی در داده‌های آزمایشگاهی</a:t>
            </a:r>
          </a:p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نیاز به تشخیص ناحیه در داده‌های واقعی</a:t>
            </a:r>
          </a:p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dirty="0">
                <a:cs typeface="2  Koodak" panose="00000700000000000000" pitchFamily="2" charset="-78"/>
              </a:rPr>
              <a:t>انگیزه استفاده از ساختار دو‌مرحله‌ای</a:t>
            </a:r>
          </a:p>
        </p:txBody>
      </p:sp>
    </p:spTree>
    <p:extLst>
      <p:ext uri="{BB962C8B-B14F-4D97-AF65-F5344CB8AC3E}">
        <p14:creationId xmlns:p14="http://schemas.microsoft.com/office/powerpoint/2010/main" val="2406823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FDED2-1A5D-820D-9485-FA45B3A2F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9E09E3-DA35-A560-AD62-A81529B2FBF6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41415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66F9F2-0B77-FB84-1816-F8B113050443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5D8945-5C54-6328-F47D-358AA8519CEC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EAB2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F9F125-8152-681B-B9E9-00E54EF2F0CF}"/>
              </a:ext>
            </a:extLst>
          </p:cNvPr>
          <p:cNvSpPr/>
          <p:nvPr/>
        </p:nvSpPr>
        <p:spPr>
          <a:xfrm>
            <a:off x="7900714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73056FC-1E60-062A-AFFF-80EE3BC70813}"/>
              </a:ext>
            </a:extLst>
          </p:cNvPr>
          <p:cNvSpPr/>
          <p:nvPr/>
        </p:nvSpPr>
        <p:spPr>
          <a:xfrm>
            <a:off x="10234730" y="264316"/>
            <a:ext cx="1595321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5FDDEE8-4853-7AE7-40A3-49730FCB54A0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7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4A199EC-B01E-9933-5A8D-6BDF29731398}"/>
              </a:ext>
            </a:extLst>
          </p:cNvPr>
          <p:cNvSpPr/>
          <p:nvPr/>
        </p:nvSpPr>
        <p:spPr>
          <a:xfrm>
            <a:off x="10887075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6100E8F-0711-5F74-6A97-6C71A8D62ED4}"/>
              </a:ext>
            </a:extLst>
          </p:cNvPr>
          <p:cNvSpPr/>
          <p:nvPr/>
        </p:nvSpPr>
        <p:spPr>
          <a:xfrm>
            <a:off x="9067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46C87E6-6E0F-48AB-A68A-0CE49AEBDDBC}"/>
              </a:ext>
            </a:extLst>
          </p:cNvPr>
          <p:cNvSpPr/>
          <p:nvPr/>
        </p:nvSpPr>
        <p:spPr>
          <a:xfrm>
            <a:off x="7900714" y="264315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CF76382-7FD1-DFC2-80CD-8B8F8EC45DEA}"/>
              </a:ext>
            </a:extLst>
          </p:cNvPr>
          <p:cNvSpPr/>
          <p:nvPr/>
        </p:nvSpPr>
        <p:spPr>
          <a:xfrm>
            <a:off x="6733706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060D1E4-C756-232C-6CCD-B19BD17F55D1}"/>
              </a:ext>
            </a:extLst>
          </p:cNvPr>
          <p:cNvSpPr/>
          <p:nvPr/>
        </p:nvSpPr>
        <p:spPr>
          <a:xfrm>
            <a:off x="10234730" y="264316"/>
            <a:ext cx="94297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مقدمه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5D3BE3A-FD4C-34AA-AFD3-965BF6832C97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B6B09CC-2A96-50CF-72A7-AD18D5B87322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0E4A9E7-7AC8-D970-AF2E-E8E594DFD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35CE3D1-C340-9ED3-3805-C2E641045C25}"/>
              </a:ext>
            </a:extLst>
          </p:cNvPr>
          <p:cNvSpPr/>
          <p:nvPr/>
        </p:nvSpPr>
        <p:spPr>
          <a:xfrm>
            <a:off x="9067722" y="2163925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BED8D3A-EECF-B7CF-4EC1-129FF4A9A432}"/>
              </a:ext>
            </a:extLst>
          </p:cNvPr>
          <p:cNvSpPr/>
          <p:nvPr/>
        </p:nvSpPr>
        <p:spPr>
          <a:xfrm>
            <a:off x="9067722" y="216392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D2B1B3-31CC-2756-EAA3-B4AC0B431A7A}"/>
              </a:ext>
            </a:extLst>
          </p:cNvPr>
          <p:cNvSpPr/>
          <p:nvPr/>
        </p:nvSpPr>
        <p:spPr>
          <a:xfrm>
            <a:off x="9046681" y="358478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مقدمه کلی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بیان مسئله</a:t>
            </a:r>
          </a:p>
          <a:p>
            <a:pPr algn="ctr"/>
            <a:r>
              <a:rPr lang="fa-IR" sz="2000" b="1" dirty="0">
                <a:cs typeface="2  Bardiya" panose="00000400000000000000" pitchFamily="2" charset="-78"/>
              </a:rPr>
              <a:t>اهداف پژوهش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7A3051-E98D-5DA9-62B9-0771E13D4C83}"/>
              </a:ext>
            </a:extLst>
          </p:cNvPr>
          <p:cNvSpPr/>
          <p:nvPr/>
        </p:nvSpPr>
        <p:spPr>
          <a:xfrm>
            <a:off x="9044690" y="276373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05F497-B432-E49C-4085-441F39665B6E}"/>
              </a:ext>
            </a:extLst>
          </p:cNvPr>
          <p:cNvSpPr/>
          <p:nvPr/>
        </p:nvSpPr>
        <p:spPr>
          <a:xfrm>
            <a:off x="6267372" y="2163921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DF45E26-627B-2E98-8FC2-4B21F57CF304}"/>
              </a:ext>
            </a:extLst>
          </p:cNvPr>
          <p:cNvSpPr/>
          <p:nvPr/>
        </p:nvSpPr>
        <p:spPr>
          <a:xfrm>
            <a:off x="6267372" y="216392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1F5176C-B9CB-059F-69E0-F7548C15AA98}"/>
              </a:ext>
            </a:extLst>
          </p:cNvPr>
          <p:cNvSpPr/>
          <p:nvPr/>
        </p:nvSpPr>
        <p:spPr>
          <a:xfrm>
            <a:off x="6246331" y="3584785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PlantVillage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F35D093-5EAC-7AA1-172B-7F6238C3B88E}"/>
              </a:ext>
            </a:extLst>
          </p:cNvPr>
          <p:cNvSpPr/>
          <p:nvPr/>
        </p:nvSpPr>
        <p:spPr>
          <a:xfrm>
            <a:off x="6244340" y="2763734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9A3FC81-4005-D65B-67EE-87183818A3B2}"/>
              </a:ext>
            </a:extLst>
          </p:cNvPr>
          <p:cNvSpPr/>
          <p:nvPr/>
        </p:nvSpPr>
        <p:spPr>
          <a:xfrm>
            <a:off x="3488063" y="216392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16B4192-603A-3E07-1056-31D08E5B0C46}"/>
              </a:ext>
            </a:extLst>
          </p:cNvPr>
          <p:cNvSpPr/>
          <p:nvPr/>
        </p:nvSpPr>
        <p:spPr>
          <a:xfrm>
            <a:off x="3488063" y="21639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073C01D-970E-D64B-49AA-0BA3AA06E931}"/>
              </a:ext>
            </a:extLst>
          </p:cNvPr>
          <p:cNvSpPr/>
          <p:nvPr/>
        </p:nvSpPr>
        <p:spPr>
          <a:xfrm>
            <a:off x="3467022" y="358478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معرفی دیتاست</a:t>
            </a:r>
          </a:p>
          <a:p>
            <a:pPr algn="ctr"/>
            <a:r>
              <a:rPr lang="en-US" sz="2000" b="1" dirty="0" err="1">
                <a:cs typeface="2  Bardiya" panose="00000400000000000000" pitchFamily="2" charset="-78"/>
              </a:rPr>
              <a:t>PlantDoc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608F44A-F8EE-DB34-253B-D4495E7BC5AF}"/>
              </a:ext>
            </a:extLst>
          </p:cNvPr>
          <p:cNvSpPr/>
          <p:nvPr/>
        </p:nvSpPr>
        <p:spPr>
          <a:xfrm>
            <a:off x="3465031" y="276373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FF7DB88-2964-151F-F4CD-7B7DD55E2C5D}"/>
              </a:ext>
            </a:extLst>
          </p:cNvPr>
          <p:cNvSpPr/>
          <p:nvPr/>
        </p:nvSpPr>
        <p:spPr>
          <a:xfrm>
            <a:off x="685722" y="21639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9188409-0AD8-8553-7A59-F06F41DEE029}"/>
              </a:ext>
            </a:extLst>
          </p:cNvPr>
          <p:cNvSpPr/>
          <p:nvPr/>
        </p:nvSpPr>
        <p:spPr>
          <a:xfrm>
            <a:off x="68572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1CBD65E-4E1B-03F4-A76B-31F6ECA4CD16}"/>
              </a:ext>
            </a:extLst>
          </p:cNvPr>
          <p:cNvSpPr/>
          <p:nvPr/>
        </p:nvSpPr>
        <p:spPr>
          <a:xfrm>
            <a:off x="664681" y="35847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تفاوت داده آزمایشگاهی و واقعی</a:t>
            </a:r>
          </a:p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EAA9474-F3B5-6588-B005-92D27E32ABDC}"/>
              </a:ext>
            </a:extLst>
          </p:cNvPr>
          <p:cNvSpPr/>
          <p:nvPr/>
        </p:nvSpPr>
        <p:spPr>
          <a:xfrm>
            <a:off x="662690" y="27637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111788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AF63F-3B34-2F93-D55B-7DDC44706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4C7C7F9-3CEC-2E15-6C1B-6BF798702801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F44901-27B2-B8D1-9110-5DEAB247BADC}"/>
              </a:ext>
            </a:extLst>
          </p:cNvPr>
          <p:cNvSpPr/>
          <p:nvPr/>
        </p:nvSpPr>
        <p:spPr>
          <a:xfrm>
            <a:off x="7543800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E8712CD-68E1-7149-59EA-A5A3E3AB3AA6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7F1A1E8-F74E-BE36-37D7-EE8457ED34C7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5D5877-4DF8-5A26-71B8-70B72DDB248D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C576304-36FF-53EE-1E4D-A1BCB119F01A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7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F39BD57-0FBF-7215-8AED-0399E17FD3FA}"/>
              </a:ext>
            </a:extLst>
          </p:cNvPr>
          <p:cNvSpPr/>
          <p:nvPr/>
        </p:nvSpPr>
        <p:spPr>
          <a:xfrm>
            <a:off x="1097268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B584BC1-A372-70AF-0AB8-C5CE28E4F46C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12FC60-0AB4-55B3-994A-44BFB0B12769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7965B83-951C-371C-82FB-A5D39F9283CC}"/>
              </a:ext>
            </a:extLst>
          </p:cNvPr>
          <p:cNvSpPr/>
          <p:nvPr/>
        </p:nvSpPr>
        <p:spPr>
          <a:xfrm>
            <a:off x="7543800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61A7A4A-AECB-A7D1-04F4-E17BE86EE224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820089E-F48A-6043-BDC6-4F2E66CC8C56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21ADE0B-7447-5B03-67B1-20CD4E17E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9346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6CB0-9DDC-94D8-1ACE-89127E0A5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F69F6C7-31AA-45BE-6202-4E563D6A0232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0BFF1D-6987-AC92-601B-260AFAD3D3BB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8ED852-4DA9-6952-A520-F3F21BAF2057}"/>
              </a:ext>
            </a:extLst>
          </p:cNvPr>
          <p:cNvSpPr/>
          <p:nvPr/>
        </p:nvSpPr>
        <p:spPr>
          <a:xfrm>
            <a:off x="7534275" y="264316"/>
            <a:ext cx="3152814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C2A16AE-7DC1-0F7A-26EF-BA54D8AE49A1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2C054A9-FE44-450D-03C7-A963D9507EAC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7BDACF7-2E99-0AB1-1A0F-A4F5A421056B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8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DD57035-E854-B11C-F4CB-A3C00CD446C8}"/>
              </a:ext>
            </a:extLst>
          </p:cNvPr>
          <p:cNvSpPr/>
          <p:nvPr/>
        </p:nvSpPr>
        <p:spPr>
          <a:xfrm>
            <a:off x="10972683" y="282570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8B0A231-8B99-29CA-7C28-50ACBEAFC370}"/>
              </a:ext>
            </a:extLst>
          </p:cNvPr>
          <p:cNvSpPr/>
          <p:nvPr/>
        </p:nvSpPr>
        <p:spPr>
          <a:xfrm>
            <a:off x="9686926" y="264316"/>
            <a:ext cx="1000164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4956D57-312F-F803-3875-2FA074DB72D3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B68CD1D-EEAD-ACE3-479E-F4B773C6CACC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4B43D3-060E-04BA-3727-0302626E5E52}"/>
              </a:ext>
            </a:extLst>
          </p:cNvPr>
          <p:cNvSpPr/>
          <p:nvPr/>
        </p:nvSpPr>
        <p:spPr>
          <a:xfrm>
            <a:off x="7486649" y="264316"/>
            <a:ext cx="2562266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مرور پژوهش‌های انجام شده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0B318E2-E25A-6B91-C7D6-962F959B7797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D5FCBD1-6700-17AD-6E0E-490D7A1F30C2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65306C7-C898-7D63-F506-E0F8A9FB0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F30488-254C-B001-2162-8D316D252861}"/>
              </a:ext>
            </a:extLst>
          </p:cNvPr>
          <p:cNvSpPr/>
          <p:nvPr/>
        </p:nvSpPr>
        <p:spPr>
          <a:xfrm>
            <a:off x="7960831" y="216392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87AE8A-92A6-13E8-5DF2-01F42FD226D5}"/>
              </a:ext>
            </a:extLst>
          </p:cNvPr>
          <p:cNvSpPr/>
          <p:nvPr/>
        </p:nvSpPr>
        <p:spPr>
          <a:xfrm>
            <a:off x="7960831" y="21639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3D003D1-1383-24F6-CAFE-25CBE484D140}"/>
              </a:ext>
            </a:extLst>
          </p:cNvPr>
          <p:cNvSpPr/>
          <p:nvPr/>
        </p:nvSpPr>
        <p:spPr>
          <a:xfrm>
            <a:off x="7939790" y="358478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پردازش تصویر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روش‌های کلاسیک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CCBFDEA-EEDF-4428-56D8-C04009D62043}"/>
              </a:ext>
            </a:extLst>
          </p:cNvPr>
          <p:cNvSpPr/>
          <p:nvPr/>
        </p:nvSpPr>
        <p:spPr>
          <a:xfrm>
            <a:off x="7937799" y="276373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2B05FEF-4C6B-CBCF-FB0C-E8945096BEFF}"/>
              </a:ext>
            </a:extLst>
          </p:cNvPr>
          <p:cNvSpPr/>
          <p:nvPr/>
        </p:nvSpPr>
        <p:spPr>
          <a:xfrm>
            <a:off x="4855681" y="2163921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29A5074-CC58-B478-C0BA-1584E50A80C7}"/>
              </a:ext>
            </a:extLst>
          </p:cNvPr>
          <p:cNvSpPr/>
          <p:nvPr/>
        </p:nvSpPr>
        <p:spPr>
          <a:xfrm>
            <a:off x="4855681" y="216392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5421B3F-9E1E-B166-6B15-6407D1794AB1}"/>
              </a:ext>
            </a:extLst>
          </p:cNvPr>
          <p:cNvSpPr/>
          <p:nvPr/>
        </p:nvSpPr>
        <p:spPr>
          <a:xfrm>
            <a:off x="4753012" y="3584785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CNN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Transfer Learning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Ensemble Learning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7B9AE88-1224-C541-91E8-E0B064421E34}"/>
              </a:ext>
            </a:extLst>
          </p:cNvPr>
          <p:cNvSpPr/>
          <p:nvPr/>
        </p:nvSpPr>
        <p:spPr>
          <a:xfrm>
            <a:off x="4832649" y="2763734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7E6E9CC-9860-6CC5-7E54-05A7834101DC}"/>
              </a:ext>
            </a:extLst>
          </p:cNvPr>
          <p:cNvSpPr/>
          <p:nvPr/>
        </p:nvSpPr>
        <p:spPr>
          <a:xfrm>
            <a:off x="1771572" y="21639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E9D8CDB-585D-0C50-C8F4-28CFF639C27C}"/>
              </a:ext>
            </a:extLst>
          </p:cNvPr>
          <p:cNvSpPr/>
          <p:nvPr/>
        </p:nvSpPr>
        <p:spPr>
          <a:xfrm>
            <a:off x="177157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AC8C34A-22FE-3E9B-1E8F-F1B6477749C1}"/>
              </a:ext>
            </a:extLst>
          </p:cNvPr>
          <p:cNvSpPr/>
          <p:nvPr/>
        </p:nvSpPr>
        <p:spPr>
          <a:xfrm>
            <a:off x="1750531" y="35847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تشخیص ناحیه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خانواده </a:t>
            </a:r>
            <a:r>
              <a:rPr lang="en-US" sz="2000" b="1" dirty="0">
                <a:cs typeface="2  Bardiya" panose="00000400000000000000" pitchFamily="2" charset="-78"/>
              </a:rPr>
              <a:t>YOLO</a:t>
            </a:r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7DFD8D7-C8A3-4D9A-C5B8-826C4F953CB9}"/>
              </a:ext>
            </a:extLst>
          </p:cNvPr>
          <p:cNvSpPr/>
          <p:nvPr/>
        </p:nvSpPr>
        <p:spPr>
          <a:xfrm>
            <a:off x="1748540" y="27637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F99C8D7-6F30-8BC5-3023-A0E12E474D1D}"/>
              </a:ext>
            </a:extLst>
          </p:cNvPr>
          <p:cNvSpPr/>
          <p:nvPr/>
        </p:nvSpPr>
        <p:spPr>
          <a:xfrm>
            <a:off x="68572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30133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792B1-49D2-315A-F1AA-3CC28569D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EFBB22-1BDA-9439-6BAE-6EDC22970893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F47ECC-615E-4262-57DF-4C2F97D9EC04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74330B-5397-3C40-7761-074A79E918E5}"/>
              </a:ext>
            </a:extLst>
          </p:cNvPr>
          <p:cNvSpPr/>
          <p:nvPr/>
        </p:nvSpPr>
        <p:spPr>
          <a:xfrm>
            <a:off x="7534275" y="264316"/>
            <a:ext cx="3152814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DBAB521-FCDB-F19C-767C-550220DCE415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E6C5174-6889-4FFF-0E79-3C832DBAF464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E5B50D3-6C97-1C3F-2747-FD9813F160D3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8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10DB3B3-E1B5-8B3D-9FEA-EF014D5E2A05}"/>
              </a:ext>
            </a:extLst>
          </p:cNvPr>
          <p:cNvSpPr/>
          <p:nvPr/>
        </p:nvSpPr>
        <p:spPr>
          <a:xfrm>
            <a:off x="10972683" y="282570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B39FD1D-20F0-9BAF-9DAE-25E56EF44141}"/>
              </a:ext>
            </a:extLst>
          </p:cNvPr>
          <p:cNvSpPr/>
          <p:nvPr/>
        </p:nvSpPr>
        <p:spPr>
          <a:xfrm>
            <a:off x="9686926" y="264316"/>
            <a:ext cx="1000164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1478E16-EB6C-C52F-1127-D25C0A0D8B9F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62749CE-8333-7C3C-C45C-6ECD56E7F305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C9EAAC1-31AD-5828-8892-1F1F1B580386}"/>
              </a:ext>
            </a:extLst>
          </p:cNvPr>
          <p:cNvSpPr/>
          <p:nvPr/>
        </p:nvSpPr>
        <p:spPr>
          <a:xfrm>
            <a:off x="7486649" y="264316"/>
            <a:ext cx="2562266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مرور پژوهش‌های انجام شده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3941A9-17FD-B5AD-E69B-2FD413E9DAFC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16A5244-F536-B45D-0EB2-A2EB11137B74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11907D2-A77D-F653-BC98-BF7E32143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D6AED0-E4BB-7AEE-C867-9BEBEEF884C9}"/>
              </a:ext>
            </a:extLst>
          </p:cNvPr>
          <p:cNvSpPr/>
          <p:nvPr/>
        </p:nvSpPr>
        <p:spPr>
          <a:xfrm>
            <a:off x="1727200" y="1398795"/>
            <a:ext cx="9529060" cy="4716730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A79E4E-5441-88E5-914B-BC91ECA1E367}"/>
              </a:ext>
            </a:extLst>
          </p:cNvPr>
          <p:cNvSpPr/>
          <p:nvPr/>
        </p:nvSpPr>
        <p:spPr>
          <a:xfrm>
            <a:off x="8635931" y="2163924"/>
            <a:ext cx="2620329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2192D44-0BC7-84A3-658C-99ADC9BC8ECE}"/>
              </a:ext>
            </a:extLst>
          </p:cNvPr>
          <p:cNvSpPr/>
          <p:nvPr/>
        </p:nvSpPr>
        <p:spPr>
          <a:xfrm>
            <a:off x="-1240319" y="216392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0A17D33-0414-AACC-5C99-DB0D5DB71A83}"/>
              </a:ext>
            </a:extLst>
          </p:cNvPr>
          <p:cNvSpPr/>
          <p:nvPr/>
        </p:nvSpPr>
        <p:spPr>
          <a:xfrm>
            <a:off x="-1240319" y="216392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DEE4B27-7C7E-7C9C-84D4-91F63D887AEB}"/>
              </a:ext>
            </a:extLst>
          </p:cNvPr>
          <p:cNvSpPr/>
          <p:nvPr/>
        </p:nvSpPr>
        <p:spPr>
          <a:xfrm>
            <a:off x="-1342988" y="3584788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CNN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Transfer Learning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Ensemble Learning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4ADB63F-D9C4-C935-A1C7-7C43DDCB68BD}"/>
              </a:ext>
            </a:extLst>
          </p:cNvPr>
          <p:cNvSpPr/>
          <p:nvPr/>
        </p:nvSpPr>
        <p:spPr>
          <a:xfrm>
            <a:off x="-1263351" y="276373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6E15189-A901-4C3D-083F-5905D9094AD0}"/>
              </a:ext>
            </a:extLst>
          </p:cNvPr>
          <p:cNvSpPr/>
          <p:nvPr/>
        </p:nvSpPr>
        <p:spPr>
          <a:xfrm>
            <a:off x="-4019628" y="2163923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C5E3847-E868-B92C-5AE6-9A14483BB773}"/>
              </a:ext>
            </a:extLst>
          </p:cNvPr>
          <p:cNvSpPr/>
          <p:nvPr/>
        </p:nvSpPr>
        <p:spPr>
          <a:xfrm>
            <a:off x="-4019628" y="2163922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52CC818-264A-8E2F-E4D6-0901E31B2115}"/>
              </a:ext>
            </a:extLst>
          </p:cNvPr>
          <p:cNvSpPr/>
          <p:nvPr/>
        </p:nvSpPr>
        <p:spPr>
          <a:xfrm>
            <a:off x="-4040669" y="3584787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تشخیص ناحیه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خانواده </a:t>
            </a:r>
            <a:r>
              <a:rPr lang="en-US" sz="2000" b="1" dirty="0">
                <a:cs typeface="2  Bardiya" panose="00000400000000000000" pitchFamily="2" charset="-78"/>
              </a:rPr>
              <a:t>YOLO</a:t>
            </a:r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C3D7F8B-5E80-845F-2B27-2F79E3836694}"/>
              </a:ext>
            </a:extLst>
          </p:cNvPr>
          <p:cNvSpPr/>
          <p:nvPr/>
        </p:nvSpPr>
        <p:spPr>
          <a:xfrm>
            <a:off x="-4042660" y="2763736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652E79E-4C69-FE9A-21B1-A4A345F2C86F}"/>
              </a:ext>
            </a:extLst>
          </p:cNvPr>
          <p:cNvSpPr/>
          <p:nvPr/>
        </p:nvSpPr>
        <p:spPr>
          <a:xfrm>
            <a:off x="9587059" y="2542451"/>
            <a:ext cx="1638319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400" b="1" dirty="0">
                <a:cs typeface="2  Bardiya" panose="00000400000000000000" pitchFamily="2" charset="-78"/>
              </a:rPr>
              <a:t>پردازش تصویر </a:t>
            </a:r>
          </a:p>
          <a:p>
            <a:pPr algn="ctr" rtl="1"/>
            <a:r>
              <a:rPr lang="fa-IR" sz="14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1400" b="1" dirty="0">
                <a:cs typeface="2  Bardiya" panose="00000400000000000000" pitchFamily="2" charset="-78"/>
              </a:rPr>
              <a:t>روش‌های کلاسیک</a:t>
            </a:r>
            <a:endParaRPr lang="en-US" sz="1400" b="1" dirty="0">
              <a:cs typeface="2  Bardiya" panose="00000400000000000000" pitchFamily="2" charset="-78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8961A9D-EB35-88D2-FDC7-F298AEEFA90B}"/>
              </a:ext>
            </a:extLst>
          </p:cNvPr>
          <p:cNvSpPr/>
          <p:nvPr/>
        </p:nvSpPr>
        <p:spPr>
          <a:xfrm>
            <a:off x="9873479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61A51F9-08F3-DFF7-B8C2-F4D20214290E}"/>
              </a:ext>
            </a:extLst>
          </p:cNvPr>
          <p:cNvSpPr/>
          <p:nvPr/>
        </p:nvSpPr>
        <p:spPr>
          <a:xfrm>
            <a:off x="4341332" y="1916398"/>
            <a:ext cx="4915298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3200" b="1" dirty="0">
                <a:cs typeface="2  Bardiya" panose="00000400000000000000" pitchFamily="2" charset="-78"/>
              </a:rPr>
              <a:t>پردازش تصویر و روش‌های کلاسیک</a:t>
            </a:r>
            <a:endParaRPr lang="en-US" sz="3200" b="1" dirty="0">
              <a:cs typeface="2  Bardiya" panose="00000400000000000000" pitchFamily="2" charset="-78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0A619EA-1143-7174-1C5D-7D8729200D67}"/>
              </a:ext>
            </a:extLst>
          </p:cNvPr>
          <p:cNvCxnSpPr/>
          <p:nvPr/>
        </p:nvCxnSpPr>
        <p:spPr>
          <a:xfrm>
            <a:off x="9684941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467744B-5FE0-5940-61F4-839425F09B29}"/>
              </a:ext>
            </a:extLst>
          </p:cNvPr>
          <p:cNvSpPr/>
          <p:nvPr/>
        </p:nvSpPr>
        <p:spPr>
          <a:xfrm>
            <a:off x="3223860" y="2519667"/>
            <a:ext cx="5636359" cy="311063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b="1" dirty="0">
                <a:cs typeface="2  Koodak" panose="00000700000000000000" pitchFamily="2" charset="-78"/>
              </a:rPr>
              <a:t>آغاز تشخیص بیماری با مشاهده چشمی و روش‌های دستی</a:t>
            </a:r>
          </a:p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b="1" dirty="0">
                <a:cs typeface="2  Koodak" panose="00000700000000000000" pitchFamily="2" charset="-78"/>
              </a:rPr>
              <a:t>ورود پردازش تصویر به کشاورزی</a:t>
            </a:r>
          </a:p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b="1" dirty="0">
                <a:cs typeface="2  Koodak" panose="00000700000000000000" pitchFamily="2" charset="-78"/>
              </a:rPr>
              <a:t>استخراج دستی ویژگی‌ها: رنگ، بافت، لبه و شکل</a:t>
            </a:r>
          </a:p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b="1" dirty="0">
                <a:cs typeface="2  Koodak" panose="00000700000000000000" pitchFamily="2" charset="-78"/>
              </a:rPr>
              <a:t>طبقه‌بندهای کلاسیک: </a:t>
            </a:r>
            <a:r>
              <a:rPr lang="en-US" sz="1900" b="1" dirty="0">
                <a:cs typeface="2  Koodak" panose="00000700000000000000" pitchFamily="2" charset="-78"/>
              </a:rPr>
              <a:t>SVM، Random Forest</a:t>
            </a:r>
            <a:endParaRPr lang="fa-IR" sz="1900" b="1" dirty="0"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b="1" dirty="0">
                <a:cs typeface="2  Koodak" panose="00000700000000000000" pitchFamily="2" charset="-78"/>
              </a:rPr>
              <a:t>محدودیت‌ها: حساس به نور، زاویه، پس‌زمینه</a:t>
            </a:r>
          </a:p>
          <a:p>
            <a:pPr marL="285750" indent="-285750" algn="r" rtl="1">
              <a:lnSpc>
                <a:spcPts val="4000"/>
              </a:lnSpc>
              <a:buFont typeface="Arial" panose="020B0604020202090204" pitchFamily="34" charset="0"/>
              <a:buChar char="•"/>
            </a:pPr>
            <a:r>
              <a:rPr lang="fa-IR" sz="1900" b="1" dirty="0">
                <a:cs typeface="2  Koodak" panose="00000700000000000000" pitchFamily="2" charset="-78"/>
              </a:rPr>
              <a:t>زمینه‌ساز گذار به یادگیری عمیق</a:t>
            </a:r>
          </a:p>
        </p:txBody>
      </p:sp>
    </p:spTree>
    <p:extLst>
      <p:ext uri="{BB962C8B-B14F-4D97-AF65-F5344CB8AC3E}">
        <p14:creationId xmlns:p14="http://schemas.microsoft.com/office/powerpoint/2010/main" val="2865751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69525-F29F-2E8C-6FC4-2D577EF03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7141ED-15B2-B3CB-F6A5-27B6BA2274DC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EDA2F9-9323-961B-0F88-7139EC4763B6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E6E596-43C3-0BBA-2072-8FD356B62558}"/>
              </a:ext>
            </a:extLst>
          </p:cNvPr>
          <p:cNvSpPr/>
          <p:nvPr/>
        </p:nvSpPr>
        <p:spPr>
          <a:xfrm>
            <a:off x="7534275" y="264316"/>
            <a:ext cx="3152814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A76387-3A8C-43F4-E22B-689A0A1A4D87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E6E4340-5C62-8A5E-6C34-23E6AE44A552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43061C-7B3B-2DB6-B495-29107447BF60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9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FB1A29F-9CD4-9C82-0381-BAC9FBB422B4}"/>
              </a:ext>
            </a:extLst>
          </p:cNvPr>
          <p:cNvSpPr/>
          <p:nvPr/>
        </p:nvSpPr>
        <p:spPr>
          <a:xfrm>
            <a:off x="10972683" y="282570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F4493D8-25C9-9DC1-7910-C4A4BA957A18}"/>
              </a:ext>
            </a:extLst>
          </p:cNvPr>
          <p:cNvSpPr/>
          <p:nvPr/>
        </p:nvSpPr>
        <p:spPr>
          <a:xfrm>
            <a:off x="9686926" y="264316"/>
            <a:ext cx="1000164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77B17ED-A1A8-4C1B-9FA2-3A894269EAF2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D45A6EC-BA53-D1B0-7681-809E2B0F3C8C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FE1747-86D8-BEBB-C2EE-50535DF0BD3A}"/>
              </a:ext>
            </a:extLst>
          </p:cNvPr>
          <p:cNvSpPr/>
          <p:nvPr/>
        </p:nvSpPr>
        <p:spPr>
          <a:xfrm>
            <a:off x="7486649" y="264316"/>
            <a:ext cx="2562266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مرور پژوهش‌های انجام شده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BA812F-FCAD-8C42-7172-D2D5C0DEB143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15D7A48-3DD7-1545-8D8A-F380A836E7B5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D579C2B-594C-3D06-58AE-35BC132AD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02AAA2C-9204-4560-88F4-11B443DDE288}"/>
              </a:ext>
            </a:extLst>
          </p:cNvPr>
          <p:cNvSpPr/>
          <p:nvPr/>
        </p:nvSpPr>
        <p:spPr>
          <a:xfrm>
            <a:off x="7960831" y="216392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96EFDE-E302-DEE2-463B-9E7358D64880}"/>
              </a:ext>
            </a:extLst>
          </p:cNvPr>
          <p:cNvSpPr/>
          <p:nvPr/>
        </p:nvSpPr>
        <p:spPr>
          <a:xfrm>
            <a:off x="7960831" y="21639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ED95577-70F0-05AC-EB23-2B7D62D190D7}"/>
              </a:ext>
            </a:extLst>
          </p:cNvPr>
          <p:cNvSpPr/>
          <p:nvPr/>
        </p:nvSpPr>
        <p:spPr>
          <a:xfrm>
            <a:off x="7939790" y="358478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پردازش تصویر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روش‌های کلاسیک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0B79CEB-2C75-729D-5EB4-7164D8E029B7}"/>
              </a:ext>
            </a:extLst>
          </p:cNvPr>
          <p:cNvSpPr/>
          <p:nvPr/>
        </p:nvSpPr>
        <p:spPr>
          <a:xfrm>
            <a:off x="7937799" y="276373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3C9DF6B-CAEC-5ED7-0FE7-45561DCBB797}"/>
              </a:ext>
            </a:extLst>
          </p:cNvPr>
          <p:cNvSpPr/>
          <p:nvPr/>
        </p:nvSpPr>
        <p:spPr>
          <a:xfrm>
            <a:off x="4855681" y="2163921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24C59B1-F766-1B57-30C9-767903A401CF}"/>
              </a:ext>
            </a:extLst>
          </p:cNvPr>
          <p:cNvSpPr/>
          <p:nvPr/>
        </p:nvSpPr>
        <p:spPr>
          <a:xfrm>
            <a:off x="4855681" y="216392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5ACF79A-B3D7-EF20-9210-7631EF50A50A}"/>
              </a:ext>
            </a:extLst>
          </p:cNvPr>
          <p:cNvSpPr/>
          <p:nvPr/>
        </p:nvSpPr>
        <p:spPr>
          <a:xfrm>
            <a:off x="4753012" y="3584785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CNN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Transfer Learning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Ensemble Learning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C770C30-06A2-7728-DAFC-7206BB55FF4E}"/>
              </a:ext>
            </a:extLst>
          </p:cNvPr>
          <p:cNvSpPr/>
          <p:nvPr/>
        </p:nvSpPr>
        <p:spPr>
          <a:xfrm>
            <a:off x="4832649" y="2763734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2BFF32B-E2F3-79A7-4522-8BEC3BE6B953}"/>
              </a:ext>
            </a:extLst>
          </p:cNvPr>
          <p:cNvSpPr/>
          <p:nvPr/>
        </p:nvSpPr>
        <p:spPr>
          <a:xfrm>
            <a:off x="1771572" y="21639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1189DC8-CA2E-552E-2E12-4F1102C77C5D}"/>
              </a:ext>
            </a:extLst>
          </p:cNvPr>
          <p:cNvSpPr/>
          <p:nvPr/>
        </p:nvSpPr>
        <p:spPr>
          <a:xfrm>
            <a:off x="177157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DF21977-E849-FDD9-CF2F-7407DBF4123B}"/>
              </a:ext>
            </a:extLst>
          </p:cNvPr>
          <p:cNvSpPr/>
          <p:nvPr/>
        </p:nvSpPr>
        <p:spPr>
          <a:xfrm>
            <a:off x="1750531" y="35847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تشخیص ناحیه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خانواده </a:t>
            </a:r>
            <a:r>
              <a:rPr lang="en-US" sz="2000" b="1" dirty="0">
                <a:cs typeface="2  Bardiya" panose="00000400000000000000" pitchFamily="2" charset="-78"/>
              </a:rPr>
              <a:t>YOLO</a:t>
            </a:r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21BD81E-F799-4E84-EFFE-2D2F6857886F}"/>
              </a:ext>
            </a:extLst>
          </p:cNvPr>
          <p:cNvSpPr/>
          <p:nvPr/>
        </p:nvSpPr>
        <p:spPr>
          <a:xfrm>
            <a:off x="1748540" y="27637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305F27C-4655-A52A-B993-54C7CA5DAD02}"/>
              </a:ext>
            </a:extLst>
          </p:cNvPr>
          <p:cNvSpPr/>
          <p:nvPr/>
        </p:nvSpPr>
        <p:spPr>
          <a:xfrm>
            <a:off x="68572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12587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1EEAA-EFC8-CACC-19F6-712147929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A92389-A67E-936B-CE25-68A04D46F841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1234A71-1F7E-52D0-C30B-C8DED4187FF4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5D0626-E188-429B-39B3-DAC5F56DA751}"/>
              </a:ext>
            </a:extLst>
          </p:cNvPr>
          <p:cNvSpPr/>
          <p:nvPr/>
        </p:nvSpPr>
        <p:spPr>
          <a:xfrm>
            <a:off x="7534275" y="264316"/>
            <a:ext cx="3152814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D6127E-ECC7-CB5D-FDF8-9A28D8262C5B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6735ED6-744A-B457-73BE-EFDAAD796B22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812D5D8-6B1B-965A-99E7-3953ABDF6880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9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107F0F2-9E65-4A3B-E6C9-A9EBA92378D4}"/>
              </a:ext>
            </a:extLst>
          </p:cNvPr>
          <p:cNvSpPr/>
          <p:nvPr/>
        </p:nvSpPr>
        <p:spPr>
          <a:xfrm>
            <a:off x="10972683" y="282570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854D30C-A396-489C-7F81-789A14DDB5B1}"/>
              </a:ext>
            </a:extLst>
          </p:cNvPr>
          <p:cNvSpPr/>
          <p:nvPr/>
        </p:nvSpPr>
        <p:spPr>
          <a:xfrm>
            <a:off x="9686926" y="264316"/>
            <a:ext cx="1000164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E97F32A-3C80-7920-8CC5-D556C32B7C10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56A559B-6DA3-2E3E-8727-3829CE3D77CC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F3D4AED-3BB8-63FC-E74C-554840CE82D4}"/>
              </a:ext>
            </a:extLst>
          </p:cNvPr>
          <p:cNvSpPr/>
          <p:nvPr/>
        </p:nvSpPr>
        <p:spPr>
          <a:xfrm>
            <a:off x="7486649" y="264316"/>
            <a:ext cx="2562266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مرور پژوهش‌های انجام شده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4BBA54-7615-11EB-0529-C4835392955B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72BF0BA-3FB5-00DF-7F9B-9BC069E3532A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BD282D6-7CCA-D85F-56D5-0640CAE9F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E1357C-59E2-CCC5-903F-4115D81620A2}"/>
              </a:ext>
            </a:extLst>
          </p:cNvPr>
          <p:cNvSpPr/>
          <p:nvPr/>
        </p:nvSpPr>
        <p:spPr>
          <a:xfrm>
            <a:off x="1714501" y="1523047"/>
            <a:ext cx="9458246" cy="4592478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5A7A3C-5C30-BB25-46C5-4364A0CD7780}"/>
              </a:ext>
            </a:extLst>
          </p:cNvPr>
          <p:cNvSpPr/>
          <p:nvPr/>
        </p:nvSpPr>
        <p:spPr>
          <a:xfrm>
            <a:off x="8553372" y="222605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02EECF3-4333-6B82-CB46-CC1F7E2194CC}"/>
              </a:ext>
            </a:extLst>
          </p:cNvPr>
          <p:cNvSpPr/>
          <p:nvPr/>
        </p:nvSpPr>
        <p:spPr>
          <a:xfrm>
            <a:off x="11669961" y="229502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63487A2-A4FE-3BEF-5476-60DD5C2F2ACB}"/>
              </a:ext>
            </a:extLst>
          </p:cNvPr>
          <p:cNvSpPr/>
          <p:nvPr/>
        </p:nvSpPr>
        <p:spPr>
          <a:xfrm>
            <a:off x="11669961" y="22950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14763F6-F3B9-6C12-15E3-F2E4CAB268BB}"/>
              </a:ext>
            </a:extLst>
          </p:cNvPr>
          <p:cNvSpPr/>
          <p:nvPr/>
        </p:nvSpPr>
        <p:spPr>
          <a:xfrm>
            <a:off x="11648920" y="371588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پردازش تصویر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روش‌های کلاسیک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F3E2618-7681-5EA4-7C22-3E20AF98AD35}"/>
              </a:ext>
            </a:extLst>
          </p:cNvPr>
          <p:cNvSpPr/>
          <p:nvPr/>
        </p:nvSpPr>
        <p:spPr>
          <a:xfrm>
            <a:off x="11646929" y="289483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DC08DDD-4137-989F-7E99-C6C12DD997F6}"/>
              </a:ext>
            </a:extLst>
          </p:cNvPr>
          <p:cNvSpPr/>
          <p:nvPr/>
        </p:nvSpPr>
        <p:spPr>
          <a:xfrm>
            <a:off x="-1240319" y="22950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922BB27-4DD0-EFF7-A853-7164FECAA7F1}"/>
              </a:ext>
            </a:extLst>
          </p:cNvPr>
          <p:cNvSpPr/>
          <p:nvPr/>
        </p:nvSpPr>
        <p:spPr>
          <a:xfrm>
            <a:off x="-1240319" y="22950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7F09B79-9BAC-20AA-EEAC-18FAC73F5E0F}"/>
              </a:ext>
            </a:extLst>
          </p:cNvPr>
          <p:cNvSpPr/>
          <p:nvPr/>
        </p:nvSpPr>
        <p:spPr>
          <a:xfrm>
            <a:off x="-1261360" y="37158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تشخیص ناحیه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خانواده </a:t>
            </a:r>
            <a:r>
              <a:rPr lang="en-US" sz="2000" b="1" dirty="0">
                <a:cs typeface="2  Bardiya" panose="00000400000000000000" pitchFamily="2" charset="-78"/>
              </a:rPr>
              <a:t>YOLO</a:t>
            </a:r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A3610B3-98B6-550A-FA79-6E90225AFFC0}"/>
              </a:ext>
            </a:extLst>
          </p:cNvPr>
          <p:cNvSpPr/>
          <p:nvPr/>
        </p:nvSpPr>
        <p:spPr>
          <a:xfrm>
            <a:off x="-1263351" y="28948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C70D939-FC4B-057C-5B94-FDE87C761B77}"/>
              </a:ext>
            </a:extLst>
          </p:cNvPr>
          <p:cNvSpPr/>
          <p:nvPr/>
        </p:nvSpPr>
        <p:spPr>
          <a:xfrm>
            <a:off x="9525000" y="2542451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CNN</a:t>
            </a:r>
          </a:p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Transfer Learning</a:t>
            </a:r>
          </a:p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Ensemble Learning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15A2CA3-8180-5E1E-27C5-412D0CAC9EBF}"/>
              </a:ext>
            </a:extLst>
          </p:cNvPr>
          <p:cNvSpPr/>
          <p:nvPr/>
        </p:nvSpPr>
        <p:spPr>
          <a:xfrm>
            <a:off x="9854429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84CA377-4DA1-5909-B976-1530008316F2}"/>
              </a:ext>
            </a:extLst>
          </p:cNvPr>
          <p:cNvSpPr/>
          <p:nvPr/>
        </p:nvSpPr>
        <p:spPr>
          <a:xfrm>
            <a:off x="3467107" y="1916398"/>
            <a:ext cx="5789524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3200" dirty="0">
                <a:cs typeface="2  Koodak" panose="00000700000000000000" pitchFamily="2" charset="-78"/>
              </a:rPr>
              <a:t>Convolutional Neural Network</a:t>
            </a:r>
            <a:r>
              <a:rPr lang="fa-IR" sz="3200" dirty="0">
                <a:cs typeface="2  Koodak" panose="00000700000000000000" pitchFamily="2" charset="-78"/>
              </a:rPr>
              <a:t>:</a:t>
            </a:r>
            <a:endParaRPr lang="en-US" sz="4800" b="1" dirty="0">
              <a:cs typeface="2  Koodak" panose="00000700000000000000" pitchFamily="2" charset="-78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A701BB9-7552-E468-526B-7E71B9E8DC70}"/>
              </a:ext>
            </a:extLst>
          </p:cNvPr>
          <p:cNvCxnSpPr/>
          <p:nvPr/>
        </p:nvCxnSpPr>
        <p:spPr>
          <a:xfrm>
            <a:off x="9599216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889DFAA-DC08-7390-4C4F-5E3985E65F91}"/>
              </a:ext>
            </a:extLst>
          </p:cNvPr>
          <p:cNvSpPr/>
          <p:nvPr/>
        </p:nvSpPr>
        <p:spPr>
          <a:xfrm>
            <a:off x="2316103" y="2395441"/>
            <a:ext cx="6850442" cy="245038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dirty="0">
                <a:cs typeface="2  Koodak" panose="00000700000000000000" pitchFamily="2" charset="-78"/>
              </a:rPr>
              <a:t>شبکه‌های عصبی کانولوشنی برای تحلیل تصاویر طراحی شده‌اند و ویژگی‌ها را به صورت سلسله‌مراتبی استخراج می‌کنند.</a:t>
            </a:r>
          </a:p>
          <a:p>
            <a:pPr marL="800100" lvl="1" indent="-34290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cs typeface="2  Koodak" panose="00000700000000000000" pitchFamily="2" charset="-78"/>
              </a:rPr>
              <a:t>لایه‌های اولیه:</a:t>
            </a:r>
            <a:r>
              <a:rPr lang="fa-IR" dirty="0">
                <a:cs typeface="2  Koodak" panose="00000700000000000000" pitchFamily="2" charset="-78"/>
              </a:rPr>
              <a:t> لبه‌ها، زوایا و رنگ‌های ساده</a:t>
            </a:r>
          </a:p>
          <a:p>
            <a:pPr marL="800100" lvl="1" indent="-34290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cs typeface="2  Koodak" panose="00000700000000000000" pitchFamily="2" charset="-78"/>
              </a:rPr>
              <a:t>لایه‌های میانی:</a:t>
            </a:r>
            <a:r>
              <a:rPr lang="fa-IR" dirty="0">
                <a:cs typeface="2  Koodak" panose="00000700000000000000" pitchFamily="2" charset="-78"/>
              </a:rPr>
              <a:t> بافت‌ها و الگوهای پیچیده</a:t>
            </a:r>
          </a:p>
          <a:p>
            <a:pPr marL="800100" lvl="1" indent="-34290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cs typeface="2  Koodak" panose="00000700000000000000" pitchFamily="2" charset="-78"/>
              </a:rPr>
              <a:t>لایه‌های عمیق:</a:t>
            </a:r>
            <a:r>
              <a:rPr lang="fa-IR" dirty="0">
                <a:cs typeface="2  Koodak" panose="00000700000000000000" pitchFamily="2" charset="-78"/>
              </a:rPr>
              <a:t> نمایش انتزاعی تصویر برای طبقه‌بندی دقیق بیماری</a:t>
            </a:r>
          </a:p>
        </p:txBody>
      </p:sp>
    </p:spTree>
    <p:extLst>
      <p:ext uri="{BB962C8B-B14F-4D97-AF65-F5344CB8AC3E}">
        <p14:creationId xmlns:p14="http://schemas.microsoft.com/office/powerpoint/2010/main" val="65876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94661-FCA8-8223-8B98-1F1B5158B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A10E3A-589B-963A-4D74-1B94D15ADAE2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585308-21D0-AEA0-AE39-A20F3E0467A4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F3C3D6B-1AC9-97E0-604E-3D4A2C3C8971}"/>
              </a:ext>
            </a:extLst>
          </p:cNvPr>
          <p:cNvSpPr/>
          <p:nvPr/>
        </p:nvSpPr>
        <p:spPr>
          <a:xfrm>
            <a:off x="7534275" y="264316"/>
            <a:ext cx="3152814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D66836-6E7F-99DB-ADE9-E863550EEDA1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0BD710E-D5B4-6B32-4FED-EEA5E11420AB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299B48C-72D6-EB79-9F35-6C8F1D3CAC1D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9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A884919-FDCB-A1A6-B897-41DFE4825121}"/>
              </a:ext>
            </a:extLst>
          </p:cNvPr>
          <p:cNvSpPr/>
          <p:nvPr/>
        </p:nvSpPr>
        <p:spPr>
          <a:xfrm>
            <a:off x="10972683" y="282570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9325780-59EB-F737-0FE6-74DF3BF9D07B}"/>
              </a:ext>
            </a:extLst>
          </p:cNvPr>
          <p:cNvSpPr/>
          <p:nvPr/>
        </p:nvSpPr>
        <p:spPr>
          <a:xfrm>
            <a:off x="9686926" y="264316"/>
            <a:ext cx="1000164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911E47E-4A74-5A42-4C55-29F21A39CE25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1A8557B-1A88-5F05-DE72-8D2949683EAD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B3F40B-4A0A-BE62-BCEF-F510243AEEBD}"/>
              </a:ext>
            </a:extLst>
          </p:cNvPr>
          <p:cNvSpPr/>
          <p:nvPr/>
        </p:nvSpPr>
        <p:spPr>
          <a:xfrm>
            <a:off x="7486649" y="264316"/>
            <a:ext cx="2562266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مرور پژوهش‌های انجام شده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069757-77DD-04D1-6EE2-08EA885EA924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9F0A9CE-7EFF-202B-5101-A9ED5D52BDD7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E9932CF-BCCC-0FFA-42E4-0F39AF94D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7812A8-FD81-FFE1-9BD5-D9833C849A92}"/>
              </a:ext>
            </a:extLst>
          </p:cNvPr>
          <p:cNvSpPr/>
          <p:nvPr/>
        </p:nvSpPr>
        <p:spPr>
          <a:xfrm>
            <a:off x="1714501" y="1523047"/>
            <a:ext cx="9458246" cy="4592478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C1534E-F8B8-7AC1-9241-A54FB9956234}"/>
              </a:ext>
            </a:extLst>
          </p:cNvPr>
          <p:cNvSpPr/>
          <p:nvPr/>
        </p:nvSpPr>
        <p:spPr>
          <a:xfrm>
            <a:off x="8553372" y="222605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85D3F34-28ED-5D72-29D1-6416BB97D967}"/>
              </a:ext>
            </a:extLst>
          </p:cNvPr>
          <p:cNvSpPr/>
          <p:nvPr/>
        </p:nvSpPr>
        <p:spPr>
          <a:xfrm>
            <a:off x="11669961" y="229502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C390278-4563-F771-9083-13AC93347623}"/>
              </a:ext>
            </a:extLst>
          </p:cNvPr>
          <p:cNvSpPr/>
          <p:nvPr/>
        </p:nvSpPr>
        <p:spPr>
          <a:xfrm>
            <a:off x="11669961" y="22950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B62D8B0-5F34-52FC-77B1-AC3364C574A9}"/>
              </a:ext>
            </a:extLst>
          </p:cNvPr>
          <p:cNvSpPr/>
          <p:nvPr/>
        </p:nvSpPr>
        <p:spPr>
          <a:xfrm>
            <a:off x="11648920" y="371588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پردازش تصویر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روش‌های کلاسیک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82E9F38-E8E7-5700-C734-A2499D70376E}"/>
              </a:ext>
            </a:extLst>
          </p:cNvPr>
          <p:cNvSpPr/>
          <p:nvPr/>
        </p:nvSpPr>
        <p:spPr>
          <a:xfrm>
            <a:off x="11646929" y="289483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D924AE6-230F-6754-9C29-B18BE3077734}"/>
              </a:ext>
            </a:extLst>
          </p:cNvPr>
          <p:cNvSpPr/>
          <p:nvPr/>
        </p:nvSpPr>
        <p:spPr>
          <a:xfrm>
            <a:off x="-1240319" y="22950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B8E9B06-3611-D335-E8D5-4DEC148BF2C0}"/>
              </a:ext>
            </a:extLst>
          </p:cNvPr>
          <p:cNvSpPr/>
          <p:nvPr/>
        </p:nvSpPr>
        <p:spPr>
          <a:xfrm>
            <a:off x="-1240319" y="22950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33E3349-800B-6A05-E289-1849EAC758B4}"/>
              </a:ext>
            </a:extLst>
          </p:cNvPr>
          <p:cNvSpPr/>
          <p:nvPr/>
        </p:nvSpPr>
        <p:spPr>
          <a:xfrm>
            <a:off x="-1261360" y="37158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تشخیص ناحیه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خانواده </a:t>
            </a:r>
            <a:r>
              <a:rPr lang="en-US" sz="2000" b="1" dirty="0">
                <a:cs typeface="2  Bardiya" panose="00000400000000000000" pitchFamily="2" charset="-78"/>
              </a:rPr>
              <a:t>YOLO</a:t>
            </a:r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C3E60D1-7900-7B44-80DB-DBFC9A8D2615}"/>
              </a:ext>
            </a:extLst>
          </p:cNvPr>
          <p:cNvSpPr/>
          <p:nvPr/>
        </p:nvSpPr>
        <p:spPr>
          <a:xfrm>
            <a:off x="-1263351" y="28948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066D858-F05F-D8BD-332E-8405F436A694}"/>
              </a:ext>
            </a:extLst>
          </p:cNvPr>
          <p:cNvSpPr/>
          <p:nvPr/>
        </p:nvSpPr>
        <p:spPr>
          <a:xfrm>
            <a:off x="-4042660" y="229501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1195A46-4207-921D-A39F-D4DE174C5333}"/>
              </a:ext>
            </a:extLst>
          </p:cNvPr>
          <p:cNvSpPr/>
          <p:nvPr/>
        </p:nvSpPr>
        <p:spPr>
          <a:xfrm>
            <a:off x="-4042660" y="229501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8211153-7657-B2C1-82E5-4141BA523F73}"/>
              </a:ext>
            </a:extLst>
          </p:cNvPr>
          <p:cNvSpPr/>
          <p:nvPr/>
        </p:nvSpPr>
        <p:spPr>
          <a:xfrm>
            <a:off x="-4063701" y="3715882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Attention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هایبرید</a:t>
            </a:r>
          </a:p>
          <a:p>
            <a:pPr algn="ctr" rtl="1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070B4FF-C5D0-3B9F-0FE2-37F182A3DCD1}"/>
              </a:ext>
            </a:extLst>
          </p:cNvPr>
          <p:cNvSpPr/>
          <p:nvPr/>
        </p:nvSpPr>
        <p:spPr>
          <a:xfrm>
            <a:off x="-4065692" y="289483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4.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F5561A2-96F0-C475-3DF4-7AD033E5A368}"/>
              </a:ext>
            </a:extLst>
          </p:cNvPr>
          <p:cNvSpPr/>
          <p:nvPr/>
        </p:nvSpPr>
        <p:spPr>
          <a:xfrm>
            <a:off x="9525000" y="2542451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CNN</a:t>
            </a:r>
          </a:p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Transfer Learning</a:t>
            </a:r>
          </a:p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Ensemble Learning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4CC52F9-EEA6-E48F-61EA-914B97574202}"/>
              </a:ext>
            </a:extLst>
          </p:cNvPr>
          <p:cNvSpPr/>
          <p:nvPr/>
        </p:nvSpPr>
        <p:spPr>
          <a:xfrm>
            <a:off x="9854429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A3174E5-E8D4-CC4C-CAE1-2D3AFFFCD554}"/>
              </a:ext>
            </a:extLst>
          </p:cNvPr>
          <p:cNvSpPr/>
          <p:nvPr/>
        </p:nvSpPr>
        <p:spPr>
          <a:xfrm>
            <a:off x="3467107" y="1916398"/>
            <a:ext cx="5789524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3200" dirty="0">
                <a:cs typeface="2  Koodak" panose="00000700000000000000" pitchFamily="2" charset="-78"/>
              </a:rPr>
              <a:t>Convolutional Neural Network</a:t>
            </a:r>
            <a:r>
              <a:rPr lang="fa-IR" sz="3200" dirty="0">
                <a:cs typeface="2  Koodak" panose="00000700000000000000" pitchFamily="2" charset="-78"/>
              </a:rPr>
              <a:t>:</a:t>
            </a:r>
            <a:endParaRPr lang="en-US" sz="4800" b="1" dirty="0">
              <a:cs typeface="2  Koodak" panose="00000700000000000000" pitchFamily="2" charset="-78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76EE169-181C-2D0A-C59F-FEA775789A28}"/>
              </a:ext>
            </a:extLst>
          </p:cNvPr>
          <p:cNvCxnSpPr/>
          <p:nvPr/>
        </p:nvCxnSpPr>
        <p:spPr>
          <a:xfrm>
            <a:off x="9599216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796259E-396F-2E15-89B6-36701E26850A}"/>
              </a:ext>
            </a:extLst>
          </p:cNvPr>
          <p:cNvSpPr/>
          <p:nvPr/>
        </p:nvSpPr>
        <p:spPr>
          <a:xfrm>
            <a:off x="2316103" y="2395441"/>
            <a:ext cx="6850442" cy="245038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dirty="0">
                <a:cs typeface="2  Koodak" panose="00000700000000000000" pitchFamily="2" charset="-78"/>
              </a:rPr>
              <a:t>شبکه‌های عصبی کانولوشنی برای تحلیل تصاویر طراحی شده‌اند و ویژگی‌ها را به صورت سلسله‌مراتبی استخراج می‌کنند.</a:t>
            </a:r>
            <a:endParaRPr lang="en-US" dirty="0">
              <a:cs typeface="2  Koodak" panose="00000700000000000000" pitchFamily="2" charset="-78"/>
            </a:endParaRPr>
          </a:p>
          <a:p>
            <a:pPr marL="342900" indent="-34290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dirty="0">
              <a:cs typeface="2  Koodak" panose="00000700000000000000" pitchFamily="2" charset="-78"/>
            </a:endParaRPr>
          </a:p>
          <a:p>
            <a:pPr marL="342900" indent="-34290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dirty="0">
              <a:cs typeface="2  Koodak" panose="00000700000000000000" pitchFamily="2" charset="-78"/>
            </a:endParaRPr>
          </a:p>
          <a:p>
            <a:pPr marL="342900" indent="-34290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fa-IR" dirty="0">
              <a:cs typeface="2  Koodak" panose="000007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70A934-5D8A-D2DC-2E2A-D474EAA6D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7" y="3540098"/>
            <a:ext cx="5910276" cy="239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51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0E5CB-3C3A-1C59-8E95-62084C1EA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D82A27C-C9F0-B745-D9B3-997717A19E90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512516-7018-7800-E6F6-3D6A1FFBC7AC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76A31E-298F-A266-6479-375ADB698428}"/>
              </a:ext>
            </a:extLst>
          </p:cNvPr>
          <p:cNvSpPr/>
          <p:nvPr/>
        </p:nvSpPr>
        <p:spPr>
          <a:xfrm>
            <a:off x="7534275" y="264316"/>
            <a:ext cx="3152814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1876D15-426A-9D2D-DEFB-66F96F93EAFF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24E209-588C-0AFA-61F6-5F47F4608190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A6CFFB0-2C54-A2BB-8138-38B4A0778472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9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62C1848-F556-43BC-23CD-C7790D55CC86}"/>
              </a:ext>
            </a:extLst>
          </p:cNvPr>
          <p:cNvSpPr/>
          <p:nvPr/>
        </p:nvSpPr>
        <p:spPr>
          <a:xfrm>
            <a:off x="10972683" y="282570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B6D3922-9B24-9E00-BFAD-5FDD6C357670}"/>
              </a:ext>
            </a:extLst>
          </p:cNvPr>
          <p:cNvSpPr/>
          <p:nvPr/>
        </p:nvSpPr>
        <p:spPr>
          <a:xfrm>
            <a:off x="9686926" y="264316"/>
            <a:ext cx="1000164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4B0A33D-EE6D-8D0F-901B-FD90B1607F2E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CCBE305-DFFD-8E22-774D-5FDD339A9964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B9C8C1-C60F-B1D8-C619-BD4C1FBF8F84}"/>
              </a:ext>
            </a:extLst>
          </p:cNvPr>
          <p:cNvSpPr/>
          <p:nvPr/>
        </p:nvSpPr>
        <p:spPr>
          <a:xfrm>
            <a:off x="7486649" y="264316"/>
            <a:ext cx="2562266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مرور پژوهش‌های انجام شده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58575FF-9593-7B48-FA88-ADDD22D0641C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4F65345-28AA-7BAD-9CB1-A9194FA6E022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84DA7DA-B3DF-50A1-A275-9BD6604DE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B364C7-5D61-9FE3-D465-59472B6E4D56}"/>
              </a:ext>
            </a:extLst>
          </p:cNvPr>
          <p:cNvSpPr/>
          <p:nvPr/>
        </p:nvSpPr>
        <p:spPr>
          <a:xfrm>
            <a:off x="1714501" y="1523047"/>
            <a:ext cx="9458246" cy="4592478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D57907-6F18-3F84-1E3E-8855944ED669}"/>
              </a:ext>
            </a:extLst>
          </p:cNvPr>
          <p:cNvSpPr/>
          <p:nvPr/>
        </p:nvSpPr>
        <p:spPr>
          <a:xfrm>
            <a:off x="8553372" y="222605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CBD0DA3-5C51-115B-3119-CCCC270853A3}"/>
              </a:ext>
            </a:extLst>
          </p:cNvPr>
          <p:cNvSpPr/>
          <p:nvPr/>
        </p:nvSpPr>
        <p:spPr>
          <a:xfrm>
            <a:off x="11669961" y="229502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4D9A9C1-EFEB-0C37-46DB-77D4669729F2}"/>
              </a:ext>
            </a:extLst>
          </p:cNvPr>
          <p:cNvSpPr/>
          <p:nvPr/>
        </p:nvSpPr>
        <p:spPr>
          <a:xfrm>
            <a:off x="11669961" y="22950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1213957-2E8A-F669-6C64-B3D663A862F5}"/>
              </a:ext>
            </a:extLst>
          </p:cNvPr>
          <p:cNvSpPr/>
          <p:nvPr/>
        </p:nvSpPr>
        <p:spPr>
          <a:xfrm>
            <a:off x="11648920" y="371588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پردازش تصویر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روش‌های کلاسیک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A29CD26-9EEA-1EE0-0239-9F5873D39237}"/>
              </a:ext>
            </a:extLst>
          </p:cNvPr>
          <p:cNvSpPr/>
          <p:nvPr/>
        </p:nvSpPr>
        <p:spPr>
          <a:xfrm>
            <a:off x="11646929" y="289483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C3CCFF4-BB83-FF30-47BE-5C53F0C42C86}"/>
              </a:ext>
            </a:extLst>
          </p:cNvPr>
          <p:cNvSpPr/>
          <p:nvPr/>
        </p:nvSpPr>
        <p:spPr>
          <a:xfrm>
            <a:off x="-1240319" y="22950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70E6D87-A85E-5D82-B20C-6B1C44C34229}"/>
              </a:ext>
            </a:extLst>
          </p:cNvPr>
          <p:cNvSpPr/>
          <p:nvPr/>
        </p:nvSpPr>
        <p:spPr>
          <a:xfrm>
            <a:off x="-1240319" y="22950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4908F2E-EB47-8E84-BBB6-AB08B8EC102E}"/>
              </a:ext>
            </a:extLst>
          </p:cNvPr>
          <p:cNvSpPr/>
          <p:nvPr/>
        </p:nvSpPr>
        <p:spPr>
          <a:xfrm>
            <a:off x="-1261360" y="37158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تشخیص ناحیه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خانواده </a:t>
            </a:r>
            <a:r>
              <a:rPr lang="en-US" sz="2000" b="1" dirty="0">
                <a:cs typeface="2  Bardiya" panose="00000400000000000000" pitchFamily="2" charset="-78"/>
              </a:rPr>
              <a:t>YOLO</a:t>
            </a:r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B826A56-1738-1A00-DED9-04AC4CF19EEA}"/>
              </a:ext>
            </a:extLst>
          </p:cNvPr>
          <p:cNvSpPr/>
          <p:nvPr/>
        </p:nvSpPr>
        <p:spPr>
          <a:xfrm>
            <a:off x="-1263351" y="28948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68AD59C-6A0F-4D6B-24C3-EEC62870F549}"/>
              </a:ext>
            </a:extLst>
          </p:cNvPr>
          <p:cNvSpPr/>
          <p:nvPr/>
        </p:nvSpPr>
        <p:spPr>
          <a:xfrm>
            <a:off x="9525000" y="2542451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CNN</a:t>
            </a:r>
          </a:p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Transfer Learning</a:t>
            </a:r>
          </a:p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Ensemble Learning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A2BD684-6F57-516C-34C0-30EA61D9F97E}"/>
              </a:ext>
            </a:extLst>
          </p:cNvPr>
          <p:cNvSpPr/>
          <p:nvPr/>
        </p:nvSpPr>
        <p:spPr>
          <a:xfrm>
            <a:off x="9854429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6A30AC5-49F2-5DFA-B4B0-CC357B38F132}"/>
              </a:ext>
            </a:extLst>
          </p:cNvPr>
          <p:cNvSpPr/>
          <p:nvPr/>
        </p:nvSpPr>
        <p:spPr>
          <a:xfrm>
            <a:off x="3467107" y="1916398"/>
            <a:ext cx="5789524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3200" dirty="0">
                <a:cs typeface="2  Koodak" panose="00000700000000000000" pitchFamily="2" charset="-78"/>
              </a:rPr>
              <a:t>Convolutional Neural Network</a:t>
            </a:r>
            <a:r>
              <a:rPr lang="fa-IR" sz="3200" dirty="0">
                <a:cs typeface="2  Koodak" panose="00000700000000000000" pitchFamily="2" charset="-78"/>
              </a:rPr>
              <a:t>:</a:t>
            </a:r>
            <a:endParaRPr lang="en-US" sz="4800" b="1" dirty="0">
              <a:cs typeface="2  Koodak" panose="00000700000000000000" pitchFamily="2" charset="-78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40294D9-5737-97D3-63FA-F4F7F953BCAA}"/>
              </a:ext>
            </a:extLst>
          </p:cNvPr>
          <p:cNvCxnSpPr/>
          <p:nvPr/>
        </p:nvCxnSpPr>
        <p:spPr>
          <a:xfrm>
            <a:off x="9599216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2F42AAD-B184-6BD0-4AC4-88CFB59D64E3}"/>
              </a:ext>
            </a:extLst>
          </p:cNvPr>
          <p:cNvSpPr/>
          <p:nvPr/>
        </p:nvSpPr>
        <p:spPr>
          <a:xfrm>
            <a:off x="2380794" y="2542451"/>
            <a:ext cx="6850442" cy="271534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dirty="0">
                <a:cs typeface="2  Koodak" panose="00000700000000000000" pitchFamily="2" charset="-78"/>
              </a:rPr>
              <a:t>شبکه‌های عصبی کانولوشنی برای تحلیل تصاویر طراحی شده‌اند و ویژگی‌ها را به صورت سلسله‌مراتبی استخراج می‌کنند.</a:t>
            </a:r>
            <a:endParaRPr lang="en-US" dirty="0"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cs typeface="2  Koodak" panose="00000700000000000000" pitchFamily="2" charset="-78"/>
              </a:rPr>
              <a:t>مزایا در تشخیص بیماری گیاهان:</a:t>
            </a:r>
            <a:endParaRPr lang="fa-IR" dirty="0">
              <a:cs typeface="2  Koodak" panose="00000700000000000000" pitchFamily="2" charset="-78"/>
            </a:endParaRP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dirty="0">
                <a:cs typeface="2  Koodak" panose="00000700000000000000" pitchFamily="2" charset="-78"/>
              </a:rPr>
              <a:t>یادگیری خودکار ویژگی‌ها بدون نیاز به استخراج دستی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dirty="0">
                <a:cs typeface="2  Koodak" panose="00000700000000000000" pitchFamily="2" charset="-78"/>
              </a:rPr>
              <a:t>مقاوم در برابر تغییرات نور، زاویه و پس‌زمینه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dirty="0">
                <a:cs typeface="2  Koodak" panose="00000700000000000000" pitchFamily="2" charset="-78"/>
              </a:rPr>
              <a:t>مناسب برای داده‌های کنترل‌شده</a:t>
            </a:r>
          </a:p>
        </p:txBody>
      </p:sp>
    </p:spTree>
    <p:extLst>
      <p:ext uri="{BB962C8B-B14F-4D97-AF65-F5344CB8AC3E}">
        <p14:creationId xmlns:p14="http://schemas.microsoft.com/office/powerpoint/2010/main" val="3395203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36823-B097-7625-06CA-72DC5DFD7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194DA7-B458-2338-AA9C-8C2BEFE8A812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5E3B8A-6E0F-B6A8-B36F-12539EA3F21F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3D3A594-315B-B56E-7518-D84D8E072C8C}"/>
              </a:ext>
            </a:extLst>
          </p:cNvPr>
          <p:cNvSpPr/>
          <p:nvPr/>
        </p:nvSpPr>
        <p:spPr>
          <a:xfrm>
            <a:off x="7534275" y="264316"/>
            <a:ext cx="3152814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E91E1A-B542-8526-60CC-EFFC6417D0F7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2DC9DE-383B-A154-2024-0A31F9BA37A1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5097C69-FD85-2280-D0AB-4EBACC8D4468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9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6BC57A-6030-4D9C-379E-F8D6F9F9752D}"/>
              </a:ext>
            </a:extLst>
          </p:cNvPr>
          <p:cNvSpPr/>
          <p:nvPr/>
        </p:nvSpPr>
        <p:spPr>
          <a:xfrm>
            <a:off x="10972683" y="282570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BF247C0-9E13-D05D-503F-411438F2C33A}"/>
              </a:ext>
            </a:extLst>
          </p:cNvPr>
          <p:cNvSpPr/>
          <p:nvPr/>
        </p:nvSpPr>
        <p:spPr>
          <a:xfrm>
            <a:off x="9686926" y="264316"/>
            <a:ext cx="1000164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64D6F6-6ABB-3896-88AE-E1CE6D8A7366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AC7B4C9-773D-C94D-5EB4-C1262167A658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E13BA8-F718-F438-B607-5C2AFFE1EEF0}"/>
              </a:ext>
            </a:extLst>
          </p:cNvPr>
          <p:cNvSpPr/>
          <p:nvPr/>
        </p:nvSpPr>
        <p:spPr>
          <a:xfrm>
            <a:off x="7486649" y="264316"/>
            <a:ext cx="2562266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مرور پژوهش‌های انجام شده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847330-CE0F-2AB8-6438-8B669E6DD098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A8412C6-60FB-1EAC-69D3-1F4F2602B46A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DA857E-1A48-B407-B20F-4E90A22F4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5AF8B5-9E71-2D13-C2EC-921171EF7844}"/>
              </a:ext>
            </a:extLst>
          </p:cNvPr>
          <p:cNvSpPr/>
          <p:nvPr/>
        </p:nvSpPr>
        <p:spPr>
          <a:xfrm>
            <a:off x="1714501" y="1523047"/>
            <a:ext cx="9458246" cy="4592478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8B7F07-5BEC-290F-A54B-69677A138513}"/>
              </a:ext>
            </a:extLst>
          </p:cNvPr>
          <p:cNvSpPr/>
          <p:nvPr/>
        </p:nvSpPr>
        <p:spPr>
          <a:xfrm>
            <a:off x="8553372" y="222605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B9EF647-D0D4-9B6A-7DFD-864466C38C69}"/>
              </a:ext>
            </a:extLst>
          </p:cNvPr>
          <p:cNvSpPr/>
          <p:nvPr/>
        </p:nvSpPr>
        <p:spPr>
          <a:xfrm>
            <a:off x="11669961" y="229502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20F849B-EA13-26E9-522B-6A144EAE0F46}"/>
              </a:ext>
            </a:extLst>
          </p:cNvPr>
          <p:cNvSpPr/>
          <p:nvPr/>
        </p:nvSpPr>
        <p:spPr>
          <a:xfrm>
            <a:off x="11669961" y="22950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009F074-8623-60E4-2CC7-4171CB5B10C3}"/>
              </a:ext>
            </a:extLst>
          </p:cNvPr>
          <p:cNvSpPr/>
          <p:nvPr/>
        </p:nvSpPr>
        <p:spPr>
          <a:xfrm>
            <a:off x="11648920" y="371588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پردازش تصویر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روش‌های کلاسیک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F9A036C-148C-0316-D3C5-61CFC1E572F5}"/>
              </a:ext>
            </a:extLst>
          </p:cNvPr>
          <p:cNvSpPr/>
          <p:nvPr/>
        </p:nvSpPr>
        <p:spPr>
          <a:xfrm>
            <a:off x="11646929" y="289483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D28C21E-EA9C-9190-260E-E09ADE57A77D}"/>
              </a:ext>
            </a:extLst>
          </p:cNvPr>
          <p:cNvSpPr/>
          <p:nvPr/>
        </p:nvSpPr>
        <p:spPr>
          <a:xfrm>
            <a:off x="-1240319" y="22950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CAAE7D8-331E-CAD8-42C7-F16B5D6963B0}"/>
              </a:ext>
            </a:extLst>
          </p:cNvPr>
          <p:cNvSpPr/>
          <p:nvPr/>
        </p:nvSpPr>
        <p:spPr>
          <a:xfrm>
            <a:off x="-1240319" y="22950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625B1A4-9B0C-BDA6-B371-85637C47ED99}"/>
              </a:ext>
            </a:extLst>
          </p:cNvPr>
          <p:cNvSpPr/>
          <p:nvPr/>
        </p:nvSpPr>
        <p:spPr>
          <a:xfrm>
            <a:off x="-1261360" y="37158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تشخیص ناحیه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خانواده </a:t>
            </a:r>
            <a:r>
              <a:rPr lang="en-US" sz="2000" b="1" dirty="0">
                <a:cs typeface="2  Bardiya" panose="00000400000000000000" pitchFamily="2" charset="-78"/>
              </a:rPr>
              <a:t>YOLO</a:t>
            </a:r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218B837-D86E-0244-535E-7AF97B38C0DE}"/>
              </a:ext>
            </a:extLst>
          </p:cNvPr>
          <p:cNvSpPr/>
          <p:nvPr/>
        </p:nvSpPr>
        <p:spPr>
          <a:xfrm>
            <a:off x="-1263351" y="28948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4D13809-9ED0-06F3-2A57-C543072815E5}"/>
              </a:ext>
            </a:extLst>
          </p:cNvPr>
          <p:cNvSpPr/>
          <p:nvPr/>
        </p:nvSpPr>
        <p:spPr>
          <a:xfrm>
            <a:off x="9525000" y="2542451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CNN</a:t>
            </a:r>
          </a:p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Transfer Learning</a:t>
            </a:r>
          </a:p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Ensemble Learning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5D09E33-7B73-629C-BD21-3B92AF06B2A7}"/>
              </a:ext>
            </a:extLst>
          </p:cNvPr>
          <p:cNvSpPr/>
          <p:nvPr/>
        </p:nvSpPr>
        <p:spPr>
          <a:xfrm>
            <a:off x="9854429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12E61B1-5B8F-F3C0-8C7A-FFF7E823F25B}"/>
              </a:ext>
            </a:extLst>
          </p:cNvPr>
          <p:cNvSpPr/>
          <p:nvPr/>
        </p:nvSpPr>
        <p:spPr>
          <a:xfrm>
            <a:off x="5753099" y="1916398"/>
            <a:ext cx="3503531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3200" dirty="0">
                <a:cs typeface="2  Koodak" panose="00000700000000000000" pitchFamily="2" charset="-78"/>
              </a:rPr>
              <a:t>Transfer Learning</a:t>
            </a:r>
            <a:r>
              <a:rPr lang="fa-IR" sz="3200" dirty="0">
                <a:cs typeface="2  Koodak" panose="00000700000000000000" pitchFamily="2" charset="-78"/>
              </a:rPr>
              <a:t>:</a:t>
            </a:r>
            <a:endParaRPr lang="en-US" sz="4800" b="1" dirty="0">
              <a:cs typeface="2  Koodak" panose="00000700000000000000" pitchFamily="2" charset="-78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ECFBF7D-A02D-424B-F8E6-384A88457737}"/>
              </a:ext>
            </a:extLst>
          </p:cNvPr>
          <p:cNvCxnSpPr/>
          <p:nvPr/>
        </p:nvCxnSpPr>
        <p:spPr>
          <a:xfrm>
            <a:off x="9599216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760E3D1-2906-D682-04F9-B74A989B3A6E}"/>
              </a:ext>
            </a:extLst>
          </p:cNvPr>
          <p:cNvSpPr/>
          <p:nvPr/>
        </p:nvSpPr>
        <p:spPr>
          <a:xfrm>
            <a:off x="2355238" y="2542451"/>
            <a:ext cx="7131211" cy="271534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sz="1700" b="1" dirty="0">
                <a:cs typeface="2  Koodak" panose="00000700000000000000" pitchFamily="2" charset="-78"/>
              </a:rPr>
              <a:t>داده‌های گیاهی کوچک، نامتوازن و محدود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sz="1700" b="1" dirty="0">
                <a:cs typeface="2  Koodak" panose="00000700000000000000" pitchFamily="2" charset="-78"/>
              </a:rPr>
              <a:t>استفاده از مدل‌های پیش‌آموزش‌دیده روی مجموعه‌های بزرگ مانند </a:t>
            </a:r>
            <a:r>
              <a:rPr lang="en-US" sz="1700" b="1" dirty="0">
                <a:cs typeface="2  Koodak" panose="00000700000000000000" pitchFamily="2" charset="-78"/>
              </a:rPr>
              <a:t>ImageNet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700" b="1" dirty="0">
                <a:cs typeface="2  Koodak" panose="00000700000000000000" pitchFamily="2" charset="-78"/>
              </a:rPr>
              <a:t>Fine-Tune</a:t>
            </a:r>
            <a:r>
              <a:rPr lang="fa-IR" sz="1700" b="1" dirty="0">
                <a:cs typeface="2  Koodak" panose="00000700000000000000" pitchFamily="2" charset="-78"/>
              </a:rPr>
              <a:t> کردن مدل‌ها روی داده‌های گیاهی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sz="1700" b="1" dirty="0">
                <a:cs typeface="2  Koodak" panose="00000700000000000000" pitchFamily="2" charset="-78"/>
              </a:rPr>
              <a:t>مزایا:</a:t>
            </a: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sz="1700" b="1" dirty="0">
                <a:cs typeface="2  Koodak" panose="00000700000000000000" pitchFamily="2" charset="-78"/>
              </a:rPr>
              <a:t>کاهش زمان آموزش</a:t>
            </a: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sz="1700" b="1" dirty="0">
                <a:cs typeface="2  Koodak" panose="00000700000000000000" pitchFamily="2" charset="-78"/>
              </a:rPr>
              <a:t>افزایش دقت پیش‌بینی</a:t>
            </a: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sz="1700" b="1" dirty="0">
                <a:cs typeface="2  Koodak" panose="00000700000000000000" pitchFamily="2" charset="-78"/>
              </a:rPr>
              <a:t>استفاده از ویژگی‌های پایه مانند لبه‌ها، رنگ‌ها و بافت‌ها که قبلاً یاد گرفته شده‌اند</a:t>
            </a:r>
          </a:p>
        </p:txBody>
      </p:sp>
    </p:spTree>
    <p:extLst>
      <p:ext uri="{BB962C8B-B14F-4D97-AF65-F5344CB8AC3E}">
        <p14:creationId xmlns:p14="http://schemas.microsoft.com/office/powerpoint/2010/main" val="3966270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3E0AD-90F6-7094-BADF-0BD3C1662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60CBA3-167B-584A-A56C-446911FD06D7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1454B3-E703-B499-8C4E-59183763786D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2DE57E5-81C9-B51D-1366-32909D6D49A6}"/>
              </a:ext>
            </a:extLst>
          </p:cNvPr>
          <p:cNvSpPr/>
          <p:nvPr/>
        </p:nvSpPr>
        <p:spPr>
          <a:xfrm>
            <a:off x="7534275" y="264316"/>
            <a:ext cx="3152814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4EC954E-A35A-DBDA-C417-C10613740FC3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88A205-4938-1AE9-4D91-3ABF2A0F0D4B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B961DD-F956-16F7-4917-877A98EFDDCD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9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D9F3ACE-F947-B31A-2571-CB5048389A75}"/>
              </a:ext>
            </a:extLst>
          </p:cNvPr>
          <p:cNvSpPr/>
          <p:nvPr/>
        </p:nvSpPr>
        <p:spPr>
          <a:xfrm>
            <a:off x="10972683" y="282570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6A134AE-3F91-3209-1813-F11C9B4E9987}"/>
              </a:ext>
            </a:extLst>
          </p:cNvPr>
          <p:cNvSpPr/>
          <p:nvPr/>
        </p:nvSpPr>
        <p:spPr>
          <a:xfrm>
            <a:off x="9686926" y="264316"/>
            <a:ext cx="1000164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0981B53-7963-4CE7-A27D-F9E88F170BFF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E72F7B2-ABD3-9F15-FE3E-5AF21B7157E4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61BC4CB-ABF6-AC36-6D0C-8EB4FF4D29A3}"/>
              </a:ext>
            </a:extLst>
          </p:cNvPr>
          <p:cNvSpPr/>
          <p:nvPr/>
        </p:nvSpPr>
        <p:spPr>
          <a:xfrm>
            <a:off x="7486649" y="264316"/>
            <a:ext cx="2562266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مرور پژوهش‌های انجام شده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E89CBD7-1AB0-A399-42D2-66633F33F6BA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55076B9-208B-9CCD-35FD-B353A3F8A6FE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6138163-1086-374B-D1ED-F60438184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0C67B3-3954-EDC6-A230-5A2EF4032EA1}"/>
              </a:ext>
            </a:extLst>
          </p:cNvPr>
          <p:cNvSpPr/>
          <p:nvPr/>
        </p:nvSpPr>
        <p:spPr>
          <a:xfrm>
            <a:off x="1714501" y="1523047"/>
            <a:ext cx="9458246" cy="4592478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EE966B-5434-0BAE-D715-E2A7AF49900C}"/>
              </a:ext>
            </a:extLst>
          </p:cNvPr>
          <p:cNvSpPr/>
          <p:nvPr/>
        </p:nvSpPr>
        <p:spPr>
          <a:xfrm>
            <a:off x="8553372" y="222605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587C8CD-FCC6-CD31-4F92-F531DB5CFDB2}"/>
              </a:ext>
            </a:extLst>
          </p:cNvPr>
          <p:cNvSpPr/>
          <p:nvPr/>
        </p:nvSpPr>
        <p:spPr>
          <a:xfrm>
            <a:off x="11669961" y="229502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A011369-EF11-22CE-F20E-F5F342931C6F}"/>
              </a:ext>
            </a:extLst>
          </p:cNvPr>
          <p:cNvSpPr/>
          <p:nvPr/>
        </p:nvSpPr>
        <p:spPr>
          <a:xfrm>
            <a:off x="11669961" y="22950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C06547D-F085-AC33-6C94-8CB7A53709EB}"/>
              </a:ext>
            </a:extLst>
          </p:cNvPr>
          <p:cNvSpPr/>
          <p:nvPr/>
        </p:nvSpPr>
        <p:spPr>
          <a:xfrm>
            <a:off x="11648920" y="371588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پردازش تصویر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روش‌های کلاسیک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8CFB409-D338-1711-08C8-96AD22870D84}"/>
              </a:ext>
            </a:extLst>
          </p:cNvPr>
          <p:cNvSpPr/>
          <p:nvPr/>
        </p:nvSpPr>
        <p:spPr>
          <a:xfrm>
            <a:off x="11646929" y="289483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8F59B98-2C41-2234-C684-05D13F9CE255}"/>
              </a:ext>
            </a:extLst>
          </p:cNvPr>
          <p:cNvSpPr/>
          <p:nvPr/>
        </p:nvSpPr>
        <p:spPr>
          <a:xfrm>
            <a:off x="-1240319" y="22950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731A3C2-26D9-58ED-C227-DA41C50FF2B4}"/>
              </a:ext>
            </a:extLst>
          </p:cNvPr>
          <p:cNvSpPr/>
          <p:nvPr/>
        </p:nvSpPr>
        <p:spPr>
          <a:xfrm>
            <a:off x="-1240319" y="22950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D26920E-08D5-4DA6-2C15-DE3E672D8453}"/>
              </a:ext>
            </a:extLst>
          </p:cNvPr>
          <p:cNvSpPr/>
          <p:nvPr/>
        </p:nvSpPr>
        <p:spPr>
          <a:xfrm>
            <a:off x="-1261360" y="37158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تشخیص ناحیه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خانواده </a:t>
            </a:r>
            <a:r>
              <a:rPr lang="en-US" sz="2000" b="1" dirty="0">
                <a:cs typeface="2  Bardiya" panose="00000400000000000000" pitchFamily="2" charset="-78"/>
              </a:rPr>
              <a:t>YOLO</a:t>
            </a:r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D3CFE09-A71C-598E-A23C-FE532500043B}"/>
              </a:ext>
            </a:extLst>
          </p:cNvPr>
          <p:cNvSpPr/>
          <p:nvPr/>
        </p:nvSpPr>
        <p:spPr>
          <a:xfrm>
            <a:off x="-1263351" y="28948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2E94FCA-00EF-C55B-736F-032870E26A23}"/>
              </a:ext>
            </a:extLst>
          </p:cNvPr>
          <p:cNvSpPr/>
          <p:nvPr/>
        </p:nvSpPr>
        <p:spPr>
          <a:xfrm>
            <a:off x="9525000" y="2542451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CNN</a:t>
            </a:r>
          </a:p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Transfer Learning</a:t>
            </a:r>
          </a:p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Ensemble Learning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011DAEE-E08F-4532-1B41-3E7994EA2813}"/>
              </a:ext>
            </a:extLst>
          </p:cNvPr>
          <p:cNvSpPr/>
          <p:nvPr/>
        </p:nvSpPr>
        <p:spPr>
          <a:xfrm>
            <a:off x="9854429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CABDCB6-FC5F-9076-B991-A21F9B7E32C0}"/>
              </a:ext>
            </a:extLst>
          </p:cNvPr>
          <p:cNvSpPr/>
          <p:nvPr/>
        </p:nvSpPr>
        <p:spPr>
          <a:xfrm>
            <a:off x="5572127" y="1916398"/>
            <a:ext cx="3684504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3200" dirty="0">
                <a:cs typeface="2  Koodak" panose="00000700000000000000" pitchFamily="2" charset="-78"/>
              </a:rPr>
              <a:t>Ensemble Learning</a:t>
            </a:r>
            <a:r>
              <a:rPr lang="fa-IR" sz="3200" dirty="0">
                <a:cs typeface="2  Koodak" panose="00000700000000000000" pitchFamily="2" charset="-78"/>
              </a:rPr>
              <a:t>:</a:t>
            </a:r>
            <a:endParaRPr lang="en-US" sz="4800" b="1" dirty="0">
              <a:cs typeface="2  Koodak" panose="00000700000000000000" pitchFamily="2" charset="-78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E965AD4-A9D1-F42D-7673-4F0334ED21BF}"/>
              </a:ext>
            </a:extLst>
          </p:cNvPr>
          <p:cNvCxnSpPr/>
          <p:nvPr/>
        </p:nvCxnSpPr>
        <p:spPr>
          <a:xfrm>
            <a:off x="9599216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EF7672C-A35C-0E94-D4C6-9E52832F44BA}"/>
              </a:ext>
            </a:extLst>
          </p:cNvPr>
          <p:cNvSpPr/>
          <p:nvPr/>
        </p:nvSpPr>
        <p:spPr>
          <a:xfrm>
            <a:off x="2076450" y="2018576"/>
            <a:ext cx="7409999" cy="329679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dirty="0">
                <a:cs typeface="2  Koodak" panose="00000700000000000000" pitchFamily="2" charset="-78"/>
              </a:rPr>
              <a:t>ترکیب چند مدل مختلف </a:t>
            </a:r>
            <a:r>
              <a:rPr lang="en-US" dirty="0">
                <a:cs typeface="2  Koodak" panose="00000700000000000000" pitchFamily="2" charset="-78"/>
              </a:rPr>
              <a:t>CNN</a:t>
            </a:r>
            <a:r>
              <a:rPr lang="fa-IR" dirty="0">
                <a:cs typeface="2  Koodak" panose="00000700000000000000" pitchFamily="2" charset="-78"/>
              </a:rPr>
              <a:t> برای افزایش دقت و پایداری سیستم</a:t>
            </a:r>
            <a:endParaRPr lang="en-US" dirty="0">
              <a:cs typeface="2  Koodak" panose="00000700000000000000" pitchFamily="2" charset="-78"/>
            </a:endParaRP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cs typeface="2  Koodak" panose="00000700000000000000" pitchFamily="2" charset="-78"/>
              </a:rPr>
              <a:t>مزایا:</a:t>
            </a: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dirty="0">
                <a:cs typeface="2  Koodak" panose="00000700000000000000" pitchFamily="2" charset="-78"/>
              </a:rPr>
              <a:t>مدل‌های مختلف ویژگی‌های متفاوتی از تصویر را می‌آموزند</a:t>
            </a: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dirty="0">
                <a:cs typeface="2  Koodak" panose="00000700000000000000" pitchFamily="2" charset="-78"/>
              </a:rPr>
              <a:t>ترکیب مدل‌ها خطا و نوسان را کاهش می‌دهد</a:t>
            </a: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dirty="0">
                <a:cs typeface="2  Koodak" panose="00000700000000000000" pitchFamily="2" charset="-78"/>
              </a:rPr>
              <a:t>مناسب برای داده‌های واقعی با تنوع زیاد و بیماری‌های مشابه</a:t>
            </a:r>
          </a:p>
        </p:txBody>
      </p:sp>
    </p:spTree>
    <p:extLst>
      <p:ext uri="{BB962C8B-B14F-4D97-AF65-F5344CB8AC3E}">
        <p14:creationId xmlns:p14="http://schemas.microsoft.com/office/powerpoint/2010/main" val="2980450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E7E5E-FFBA-6BEF-974C-82094F8DD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634D25D-7D8B-72CD-5822-261CDAFCED5C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977C73-F41C-2377-E061-358B20B75245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3DCF74-67B3-7716-348C-020972FB9FF0}"/>
              </a:ext>
            </a:extLst>
          </p:cNvPr>
          <p:cNvSpPr/>
          <p:nvPr/>
        </p:nvSpPr>
        <p:spPr>
          <a:xfrm>
            <a:off x="7534275" y="264316"/>
            <a:ext cx="3152814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5478D9-5D8C-BECE-6C26-10826247428B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8BABEAA-1D50-F8F1-4893-80304681A8C9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1230B3-97C8-D404-EB48-1B5DF134A3EE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10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46A2726-36AB-7403-BB56-13176B0811E6}"/>
              </a:ext>
            </a:extLst>
          </p:cNvPr>
          <p:cNvSpPr/>
          <p:nvPr/>
        </p:nvSpPr>
        <p:spPr>
          <a:xfrm>
            <a:off x="10972683" y="282570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A8CAF4F-994C-C7D9-9444-097FC7900FB6}"/>
              </a:ext>
            </a:extLst>
          </p:cNvPr>
          <p:cNvSpPr/>
          <p:nvPr/>
        </p:nvSpPr>
        <p:spPr>
          <a:xfrm>
            <a:off x="9686926" y="264316"/>
            <a:ext cx="1000164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8EB2CE3-BF8B-656F-6F17-5A7525CCD3AB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CBD100A-9170-B621-C743-03934C1228D1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E7C556-E526-7CCB-7FDA-0BF596F3C97B}"/>
              </a:ext>
            </a:extLst>
          </p:cNvPr>
          <p:cNvSpPr/>
          <p:nvPr/>
        </p:nvSpPr>
        <p:spPr>
          <a:xfrm>
            <a:off x="7486649" y="264316"/>
            <a:ext cx="2562266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مرور پژوهش‌های انجام شده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0B373B2-CE4E-5F5F-8D0A-B14BD361C1EB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7D4DD18-019B-1350-2639-A53E6E003F0B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EC34915-7DAC-E673-58D2-16A61C85C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521F5B-57EC-E1D2-4859-06C9F866F714}"/>
              </a:ext>
            </a:extLst>
          </p:cNvPr>
          <p:cNvSpPr/>
          <p:nvPr/>
        </p:nvSpPr>
        <p:spPr>
          <a:xfrm>
            <a:off x="7960831" y="216392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C7B5D9-100A-6D7F-940C-E0A82DE7EAA0}"/>
              </a:ext>
            </a:extLst>
          </p:cNvPr>
          <p:cNvSpPr/>
          <p:nvPr/>
        </p:nvSpPr>
        <p:spPr>
          <a:xfrm>
            <a:off x="7960831" y="21639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C6DBFD-D534-029D-9F8B-5FB7E07F5424}"/>
              </a:ext>
            </a:extLst>
          </p:cNvPr>
          <p:cNvSpPr/>
          <p:nvPr/>
        </p:nvSpPr>
        <p:spPr>
          <a:xfrm>
            <a:off x="7939790" y="358478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پردازش تصویر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روش‌های کلاسیک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3981B4F-1AFF-A321-ABAC-791B0D2C2A0A}"/>
              </a:ext>
            </a:extLst>
          </p:cNvPr>
          <p:cNvSpPr/>
          <p:nvPr/>
        </p:nvSpPr>
        <p:spPr>
          <a:xfrm>
            <a:off x="7937799" y="276373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09F3351-8BB8-5313-DF5A-E4B80C586967}"/>
              </a:ext>
            </a:extLst>
          </p:cNvPr>
          <p:cNvSpPr/>
          <p:nvPr/>
        </p:nvSpPr>
        <p:spPr>
          <a:xfrm>
            <a:off x="4855681" y="2163921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36E481-F51F-FDE7-BDF0-F1C017A711B4}"/>
              </a:ext>
            </a:extLst>
          </p:cNvPr>
          <p:cNvSpPr/>
          <p:nvPr/>
        </p:nvSpPr>
        <p:spPr>
          <a:xfrm>
            <a:off x="4855681" y="216392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0DFDA09-44E9-8FC9-A578-844922A7AEF4}"/>
              </a:ext>
            </a:extLst>
          </p:cNvPr>
          <p:cNvSpPr/>
          <p:nvPr/>
        </p:nvSpPr>
        <p:spPr>
          <a:xfrm>
            <a:off x="4753012" y="3584785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CNN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Transfer Learning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Ensemble Learning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2F4A2-DC2D-2BDF-4B4F-4163E5B4A2E8}"/>
              </a:ext>
            </a:extLst>
          </p:cNvPr>
          <p:cNvSpPr/>
          <p:nvPr/>
        </p:nvSpPr>
        <p:spPr>
          <a:xfrm>
            <a:off x="4832649" y="2763734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4945283-8418-53DC-69E1-2684668836A9}"/>
              </a:ext>
            </a:extLst>
          </p:cNvPr>
          <p:cNvSpPr/>
          <p:nvPr/>
        </p:nvSpPr>
        <p:spPr>
          <a:xfrm>
            <a:off x="1771572" y="21639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660A355-4064-B74F-3ED6-1FA1A8EF84A4}"/>
              </a:ext>
            </a:extLst>
          </p:cNvPr>
          <p:cNvSpPr/>
          <p:nvPr/>
        </p:nvSpPr>
        <p:spPr>
          <a:xfrm>
            <a:off x="177157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59942DD-13FA-B0B9-1B98-19613759744A}"/>
              </a:ext>
            </a:extLst>
          </p:cNvPr>
          <p:cNvSpPr/>
          <p:nvPr/>
        </p:nvSpPr>
        <p:spPr>
          <a:xfrm>
            <a:off x="1750531" y="35847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تشخیص ناحیه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خانواده </a:t>
            </a:r>
            <a:r>
              <a:rPr lang="en-US" sz="2000" b="1" dirty="0">
                <a:cs typeface="2  Bardiya" panose="00000400000000000000" pitchFamily="2" charset="-78"/>
              </a:rPr>
              <a:t>YOLO</a:t>
            </a:r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CAA20A5-47D0-E25F-E989-6520C10D5B1F}"/>
              </a:ext>
            </a:extLst>
          </p:cNvPr>
          <p:cNvSpPr/>
          <p:nvPr/>
        </p:nvSpPr>
        <p:spPr>
          <a:xfrm>
            <a:off x="1748540" y="27637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1A99ADC-692B-A8A2-8650-BD195FD18470}"/>
              </a:ext>
            </a:extLst>
          </p:cNvPr>
          <p:cNvSpPr/>
          <p:nvPr/>
        </p:nvSpPr>
        <p:spPr>
          <a:xfrm>
            <a:off x="68572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29892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5CD05-EF5C-010E-08DC-BACC54272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E52D72-6C79-973B-E241-B82628C9CDB9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891A8C-B91F-2E16-229E-118D60124DA9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29BD62D-6FF0-1B22-B6CF-0F54A784AC08}"/>
              </a:ext>
            </a:extLst>
          </p:cNvPr>
          <p:cNvSpPr/>
          <p:nvPr/>
        </p:nvSpPr>
        <p:spPr>
          <a:xfrm>
            <a:off x="7534275" y="264316"/>
            <a:ext cx="3152814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B7BF0D-5C9C-B02E-2086-A0D55BC21845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BE91C4-9D04-3728-6A72-43CB9642FAC9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DB30616-75BE-0B12-CF0E-FB8B727C3599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10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34E6497-28D7-4E5A-04BC-0557C6BBDF77}"/>
              </a:ext>
            </a:extLst>
          </p:cNvPr>
          <p:cNvSpPr/>
          <p:nvPr/>
        </p:nvSpPr>
        <p:spPr>
          <a:xfrm>
            <a:off x="10972683" y="282570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07FE491-DE8A-ABA8-2C3C-9F21A9D24742}"/>
              </a:ext>
            </a:extLst>
          </p:cNvPr>
          <p:cNvSpPr/>
          <p:nvPr/>
        </p:nvSpPr>
        <p:spPr>
          <a:xfrm>
            <a:off x="9686926" y="264316"/>
            <a:ext cx="1000164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9E0F974-574F-B120-6CFA-12ECAC582955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5FCD289-9AFE-D174-855C-EDF31A8A065A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2C6D2FF-EB97-5A5D-3688-3867650698D2}"/>
              </a:ext>
            </a:extLst>
          </p:cNvPr>
          <p:cNvSpPr/>
          <p:nvPr/>
        </p:nvSpPr>
        <p:spPr>
          <a:xfrm>
            <a:off x="7486649" y="264316"/>
            <a:ext cx="2562266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مرور پژوهش‌های انجام شده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407BBA-13BB-0B65-4F1E-468F56385C7F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3581FAE-8717-CAE4-B89B-0F5A184B9282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CB5E12-E60D-3882-EA4D-D819FF85C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E50B59-082F-B51C-7AB9-0E21DFB3FDEE}"/>
              </a:ext>
            </a:extLst>
          </p:cNvPr>
          <p:cNvSpPr/>
          <p:nvPr/>
        </p:nvSpPr>
        <p:spPr>
          <a:xfrm>
            <a:off x="14872680" y="2244307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B224A33-8A07-6F26-B3DE-F92D0F62624D}"/>
              </a:ext>
            </a:extLst>
          </p:cNvPr>
          <p:cNvSpPr/>
          <p:nvPr/>
        </p:nvSpPr>
        <p:spPr>
          <a:xfrm>
            <a:off x="14872680" y="2244306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02C2EE-5C16-2A38-B326-611344B0A811}"/>
              </a:ext>
            </a:extLst>
          </p:cNvPr>
          <p:cNvSpPr/>
          <p:nvPr/>
        </p:nvSpPr>
        <p:spPr>
          <a:xfrm>
            <a:off x="14851639" y="3665171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پردازش تصویر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روش‌های کلاسیک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2497C1C-A47C-8542-93A7-E3E2DAAFC053}"/>
              </a:ext>
            </a:extLst>
          </p:cNvPr>
          <p:cNvSpPr/>
          <p:nvPr/>
        </p:nvSpPr>
        <p:spPr>
          <a:xfrm>
            <a:off x="14849648" y="2844120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CDB7CDE-E188-791F-28F8-EC242677BBE9}"/>
              </a:ext>
            </a:extLst>
          </p:cNvPr>
          <p:cNvSpPr/>
          <p:nvPr/>
        </p:nvSpPr>
        <p:spPr>
          <a:xfrm>
            <a:off x="11767530" y="224430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26AE9CA-C371-B26C-1479-ACE3792D2B75}"/>
              </a:ext>
            </a:extLst>
          </p:cNvPr>
          <p:cNvSpPr/>
          <p:nvPr/>
        </p:nvSpPr>
        <p:spPr>
          <a:xfrm>
            <a:off x="11767530" y="224430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80758E6-3985-AE51-170E-BBCC1E0FBB65}"/>
              </a:ext>
            </a:extLst>
          </p:cNvPr>
          <p:cNvSpPr/>
          <p:nvPr/>
        </p:nvSpPr>
        <p:spPr>
          <a:xfrm>
            <a:off x="11664861" y="3665172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CNN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Transfer Learning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Ensemble Learning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ACA45AA-B02F-8048-7727-95BD6002EE45}"/>
              </a:ext>
            </a:extLst>
          </p:cNvPr>
          <p:cNvSpPr/>
          <p:nvPr/>
        </p:nvSpPr>
        <p:spPr>
          <a:xfrm>
            <a:off x="11744498" y="284412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CB1E2AF-F135-6E13-B3F9-CAFC979EE9C4}"/>
              </a:ext>
            </a:extLst>
          </p:cNvPr>
          <p:cNvSpPr/>
          <p:nvPr/>
        </p:nvSpPr>
        <p:spPr>
          <a:xfrm>
            <a:off x="1480457" y="1332583"/>
            <a:ext cx="9797143" cy="4849142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23446D5-072D-0155-F8B6-28DFCFA55287}"/>
              </a:ext>
            </a:extLst>
          </p:cNvPr>
          <p:cNvSpPr/>
          <p:nvPr/>
        </p:nvSpPr>
        <p:spPr>
          <a:xfrm>
            <a:off x="177157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2B85A09-1623-B4FC-73F6-6416B0269B07}"/>
              </a:ext>
            </a:extLst>
          </p:cNvPr>
          <p:cNvSpPr/>
          <p:nvPr/>
        </p:nvSpPr>
        <p:spPr>
          <a:xfrm>
            <a:off x="68572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69072D-AB14-9E8C-B78E-7DB2CF7483E6}"/>
              </a:ext>
            </a:extLst>
          </p:cNvPr>
          <p:cNvSpPr/>
          <p:nvPr/>
        </p:nvSpPr>
        <p:spPr>
          <a:xfrm>
            <a:off x="9525000" y="2542451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تشخیص ناحیه</a:t>
            </a: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خانواده </a:t>
            </a:r>
            <a:r>
              <a:rPr lang="en-US" sz="1200" b="1" dirty="0">
                <a:cs typeface="2  Bardiya" panose="00000400000000000000" pitchFamily="2" charset="-78"/>
              </a:rPr>
              <a:t>YOLO</a:t>
            </a:r>
            <a:endParaRPr lang="fa-IR" sz="12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DCBA60-8A67-1D01-686F-4BA4C13B8A4F}"/>
              </a:ext>
            </a:extLst>
          </p:cNvPr>
          <p:cNvSpPr/>
          <p:nvPr/>
        </p:nvSpPr>
        <p:spPr>
          <a:xfrm>
            <a:off x="9854429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6B50092-48B0-C446-C1D2-629D03B0E0E8}"/>
              </a:ext>
            </a:extLst>
          </p:cNvPr>
          <p:cNvSpPr/>
          <p:nvPr/>
        </p:nvSpPr>
        <p:spPr>
          <a:xfrm>
            <a:off x="5572127" y="1916398"/>
            <a:ext cx="3684504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sz="3200" b="1" dirty="0">
                <a:cs typeface="2  Bardiya" panose="00000400000000000000" pitchFamily="2" charset="-78"/>
              </a:rPr>
              <a:t>ضرورت تشخیص ناحیه: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CC41FD8-0DE6-CB24-A119-E091BBC7E5B0}"/>
              </a:ext>
            </a:extLst>
          </p:cNvPr>
          <p:cNvCxnSpPr/>
          <p:nvPr/>
        </p:nvCxnSpPr>
        <p:spPr>
          <a:xfrm>
            <a:off x="9599216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F18779D-5377-ED5D-3A24-C5A795F26809}"/>
              </a:ext>
            </a:extLst>
          </p:cNvPr>
          <p:cNvSpPr/>
          <p:nvPr/>
        </p:nvSpPr>
        <p:spPr>
          <a:xfrm>
            <a:off x="2536959" y="1800611"/>
            <a:ext cx="7409999" cy="329679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dirty="0">
                <a:cs typeface="2  Koodak" panose="00000700000000000000" pitchFamily="2" charset="-78"/>
              </a:rPr>
              <a:t>طبقه‌بندی تصویر فقط می‌گوید برگ بیمار است یا نه.</a:t>
            </a: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dirty="0">
                <a:cs typeface="2  Koodak" panose="00000700000000000000" pitchFamily="2" charset="-78"/>
              </a:rPr>
              <a:t>تشخیص ناحیه، کلاس بیماری و مختصات بخش آلوده را مشخص می‌کند.</a:t>
            </a: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dirty="0">
                <a:cs typeface="2  Koodak" panose="00000700000000000000" pitchFamily="2" charset="-78"/>
              </a:rPr>
              <a:t>مناسب برای دیتاست‌های واقعی با پس‌زمینه شلوغ، نور متغیر و زاویه‌های مختلف.</a:t>
            </a:r>
            <a:endParaRPr lang="fa-IR" b="1" dirty="0">
              <a:cs typeface="2 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86088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4F172-FD76-80F7-F277-CAA02B85A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E67AA5-855C-D0F5-317E-656E36DF21F5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E29CFD-4E5F-A40C-1565-7A0BCBD03650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07B345-5CE9-2C2D-31B2-4A5245002250}"/>
              </a:ext>
            </a:extLst>
          </p:cNvPr>
          <p:cNvSpPr/>
          <p:nvPr/>
        </p:nvSpPr>
        <p:spPr>
          <a:xfrm>
            <a:off x="7534275" y="264316"/>
            <a:ext cx="3152814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44B7A90-D8FB-86C7-AEEB-A04717629820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3ABA6A-88A3-7836-0483-7B928DC31794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7442620-543B-B745-4144-3AE24A092E93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10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AD8E72-9F6B-7B15-96DF-C6FC1E539CD6}"/>
              </a:ext>
            </a:extLst>
          </p:cNvPr>
          <p:cNvSpPr/>
          <p:nvPr/>
        </p:nvSpPr>
        <p:spPr>
          <a:xfrm>
            <a:off x="10972683" y="282570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449E523-9D1D-561B-0CDC-1D6E3EBD52DD}"/>
              </a:ext>
            </a:extLst>
          </p:cNvPr>
          <p:cNvSpPr/>
          <p:nvPr/>
        </p:nvSpPr>
        <p:spPr>
          <a:xfrm>
            <a:off x="9686926" y="264316"/>
            <a:ext cx="1000164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AAFF456-E698-3D81-911E-1B1479687871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1EC94A1-7DBF-5307-202C-F946256E0EA2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5305BEB-19F0-303F-97F3-73122CD778AD}"/>
              </a:ext>
            </a:extLst>
          </p:cNvPr>
          <p:cNvSpPr/>
          <p:nvPr/>
        </p:nvSpPr>
        <p:spPr>
          <a:xfrm>
            <a:off x="7486649" y="264316"/>
            <a:ext cx="2562266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مرور پژوهش‌های انجام شده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15B7E3-26DF-776A-F180-CD7C4FBCF02B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D5010E5-AB43-46DA-ABAB-8F11E36DE6E1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5414635-E58D-9F85-55DB-B27905CCC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F7FE0FB-406E-D1B6-3784-D6499ECEBE00}"/>
              </a:ext>
            </a:extLst>
          </p:cNvPr>
          <p:cNvSpPr/>
          <p:nvPr/>
        </p:nvSpPr>
        <p:spPr>
          <a:xfrm>
            <a:off x="14872680" y="2244307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FA9505-6868-904B-D398-DF8346E790D4}"/>
              </a:ext>
            </a:extLst>
          </p:cNvPr>
          <p:cNvSpPr/>
          <p:nvPr/>
        </p:nvSpPr>
        <p:spPr>
          <a:xfrm>
            <a:off x="14872680" y="2244306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1F673C-6D40-3586-A798-B60D55CE0285}"/>
              </a:ext>
            </a:extLst>
          </p:cNvPr>
          <p:cNvSpPr/>
          <p:nvPr/>
        </p:nvSpPr>
        <p:spPr>
          <a:xfrm>
            <a:off x="14851639" y="3665171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پردازش تصویر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روش‌های کلاسیک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21718AF-CE2B-B529-0C84-8A9056EAAB48}"/>
              </a:ext>
            </a:extLst>
          </p:cNvPr>
          <p:cNvSpPr/>
          <p:nvPr/>
        </p:nvSpPr>
        <p:spPr>
          <a:xfrm>
            <a:off x="14849648" y="2844120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B756F88-0419-FCE5-A4DE-314CCA0756F0}"/>
              </a:ext>
            </a:extLst>
          </p:cNvPr>
          <p:cNvSpPr/>
          <p:nvPr/>
        </p:nvSpPr>
        <p:spPr>
          <a:xfrm>
            <a:off x="11767530" y="224430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7D167AF-6994-99AA-7A43-2022FA7DA75D}"/>
              </a:ext>
            </a:extLst>
          </p:cNvPr>
          <p:cNvSpPr/>
          <p:nvPr/>
        </p:nvSpPr>
        <p:spPr>
          <a:xfrm>
            <a:off x="11767530" y="224430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67EC169-A475-3C86-FEDA-5C0869DDBA1C}"/>
              </a:ext>
            </a:extLst>
          </p:cNvPr>
          <p:cNvSpPr/>
          <p:nvPr/>
        </p:nvSpPr>
        <p:spPr>
          <a:xfrm>
            <a:off x="11664861" y="3665172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CNN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Transfer Learning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Ensemble Learning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DFD89E1-AF88-6965-A2E1-16748ECD6E85}"/>
              </a:ext>
            </a:extLst>
          </p:cNvPr>
          <p:cNvSpPr/>
          <p:nvPr/>
        </p:nvSpPr>
        <p:spPr>
          <a:xfrm>
            <a:off x="11744498" y="284412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3A4D39A-C6D2-F228-8B2E-4D192DC7DEBE}"/>
              </a:ext>
            </a:extLst>
          </p:cNvPr>
          <p:cNvSpPr/>
          <p:nvPr/>
        </p:nvSpPr>
        <p:spPr>
          <a:xfrm>
            <a:off x="1480457" y="1332583"/>
            <a:ext cx="9797143" cy="4849142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1BE2D2-AB8A-621D-17A0-C6FCF21AB756}"/>
              </a:ext>
            </a:extLst>
          </p:cNvPr>
          <p:cNvSpPr/>
          <p:nvPr/>
        </p:nvSpPr>
        <p:spPr>
          <a:xfrm>
            <a:off x="177157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FCE45A6-7518-CE5A-81CE-3C774F04616A}"/>
              </a:ext>
            </a:extLst>
          </p:cNvPr>
          <p:cNvSpPr/>
          <p:nvPr/>
        </p:nvSpPr>
        <p:spPr>
          <a:xfrm>
            <a:off x="68572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C6C116E-E42C-F8F9-B0F7-75576ADADB0A}"/>
              </a:ext>
            </a:extLst>
          </p:cNvPr>
          <p:cNvSpPr/>
          <p:nvPr/>
        </p:nvSpPr>
        <p:spPr>
          <a:xfrm>
            <a:off x="9525000" y="2542451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تشخیص ناحیه</a:t>
            </a: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خانواده </a:t>
            </a:r>
            <a:r>
              <a:rPr lang="en-US" sz="1200" b="1" dirty="0">
                <a:cs typeface="2  Bardiya" panose="00000400000000000000" pitchFamily="2" charset="-78"/>
              </a:rPr>
              <a:t>YOLO</a:t>
            </a:r>
            <a:endParaRPr lang="fa-IR" sz="12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F23F54-018C-099F-2BD3-25167FA9F763}"/>
              </a:ext>
            </a:extLst>
          </p:cNvPr>
          <p:cNvSpPr/>
          <p:nvPr/>
        </p:nvSpPr>
        <p:spPr>
          <a:xfrm>
            <a:off x="9854429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F0AC41A-AE3A-31C9-086E-12B75CC23B2D}"/>
              </a:ext>
            </a:extLst>
          </p:cNvPr>
          <p:cNvSpPr/>
          <p:nvPr/>
        </p:nvSpPr>
        <p:spPr>
          <a:xfrm>
            <a:off x="5572127" y="1916398"/>
            <a:ext cx="3684504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sz="3200" b="1" dirty="0">
                <a:cs typeface="2  Bardiya" panose="00000400000000000000" pitchFamily="2" charset="-78"/>
              </a:rPr>
              <a:t>مدل‌های دو مرحله‌ای: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9DBD966-99AD-8FAD-03B5-04061A8A22FC}"/>
              </a:ext>
            </a:extLst>
          </p:cNvPr>
          <p:cNvCxnSpPr/>
          <p:nvPr/>
        </p:nvCxnSpPr>
        <p:spPr>
          <a:xfrm>
            <a:off x="9599216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CBD8A26-E4C9-BEA3-EB58-E6774FE34CF2}"/>
              </a:ext>
            </a:extLst>
          </p:cNvPr>
          <p:cNvSpPr/>
          <p:nvPr/>
        </p:nvSpPr>
        <p:spPr>
          <a:xfrm>
            <a:off x="2536959" y="1800611"/>
            <a:ext cx="7409999" cy="329679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cs typeface="2  Koodak" panose="00000700000000000000" pitchFamily="2" charset="-78"/>
              </a:rPr>
              <a:t>Faster R-CNN</a:t>
            </a:r>
            <a:r>
              <a:rPr lang="fa-IR" b="1" dirty="0">
                <a:cs typeface="2  Koodak" panose="00000700000000000000" pitchFamily="2" charset="-78"/>
              </a:rPr>
              <a:t> و </a:t>
            </a:r>
            <a:r>
              <a:rPr lang="en-US" b="1" dirty="0">
                <a:cs typeface="2  Koodak" panose="00000700000000000000" pitchFamily="2" charset="-78"/>
              </a:rPr>
              <a:t>SSD</a:t>
            </a:r>
            <a:endParaRPr lang="fa-IR" b="1" dirty="0">
              <a:cs typeface="2  Koodak" panose="00000700000000000000" pitchFamily="2" charset="-78"/>
            </a:endParaRP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cs typeface="2  Koodak" panose="00000700000000000000" pitchFamily="2" charset="-78"/>
              </a:rPr>
              <a:t>مرحله اول: پیشنهاد نواحی احتمالی، مرحله دوم: طبقه‌بندی</a:t>
            </a: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cs typeface="2  Koodak" panose="00000700000000000000" pitchFamily="2" charset="-78"/>
              </a:rPr>
              <a:t>دقت بالا اما سرعت پایین؛ غیرقابل استفاده </a:t>
            </a:r>
            <a:r>
              <a:rPr lang="en-US" b="1" dirty="0">
                <a:cs typeface="2  Koodak" panose="00000700000000000000" pitchFamily="2" charset="-78"/>
              </a:rPr>
              <a:t>real-time</a:t>
            </a:r>
            <a:r>
              <a:rPr lang="fa-IR" b="1" dirty="0">
                <a:cs typeface="2  Koodak" panose="00000700000000000000" pitchFamily="2" charset="-78"/>
              </a:rPr>
              <a:t> در مزرعه</a:t>
            </a: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cs typeface="2  Koodak" panose="00000700000000000000" pitchFamily="2" charset="-78"/>
              </a:rPr>
              <a:t>سرعت پایین، حساسیت به پس‌زمینه، نیاز به داده زیاد.</a:t>
            </a:r>
          </a:p>
        </p:txBody>
      </p:sp>
    </p:spTree>
    <p:extLst>
      <p:ext uri="{BB962C8B-B14F-4D97-AF65-F5344CB8AC3E}">
        <p14:creationId xmlns:p14="http://schemas.microsoft.com/office/powerpoint/2010/main" val="3733860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203C-D0AA-7FB0-6017-60334E077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E9DD09-E707-E994-35AE-CE84BAE11A27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DDF09E-A5B8-3EFE-F9B3-C37EB6D2E999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4910E0C-FF98-38CB-67A4-08DE0A54B403}"/>
              </a:ext>
            </a:extLst>
          </p:cNvPr>
          <p:cNvSpPr/>
          <p:nvPr/>
        </p:nvSpPr>
        <p:spPr>
          <a:xfrm>
            <a:off x="7534275" y="264316"/>
            <a:ext cx="3152814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C10A7BC-C655-850C-DED1-A3739599AC49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95A48A-9A13-3997-DE3E-415F0132A3D6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264ECC2-705E-6141-A9C6-8305E584E377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10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FC2192D-400E-ED48-FF97-C194FB9F34E2}"/>
              </a:ext>
            </a:extLst>
          </p:cNvPr>
          <p:cNvSpPr/>
          <p:nvPr/>
        </p:nvSpPr>
        <p:spPr>
          <a:xfrm>
            <a:off x="10972683" y="282570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8CC010B-B9F0-78CB-BE86-CCD68AA608B5}"/>
              </a:ext>
            </a:extLst>
          </p:cNvPr>
          <p:cNvSpPr/>
          <p:nvPr/>
        </p:nvSpPr>
        <p:spPr>
          <a:xfrm>
            <a:off x="9686926" y="264316"/>
            <a:ext cx="1000164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C7BCF41-F03D-B99D-5A72-146BA1F7AD26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8D8C072-1BF9-7CFB-1991-6F7E47305B06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E8AEDC9-0AA2-BA6D-75EF-B97B55B0F741}"/>
              </a:ext>
            </a:extLst>
          </p:cNvPr>
          <p:cNvSpPr/>
          <p:nvPr/>
        </p:nvSpPr>
        <p:spPr>
          <a:xfrm>
            <a:off x="7486649" y="264316"/>
            <a:ext cx="2562266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مرور پژوهش‌های انجام شده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A5CBA66-4D92-35EC-FBC3-CB205E998832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B505809-B83A-E692-068B-9E8EA14F5BAC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60B0D40-F9A6-018A-0F5C-4D033D08A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D88025-AC34-51D9-E40B-728672FCE6E6}"/>
              </a:ext>
            </a:extLst>
          </p:cNvPr>
          <p:cNvSpPr/>
          <p:nvPr/>
        </p:nvSpPr>
        <p:spPr>
          <a:xfrm>
            <a:off x="14872680" y="2244307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5789D6-F417-05FA-23B9-E5759B2563A5}"/>
              </a:ext>
            </a:extLst>
          </p:cNvPr>
          <p:cNvSpPr/>
          <p:nvPr/>
        </p:nvSpPr>
        <p:spPr>
          <a:xfrm>
            <a:off x="14872680" y="2244306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9B0A61-23C4-2D86-9F4D-B6C18F12583D}"/>
              </a:ext>
            </a:extLst>
          </p:cNvPr>
          <p:cNvSpPr/>
          <p:nvPr/>
        </p:nvSpPr>
        <p:spPr>
          <a:xfrm>
            <a:off x="14851639" y="3665171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پردازش تصویر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روش‌های کلاسیک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29A3D3F-550D-C7C8-E4D6-61AF6E038ED8}"/>
              </a:ext>
            </a:extLst>
          </p:cNvPr>
          <p:cNvSpPr/>
          <p:nvPr/>
        </p:nvSpPr>
        <p:spPr>
          <a:xfrm>
            <a:off x="14849648" y="2844120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C3F4F7F-5254-78A4-1014-CA1079AEA401}"/>
              </a:ext>
            </a:extLst>
          </p:cNvPr>
          <p:cNvSpPr/>
          <p:nvPr/>
        </p:nvSpPr>
        <p:spPr>
          <a:xfrm>
            <a:off x="11767530" y="224430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DAC63BA-7A61-B19F-605C-C71804F2844E}"/>
              </a:ext>
            </a:extLst>
          </p:cNvPr>
          <p:cNvSpPr/>
          <p:nvPr/>
        </p:nvSpPr>
        <p:spPr>
          <a:xfrm>
            <a:off x="11767530" y="224430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F23CEF9-EC49-AF63-BCD0-B3C667E78712}"/>
              </a:ext>
            </a:extLst>
          </p:cNvPr>
          <p:cNvSpPr/>
          <p:nvPr/>
        </p:nvSpPr>
        <p:spPr>
          <a:xfrm>
            <a:off x="11664861" y="3665172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CNN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Transfer Learning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Ensemble Learning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BC1C387-6524-2B40-B1BA-2425203F8B9C}"/>
              </a:ext>
            </a:extLst>
          </p:cNvPr>
          <p:cNvSpPr/>
          <p:nvPr/>
        </p:nvSpPr>
        <p:spPr>
          <a:xfrm>
            <a:off x="11744498" y="284412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5EA1C93-DC44-6AAA-F894-9012B8D4199A}"/>
              </a:ext>
            </a:extLst>
          </p:cNvPr>
          <p:cNvSpPr/>
          <p:nvPr/>
        </p:nvSpPr>
        <p:spPr>
          <a:xfrm>
            <a:off x="1480457" y="1332583"/>
            <a:ext cx="9797143" cy="4849142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7544B17-0B2A-58D5-9497-5CDDA4D5E174}"/>
              </a:ext>
            </a:extLst>
          </p:cNvPr>
          <p:cNvSpPr/>
          <p:nvPr/>
        </p:nvSpPr>
        <p:spPr>
          <a:xfrm>
            <a:off x="177157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5B41BC4-B527-2129-5D55-E1449359DEE6}"/>
              </a:ext>
            </a:extLst>
          </p:cNvPr>
          <p:cNvSpPr/>
          <p:nvPr/>
        </p:nvSpPr>
        <p:spPr>
          <a:xfrm>
            <a:off x="68572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32C772-9E6A-3D10-C65A-2F779DE19282}"/>
              </a:ext>
            </a:extLst>
          </p:cNvPr>
          <p:cNvSpPr/>
          <p:nvPr/>
        </p:nvSpPr>
        <p:spPr>
          <a:xfrm>
            <a:off x="9525000" y="2542451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تشخیص ناحیه</a:t>
            </a: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خانواده </a:t>
            </a:r>
            <a:r>
              <a:rPr lang="en-US" sz="1200" b="1" dirty="0">
                <a:cs typeface="2  Bardiya" panose="00000400000000000000" pitchFamily="2" charset="-78"/>
              </a:rPr>
              <a:t>YOLO</a:t>
            </a:r>
            <a:endParaRPr lang="fa-IR" sz="12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F55760-F7B8-E731-A6EF-87826C2E0B00}"/>
              </a:ext>
            </a:extLst>
          </p:cNvPr>
          <p:cNvSpPr/>
          <p:nvPr/>
        </p:nvSpPr>
        <p:spPr>
          <a:xfrm>
            <a:off x="9854429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228FD31-6B47-9B21-3C1E-3D601380AC6D}"/>
              </a:ext>
            </a:extLst>
          </p:cNvPr>
          <p:cNvSpPr/>
          <p:nvPr/>
        </p:nvSpPr>
        <p:spPr>
          <a:xfrm>
            <a:off x="5572127" y="1916398"/>
            <a:ext cx="3684504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fa-IR" sz="3200" b="1" dirty="0">
                <a:cs typeface="2  Bardiya" panose="00000400000000000000" pitchFamily="2" charset="-78"/>
              </a:rPr>
              <a:t>ظهور </a:t>
            </a:r>
            <a:r>
              <a:rPr lang="en-US" sz="3200" b="1" dirty="0">
                <a:cs typeface="2  Bardiya" panose="00000400000000000000" pitchFamily="2" charset="-78"/>
              </a:rPr>
              <a:t>YOLO</a:t>
            </a:r>
            <a:r>
              <a:rPr lang="fa-IR" sz="3200" b="1" dirty="0">
                <a:cs typeface="2  Bardiya" panose="00000400000000000000" pitchFamily="2" charset="-78"/>
              </a:rPr>
              <a:t>: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11245C2-8F6E-2F5D-AADC-148B79EC8582}"/>
              </a:ext>
            </a:extLst>
          </p:cNvPr>
          <p:cNvCxnSpPr/>
          <p:nvPr/>
        </p:nvCxnSpPr>
        <p:spPr>
          <a:xfrm>
            <a:off x="9599216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83577EC-AC33-D6EF-3C80-CB3BC8870074}"/>
              </a:ext>
            </a:extLst>
          </p:cNvPr>
          <p:cNvSpPr/>
          <p:nvPr/>
        </p:nvSpPr>
        <p:spPr>
          <a:xfrm>
            <a:off x="2500537" y="1981434"/>
            <a:ext cx="7409999" cy="329679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cs typeface="2  Koodak" panose="00000700000000000000" pitchFamily="2" charset="-78"/>
              </a:rPr>
              <a:t>اولین معماری تک‌مرحله‌ای با ترکیب سرعت و دقت بالا</a:t>
            </a:r>
            <a:endParaRPr lang="en-US" b="1" dirty="0">
              <a:cs typeface="2  Koodak" panose="00000700000000000000" pitchFamily="2" charset="-78"/>
            </a:endParaRP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cs typeface="2  Koodak" panose="00000700000000000000" pitchFamily="2" charset="-78"/>
              </a:rPr>
              <a:t>کل تصویر تنها یک بار پردازش می‌شود، همزمان کلاس و مختصات پیش‌بینی می‌شود</a:t>
            </a:r>
            <a:endParaRPr lang="en-US" b="1" dirty="0">
              <a:cs typeface="2  Koodak" panose="00000700000000000000" pitchFamily="2" charset="-78"/>
            </a:endParaRP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cs typeface="2  Koodak" panose="00000700000000000000" pitchFamily="2" charset="-78"/>
              </a:rPr>
              <a:t>سرعت بالا و  قابل استفاده به صورت </a:t>
            </a:r>
            <a:r>
              <a:rPr lang="en-US" b="1" dirty="0">
                <a:cs typeface="2  Koodak" panose="00000700000000000000" pitchFamily="2" charset="-78"/>
              </a:rPr>
              <a:t>real-time</a:t>
            </a: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cs typeface="2  Koodak" panose="00000700000000000000" pitchFamily="2" charset="-78"/>
              </a:rPr>
              <a:t>محدودیت: تشخیص لکه‌های کوچک و </a:t>
            </a:r>
            <a:r>
              <a:rPr lang="en-US" b="1" dirty="0">
                <a:cs typeface="2  Koodak" panose="00000700000000000000" pitchFamily="2" charset="-78"/>
              </a:rPr>
              <a:t> anchor-based</a:t>
            </a:r>
            <a:r>
              <a:rPr lang="fa-IR" b="1" dirty="0">
                <a:cs typeface="2  Koodak" panose="00000700000000000000" pitchFamily="2" charset="-78"/>
              </a:rPr>
              <a:t>بودن</a:t>
            </a:r>
          </a:p>
        </p:txBody>
      </p:sp>
    </p:spTree>
    <p:extLst>
      <p:ext uri="{BB962C8B-B14F-4D97-AF65-F5344CB8AC3E}">
        <p14:creationId xmlns:p14="http://schemas.microsoft.com/office/powerpoint/2010/main" val="2456385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90045-2106-84C9-087C-2A7E5023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675927-0130-81A0-A975-D0D401E57C58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D384FFF-9C3A-6D88-E5C3-2837B3A4E4AF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36B12F5-CB5E-0D87-AB2E-702D60EE538A}"/>
              </a:ext>
            </a:extLst>
          </p:cNvPr>
          <p:cNvSpPr/>
          <p:nvPr/>
        </p:nvSpPr>
        <p:spPr>
          <a:xfrm>
            <a:off x="7534275" y="264316"/>
            <a:ext cx="3152814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07727F2-53D6-6F17-EF5C-D074766ECFBD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A26C937-7887-6310-2F18-4B5F569A9F0D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DCC16E8-B4A1-FC6B-33BE-8BA17CF172AA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10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2991411-0CF3-1BD7-634A-0DD674A71E5D}"/>
              </a:ext>
            </a:extLst>
          </p:cNvPr>
          <p:cNvSpPr/>
          <p:nvPr/>
        </p:nvSpPr>
        <p:spPr>
          <a:xfrm>
            <a:off x="10972683" y="282570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51BEFAE-9501-05C5-57DE-F91AE92BE028}"/>
              </a:ext>
            </a:extLst>
          </p:cNvPr>
          <p:cNvSpPr/>
          <p:nvPr/>
        </p:nvSpPr>
        <p:spPr>
          <a:xfrm>
            <a:off x="9686926" y="264316"/>
            <a:ext cx="1000164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B1DA4F2-044E-B814-D75D-8F400E0BB0DB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019630D-668A-33D8-F320-F6CC9E26207A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F824A5-85C0-57ED-E140-C3FF9E8189CD}"/>
              </a:ext>
            </a:extLst>
          </p:cNvPr>
          <p:cNvSpPr/>
          <p:nvPr/>
        </p:nvSpPr>
        <p:spPr>
          <a:xfrm>
            <a:off x="7486649" y="264316"/>
            <a:ext cx="2562266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مرور پژوهش‌های انجام شده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4C5E7F8-072D-5E2D-AF61-42EAFC323681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36BC2EE-49C9-A9EA-AE0A-10B3DAF9D839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73879B4-3A2E-6C5B-43CB-D0794D400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DBA977-B2C2-52AF-3704-132511BC1888}"/>
              </a:ext>
            </a:extLst>
          </p:cNvPr>
          <p:cNvSpPr/>
          <p:nvPr/>
        </p:nvSpPr>
        <p:spPr>
          <a:xfrm>
            <a:off x="14872680" y="2244307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443B3C-1B46-B555-4355-5EB929E03A8D}"/>
              </a:ext>
            </a:extLst>
          </p:cNvPr>
          <p:cNvSpPr/>
          <p:nvPr/>
        </p:nvSpPr>
        <p:spPr>
          <a:xfrm>
            <a:off x="14872680" y="2244306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A68083E-1212-9D5E-0E0E-7834170437E0}"/>
              </a:ext>
            </a:extLst>
          </p:cNvPr>
          <p:cNvSpPr/>
          <p:nvPr/>
        </p:nvSpPr>
        <p:spPr>
          <a:xfrm>
            <a:off x="14851639" y="3665171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پردازش تصویر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روش‌های کلاسیک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E3C4E33-CFF3-25E6-BC92-30379EF791F8}"/>
              </a:ext>
            </a:extLst>
          </p:cNvPr>
          <p:cNvSpPr/>
          <p:nvPr/>
        </p:nvSpPr>
        <p:spPr>
          <a:xfrm>
            <a:off x="14849648" y="2844120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D281E01-22D2-BCD7-AFAF-39B091BB06C4}"/>
              </a:ext>
            </a:extLst>
          </p:cNvPr>
          <p:cNvSpPr/>
          <p:nvPr/>
        </p:nvSpPr>
        <p:spPr>
          <a:xfrm>
            <a:off x="11767530" y="224430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C19826E-A31C-0FEE-C2FC-4612C3CE170C}"/>
              </a:ext>
            </a:extLst>
          </p:cNvPr>
          <p:cNvSpPr/>
          <p:nvPr/>
        </p:nvSpPr>
        <p:spPr>
          <a:xfrm>
            <a:off x="11767530" y="224430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6CD383D-08E4-71C7-9F38-F144667FB63C}"/>
              </a:ext>
            </a:extLst>
          </p:cNvPr>
          <p:cNvSpPr/>
          <p:nvPr/>
        </p:nvSpPr>
        <p:spPr>
          <a:xfrm>
            <a:off x="11664861" y="3665172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CNN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Transfer Learning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Ensemble Learning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54CD745-D5B7-D74F-07B9-94C0FF011EE2}"/>
              </a:ext>
            </a:extLst>
          </p:cNvPr>
          <p:cNvSpPr/>
          <p:nvPr/>
        </p:nvSpPr>
        <p:spPr>
          <a:xfrm>
            <a:off x="11744498" y="284412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A29F93-DB8D-1CB7-3C8B-AC40F0FD40A3}"/>
              </a:ext>
            </a:extLst>
          </p:cNvPr>
          <p:cNvSpPr/>
          <p:nvPr/>
        </p:nvSpPr>
        <p:spPr>
          <a:xfrm>
            <a:off x="1480457" y="1332583"/>
            <a:ext cx="9797143" cy="4849142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F6993AF-86AD-41AB-228E-D69288AC389B}"/>
              </a:ext>
            </a:extLst>
          </p:cNvPr>
          <p:cNvSpPr/>
          <p:nvPr/>
        </p:nvSpPr>
        <p:spPr>
          <a:xfrm>
            <a:off x="177157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24CF988-D63E-F707-9538-1366712A5BB6}"/>
              </a:ext>
            </a:extLst>
          </p:cNvPr>
          <p:cNvSpPr/>
          <p:nvPr/>
        </p:nvSpPr>
        <p:spPr>
          <a:xfrm>
            <a:off x="68572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F502FE-192F-6EBD-A7C3-1E47ED89C2F2}"/>
              </a:ext>
            </a:extLst>
          </p:cNvPr>
          <p:cNvSpPr/>
          <p:nvPr/>
        </p:nvSpPr>
        <p:spPr>
          <a:xfrm>
            <a:off x="9525000" y="2542451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تشخیص ناحیه</a:t>
            </a: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خانواده </a:t>
            </a:r>
            <a:r>
              <a:rPr lang="en-US" sz="1200" b="1" dirty="0">
                <a:cs typeface="2  Bardiya" panose="00000400000000000000" pitchFamily="2" charset="-78"/>
              </a:rPr>
              <a:t>YOLO</a:t>
            </a:r>
            <a:endParaRPr lang="fa-IR" sz="12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EBFC33-F5CD-9811-C702-673479C20900}"/>
              </a:ext>
            </a:extLst>
          </p:cNvPr>
          <p:cNvSpPr/>
          <p:nvPr/>
        </p:nvSpPr>
        <p:spPr>
          <a:xfrm>
            <a:off x="9854429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16A4899-E4A5-7E2A-F73E-0751F8A47CA6}"/>
              </a:ext>
            </a:extLst>
          </p:cNvPr>
          <p:cNvSpPr/>
          <p:nvPr/>
        </p:nvSpPr>
        <p:spPr>
          <a:xfrm>
            <a:off x="5572127" y="1916398"/>
            <a:ext cx="3684504" cy="49504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en-US" sz="3200" b="1" dirty="0">
                <a:cs typeface="2  Bardiya" panose="00000400000000000000" pitchFamily="2" charset="-78"/>
              </a:rPr>
              <a:t>YOLOX</a:t>
            </a:r>
            <a:r>
              <a:rPr lang="fa-IR" sz="3200" b="1" dirty="0">
                <a:cs typeface="2  Bardiya" panose="00000400000000000000" pitchFamily="2" charset="-78"/>
              </a:rPr>
              <a:t> – نسل جدید: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23F1D0B-5500-377B-D9F9-48CD8FD69F5E}"/>
              </a:ext>
            </a:extLst>
          </p:cNvPr>
          <p:cNvCxnSpPr/>
          <p:nvPr/>
        </p:nvCxnSpPr>
        <p:spPr>
          <a:xfrm>
            <a:off x="9599216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6AD9D09-42A2-8EEE-2A29-2FFF4DE00C08}"/>
              </a:ext>
            </a:extLst>
          </p:cNvPr>
          <p:cNvSpPr/>
          <p:nvPr/>
        </p:nvSpPr>
        <p:spPr>
          <a:xfrm>
            <a:off x="2316824" y="2163918"/>
            <a:ext cx="7409999" cy="222048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cs typeface="2  Koodak" panose="00000700000000000000" pitchFamily="2" charset="-78"/>
              </a:rPr>
              <a:t> Anchor free</a:t>
            </a: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cs typeface="2  Koodak" panose="00000700000000000000" pitchFamily="2" charset="-78"/>
              </a:rPr>
              <a:t>Decoupled-Head</a:t>
            </a: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cs typeface="2  Koodak" panose="00000700000000000000" pitchFamily="2" charset="-78"/>
              </a:rPr>
              <a:t>سرعت بالا و دقت بیشتر نسبت به </a:t>
            </a:r>
            <a:r>
              <a:rPr lang="en-US" b="1" dirty="0">
                <a:cs typeface="2  Koodak" panose="00000700000000000000" pitchFamily="2" charset="-78"/>
              </a:rPr>
              <a:t>YOLOv5</a:t>
            </a:r>
            <a:endParaRPr lang="fa-IR" b="1" dirty="0">
              <a:cs typeface="2 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91912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BC0AD-7AF2-C69D-D685-C2905417E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5849AC9-A5BE-E596-D952-21FEC3ECE743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69431E-81A7-F1B9-BED4-0B7D28057076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DC955F1-F4D7-3905-1F84-AEBC5D81A7FD}"/>
              </a:ext>
            </a:extLst>
          </p:cNvPr>
          <p:cNvSpPr/>
          <p:nvPr/>
        </p:nvSpPr>
        <p:spPr>
          <a:xfrm>
            <a:off x="7534275" y="264316"/>
            <a:ext cx="3152814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10FFB3-18EB-156E-22C5-AD4B40C53165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5D8C0F-34E4-261F-A73E-577D101EA91F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CED15BB-1C5B-0CC0-0EF2-36A98DB1D984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11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FA9D584-6FEE-7344-A1F1-2596E12402E9}"/>
              </a:ext>
            </a:extLst>
          </p:cNvPr>
          <p:cNvSpPr/>
          <p:nvPr/>
        </p:nvSpPr>
        <p:spPr>
          <a:xfrm>
            <a:off x="10972683" y="282570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40BB217-7DD0-F7F9-354C-0A2717CD5E7F}"/>
              </a:ext>
            </a:extLst>
          </p:cNvPr>
          <p:cNvSpPr/>
          <p:nvPr/>
        </p:nvSpPr>
        <p:spPr>
          <a:xfrm>
            <a:off x="9686926" y="264316"/>
            <a:ext cx="1000164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14937B8-CE23-5E39-009C-5F60B7A5FA4C}"/>
              </a:ext>
            </a:extLst>
          </p:cNvPr>
          <p:cNvSpPr/>
          <p:nvPr/>
        </p:nvSpPr>
        <p:spPr>
          <a:xfrm>
            <a:off x="634368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2C6E179-A634-F488-4777-4BB52CB7FC37}"/>
              </a:ext>
            </a:extLst>
          </p:cNvPr>
          <p:cNvSpPr/>
          <p:nvPr/>
        </p:nvSpPr>
        <p:spPr>
          <a:xfrm>
            <a:off x="5200729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9B910D-AA04-1866-330C-85A2B3A3AB61}"/>
              </a:ext>
            </a:extLst>
          </p:cNvPr>
          <p:cNvSpPr/>
          <p:nvPr/>
        </p:nvSpPr>
        <p:spPr>
          <a:xfrm>
            <a:off x="7486649" y="264316"/>
            <a:ext cx="2562266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مرور پژوهش‌های انجام شده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D4922E-E877-CA12-75AE-19CB3D38D955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CDFDF4E-7722-3D26-C85E-BB933126414C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A663F4F-3EF8-7E48-590C-677482C3F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21BABB-3E11-87BE-9EF5-B252762550AF}"/>
              </a:ext>
            </a:extLst>
          </p:cNvPr>
          <p:cNvSpPr/>
          <p:nvPr/>
        </p:nvSpPr>
        <p:spPr>
          <a:xfrm>
            <a:off x="7960831" y="216392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6BB30D-02EE-E05F-A65C-F706E25DA07E}"/>
              </a:ext>
            </a:extLst>
          </p:cNvPr>
          <p:cNvSpPr/>
          <p:nvPr/>
        </p:nvSpPr>
        <p:spPr>
          <a:xfrm>
            <a:off x="7960831" y="216391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6562D9-23A2-51AE-2C71-A8B91708D4B2}"/>
              </a:ext>
            </a:extLst>
          </p:cNvPr>
          <p:cNvSpPr/>
          <p:nvPr/>
        </p:nvSpPr>
        <p:spPr>
          <a:xfrm>
            <a:off x="7939790" y="358478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پردازش تصویر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روش‌های کلاسیک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B7BC1A6-61A4-2821-4378-F42C333553E5}"/>
              </a:ext>
            </a:extLst>
          </p:cNvPr>
          <p:cNvSpPr/>
          <p:nvPr/>
        </p:nvSpPr>
        <p:spPr>
          <a:xfrm>
            <a:off x="7937799" y="276373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D4BA9A3-78D6-4E45-742E-0E8372A666CC}"/>
              </a:ext>
            </a:extLst>
          </p:cNvPr>
          <p:cNvSpPr/>
          <p:nvPr/>
        </p:nvSpPr>
        <p:spPr>
          <a:xfrm>
            <a:off x="4855681" y="2163921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7AF1E2-7DE0-6856-8B44-1CF7500D6EB1}"/>
              </a:ext>
            </a:extLst>
          </p:cNvPr>
          <p:cNvSpPr/>
          <p:nvPr/>
        </p:nvSpPr>
        <p:spPr>
          <a:xfrm>
            <a:off x="4855681" y="216392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10F2BB3-56B8-646D-14F8-0BEB204FEABF}"/>
              </a:ext>
            </a:extLst>
          </p:cNvPr>
          <p:cNvSpPr/>
          <p:nvPr/>
        </p:nvSpPr>
        <p:spPr>
          <a:xfrm>
            <a:off x="4753012" y="3584785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CNN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Transfer Learning</a:t>
            </a:r>
          </a:p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Ensemble Learning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7B132EC-42C6-0258-76AE-FC57AB0824E5}"/>
              </a:ext>
            </a:extLst>
          </p:cNvPr>
          <p:cNvSpPr/>
          <p:nvPr/>
        </p:nvSpPr>
        <p:spPr>
          <a:xfrm>
            <a:off x="4832649" y="2763734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1963E3C-75ED-2614-77D6-53FC0AFCFF89}"/>
              </a:ext>
            </a:extLst>
          </p:cNvPr>
          <p:cNvSpPr/>
          <p:nvPr/>
        </p:nvSpPr>
        <p:spPr>
          <a:xfrm>
            <a:off x="1771572" y="216391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0BFB34A-B1E6-D462-CFD3-65DCBDFB256B}"/>
              </a:ext>
            </a:extLst>
          </p:cNvPr>
          <p:cNvSpPr/>
          <p:nvPr/>
        </p:nvSpPr>
        <p:spPr>
          <a:xfrm>
            <a:off x="177157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65957AF-1F7E-DFF7-DA17-A387708777C4}"/>
              </a:ext>
            </a:extLst>
          </p:cNvPr>
          <p:cNvSpPr/>
          <p:nvPr/>
        </p:nvSpPr>
        <p:spPr>
          <a:xfrm>
            <a:off x="1750531" y="3584783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تشخیص ناحیه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خانواده </a:t>
            </a:r>
            <a:r>
              <a:rPr lang="en-US" sz="2000" b="1" dirty="0">
                <a:cs typeface="2  Bardiya" panose="00000400000000000000" pitchFamily="2" charset="-78"/>
              </a:rPr>
              <a:t>YOLO</a:t>
            </a:r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4ABFD70-B5EC-EFE4-0F7C-1C578573746A}"/>
              </a:ext>
            </a:extLst>
          </p:cNvPr>
          <p:cNvSpPr/>
          <p:nvPr/>
        </p:nvSpPr>
        <p:spPr>
          <a:xfrm>
            <a:off x="1748540" y="276373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773E820-85B8-7DCB-A5C9-45BA5EF40507}"/>
              </a:ext>
            </a:extLst>
          </p:cNvPr>
          <p:cNvSpPr/>
          <p:nvPr/>
        </p:nvSpPr>
        <p:spPr>
          <a:xfrm>
            <a:off x="685722" y="216391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91792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BF185-447E-1050-183D-3A5ABEA68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88D935-E08C-FF27-FC6D-35C8F7E17637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553E6F-D7AA-FBF7-5F1C-265F7F12C2B7}"/>
              </a:ext>
            </a:extLst>
          </p:cNvPr>
          <p:cNvSpPr/>
          <p:nvPr/>
        </p:nvSpPr>
        <p:spPr>
          <a:xfrm>
            <a:off x="7543800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EBC54A-1F5B-8A85-3629-CAB18ED1046D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D032FBF-EAF9-5A65-600E-A1EE6E8CC68D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3B24EA1-5354-E6DF-096E-7BDFFA253709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5395B2F-314E-B5A0-C1EA-2A4F36BFF6B9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12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DB930F2-DDAB-AEEA-F637-B05975558436}"/>
              </a:ext>
            </a:extLst>
          </p:cNvPr>
          <p:cNvSpPr/>
          <p:nvPr/>
        </p:nvSpPr>
        <p:spPr>
          <a:xfrm>
            <a:off x="1097268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B412934-8C5C-9282-EEC5-E45A460F6952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22D66F2-2BF8-1EEB-0117-21D3D0A0CA9A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0038D68-050C-D6EA-E255-9E8909FBD6AA}"/>
              </a:ext>
            </a:extLst>
          </p:cNvPr>
          <p:cNvSpPr/>
          <p:nvPr/>
        </p:nvSpPr>
        <p:spPr>
          <a:xfrm>
            <a:off x="7543800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089DB34-CBB2-2DBC-6AF2-B84520CA2FC8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46C76DB-D754-306B-A89D-26746D824A38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90167E3-116E-8133-0660-4088FE523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7816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5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F083C-7394-B338-C9FA-1B61E8A4B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EE6B91C-8A4F-D61A-9E9E-5D63C265FE75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EB7D77C-E06F-E211-55F5-C2375F3E8E15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3CBFB5B-4672-FEA7-3CDA-72DC9A4629C8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91B0560-46D9-91AF-E191-02D3D0B49E21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4EBF59A-E80C-2C02-241B-843D761BABAE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942F6F-B43A-4495-2790-739DF75920C7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13</a:t>
            </a:r>
            <a:endParaRPr lang="en-US" sz="2000" b="1" dirty="0">
              <a:solidFill>
                <a:schemeClr val="tx1"/>
              </a:solidFill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6E1BAA9-774D-37AD-1021-8C416B3BA113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F0C68AF-56F7-E324-875D-CFAB8182FC6B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FCECD66-B4E8-8643-5E6E-2C24F780B857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84557B2-A839-3977-6ABB-123BCC8845F7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AD66DC-626B-354D-0A1A-252924D25377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FA449D7-734C-5932-6109-3D22AE0700DE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EC38B3F-8528-9085-14F6-3EA411BCF231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B593FCC-1380-1E07-F71F-2C5A03272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3CABBA-52EA-0853-CEBE-EBDA65604CC9}"/>
              </a:ext>
            </a:extLst>
          </p:cNvPr>
          <p:cNvSpPr/>
          <p:nvPr/>
        </p:nvSpPr>
        <p:spPr>
          <a:xfrm>
            <a:off x="7560820" y="222605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EAF0AD-9BFB-AFC5-FCBE-B432457CBF5E}"/>
              </a:ext>
            </a:extLst>
          </p:cNvPr>
          <p:cNvSpPr/>
          <p:nvPr/>
        </p:nvSpPr>
        <p:spPr>
          <a:xfrm>
            <a:off x="7560820" y="222604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3221C8-1264-BD9A-58FB-B19ECFE0081F}"/>
              </a:ext>
            </a:extLst>
          </p:cNvPr>
          <p:cNvSpPr/>
          <p:nvPr/>
        </p:nvSpPr>
        <p:spPr>
          <a:xfrm>
            <a:off x="7539779" y="395171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426D68-4073-2697-FAC7-AFC7A111F2E0}"/>
              </a:ext>
            </a:extLst>
          </p:cNvPr>
          <p:cNvSpPr/>
          <p:nvPr/>
        </p:nvSpPr>
        <p:spPr>
          <a:xfrm>
            <a:off x="7537788" y="282586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8D09E6-0E22-2BDA-B915-41FA875054C7}"/>
              </a:ext>
            </a:extLst>
          </p:cNvPr>
          <p:cNvSpPr/>
          <p:nvPr/>
        </p:nvSpPr>
        <p:spPr>
          <a:xfrm>
            <a:off x="4760470" y="2226046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D14F50A-FAA6-8D92-6B95-700CEB18C7C9}"/>
              </a:ext>
            </a:extLst>
          </p:cNvPr>
          <p:cNvSpPr/>
          <p:nvPr/>
        </p:nvSpPr>
        <p:spPr>
          <a:xfrm>
            <a:off x="4760470" y="2226045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FC9D25-6100-B612-EDB9-8F8D0DB401CB}"/>
              </a:ext>
            </a:extLst>
          </p:cNvPr>
          <p:cNvSpPr/>
          <p:nvPr/>
        </p:nvSpPr>
        <p:spPr>
          <a:xfrm>
            <a:off x="4657801" y="3951710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3C8C18C-DE67-31E1-2E13-E7DBFF5893DB}"/>
              </a:ext>
            </a:extLst>
          </p:cNvPr>
          <p:cNvSpPr/>
          <p:nvPr/>
        </p:nvSpPr>
        <p:spPr>
          <a:xfrm>
            <a:off x="4737438" y="2825859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FED715B-11DA-3890-9DE9-F21FA59AD75A}"/>
              </a:ext>
            </a:extLst>
          </p:cNvPr>
          <p:cNvSpPr/>
          <p:nvPr/>
        </p:nvSpPr>
        <p:spPr>
          <a:xfrm>
            <a:off x="1981161" y="2226045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CB3F70F-E952-C5B3-AFAF-9584AF1A61A9}"/>
              </a:ext>
            </a:extLst>
          </p:cNvPr>
          <p:cNvSpPr/>
          <p:nvPr/>
        </p:nvSpPr>
        <p:spPr>
          <a:xfrm>
            <a:off x="1981161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22849B9-EA5A-585E-62B5-A327E29AAC18}"/>
              </a:ext>
            </a:extLst>
          </p:cNvPr>
          <p:cNvSpPr/>
          <p:nvPr/>
        </p:nvSpPr>
        <p:spPr>
          <a:xfrm>
            <a:off x="1960120" y="402790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95E12B0-AB71-CC9D-228F-9054C2CDB203}"/>
              </a:ext>
            </a:extLst>
          </p:cNvPr>
          <p:cNvSpPr/>
          <p:nvPr/>
        </p:nvSpPr>
        <p:spPr>
          <a:xfrm>
            <a:off x="1958129" y="282585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2888987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37BEC-6DF6-CD8D-6EB3-BA8DCC5E4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9560DC-C7F1-3C6A-3B34-C7F9A2FF125E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7CC81B-7D3D-FB29-65E4-1AD2B12BF9DE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8C8D95-167D-4CD2-AC9F-6E7FBB8F0BDC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A72EF1-F98D-B366-E430-0306E77684FA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F2AF12A-B933-4CAE-386D-A1D4671EED85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9447645-6F25-7DAE-7C90-C244297589B8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AD1C0C4-45C8-EC82-29B5-3A8668E587C8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C965435-C64D-C264-0295-40E7D982F50E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51F3EB3-6354-68D3-582F-9E479E8694AD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0E3BA95-326A-74E9-4DF3-8C96887B7C82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15960B-9B9D-F76D-ABA5-C9F10ED59AF4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BE57836-D7CE-8249-CFD0-53166EFA63C8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CFD9C4B-4B4D-D626-94BA-B0C41BC63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F8AE6-F7BE-52C9-8AE2-C43F139817F9}"/>
              </a:ext>
            </a:extLst>
          </p:cNvPr>
          <p:cNvSpPr/>
          <p:nvPr/>
        </p:nvSpPr>
        <p:spPr>
          <a:xfrm>
            <a:off x="-667298" y="-481518"/>
            <a:ext cx="13449847" cy="7677150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10F96FF-FF7B-A28F-7803-1BA348FE45E5}"/>
              </a:ext>
            </a:extLst>
          </p:cNvPr>
          <p:cNvSpPr/>
          <p:nvPr/>
        </p:nvSpPr>
        <p:spPr>
          <a:xfrm>
            <a:off x="7560820" y="222604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A15D302-1CFF-CDC0-4E27-FBFD78DFD632}"/>
              </a:ext>
            </a:extLst>
          </p:cNvPr>
          <p:cNvSpPr/>
          <p:nvPr/>
        </p:nvSpPr>
        <p:spPr>
          <a:xfrm>
            <a:off x="-3554818" y="222604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329558A-E639-C270-EEE9-2B6971608E85}"/>
              </a:ext>
            </a:extLst>
          </p:cNvPr>
          <p:cNvSpPr/>
          <p:nvPr/>
        </p:nvSpPr>
        <p:spPr>
          <a:xfrm>
            <a:off x="-3554818" y="222604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B01F9D1-8114-3F7A-3D19-18EF95B34036}"/>
              </a:ext>
            </a:extLst>
          </p:cNvPr>
          <p:cNvSpPr/>
          <p:nvPr/>
        </p:nvSpPr>
        <p:spPr>
          <a:xfrm>
            <a:off x="-3657487" y="3951713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E6CB48A-267C-5E8C-5470-6DF6D006BF4A}"/>
              </a:ext>
            </a:extLst>
          </p:cNvPr>
          <p:cNvSpPr/>
          <p:nvPr/>
        </p:nvSpPr>
        <p:spPr>
          <a:xfrm>
            <a:off x="-3577850" y="282586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7A4B54F-DD1B-7550-C5FC-70D2907EA0AE}"/>
              </a:ext>
            </a:extLst>
          </p:cNvPr>
          <p:cNvSpPr/>
          <p:nvPr/>
        </p:nvSpPr>
        <p:spPr>
          <a:xfrm>
            <a:off x="-6334127" y="222604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3460A17-85A5-A9DD-C0B3-BFE7A2563CA1}"/>
              </a:ext>
            </a:extLst>
          </p:cNvPr>
          <p:cNvSpPr/>
          <p:nvPr/>
        </p:nvSpPr>
        <p:spPr>
          <a:xfrm>
            <a:off x="-6334127" y="222604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9A26106-3293-6E22-ECAC-6053FCD25D64}"/>
              </a:ext>
            </a:extLst>
          </p:cNvPr>
          <p:cNvSpPr/>
          <p:nvPr/>
        </p:nvSpPr>
        <p:spPr>
          <a:xfrm>
            <a:off x="-6355168" y="4027912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3EB90B9-5EE4-F1D9-45FC-837C806EB61D}"/>
              </a:ext>
            </a:extLst>
          </p:cNvPr>
          <p:cNvSpPr/>
          <p:nvPr/>
        </p:nvSpPr>
        <p:spPr>
          <a:xfrm>
            <a:off x="-6357159" y="282586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631744F-A18D-B7C0-EEA5-E05F8FD4DAA0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rgbClr val="141415"/>
                </a:solidFill>
                <a:cs typeface="2  Bardiya" panose="00000400000000000000" pitchFamily="2" charset="-78"/>
              </a:rPr>
              <a:t>13</a:t>
            </a:r>
            <a:endParaRPr lang="en-US" sz="2000" b="1" dirty="0">
              <a:solidFill>
                <a:srgbClr val="141415"/>
              </a:solidFill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DA760A-31BD-8542-441A-4F6EC540BBC8}"/>
              </a:ext>
            </a:extLst>
          </p:cNvPr>
          <p:cNvSpPr/>
          <p:nvPr/>
        </p:nvSpPr>
        <p:spPr>
          <a:xfrm>
            <a:off x="10437069" y="2305028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Classification</a:t>
            </a:r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مدل‌های </a:t>
            </a:r>
            <a:r>
              <a:rPr lang="en-US" sz="1200" b="1" dirty="0">
                <a:cs typeface="2  Bardiya" panose="00000400000000000000" pitchFamily="2" charset="-78"/>
              </a:rPr>
              <a:t>CNN</a:t>
            </a:r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مدل </a:t>
            </a:r>
            <a:r>
              <a:rPr lang="en-US" sz="12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A8CE1D-650E-6A2F-F7D1-1AE8EFDA3169}"/>
              </a:ext>
            </a:extLst>
          </p:cNvPr>
          <p:cNvSpPr/>
          <p:nvPr/>
        </p:nvSpPr>
        <p:spPr>
          <a:xfrm>
            <a:off x="10766498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647339-B72F-6DD9-2868-D7E97FA8AB40}"/>
              </a:ext>
            </a:extLst>
          </p:cNvPr>
          <p:cNvCxnSpPr/>
          <p:nvPr/>
        </p:nvCxnSpPr>
        <p:spPr>
          <a:xfrm>
            <a:off x="1054938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010A603-D309-E592-08CD-24F799C49452}"/>
              </a:ext>
            </a:extLst>
          </p:cNvPr>
          <p:cNvSpPr txBox="1"/>
          <p:nvPr/>
        </p:nvSpPr>
        <p:spPr>
          <a:xfrm>
            <a:off x="1042050" y="2266533"/>
            <a:ext cx="9065672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Pre-process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و بالانس کردن دیتاست </a:t>
            </a:r>
            <a:r>
              <a:rPr lang="en-US" b="1" dirty="0" err="1">
                <a:solidFill>
                  <a:schemeClr val="bg1"/>
                </a:solidFill>
                <a:cs typeface="2  Koodak" panose="00000700000000000000" pitchFamily="2" charset="-78"/>
              </a:rPr>
              <a:t>PlantVillage</a:t>
            </a:r>
            <a:endParaRPr lang="en-US" b="1" dirty="0">
              <a:solidFill>
                <a:schemeClr val="bg1"/>
              </a:solidFill>
              <a:cs typeface="2  Koodak" panose="000007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6314DC-5E24-89E7-9E58-AE08A8CA5211}"/>
              </a:ext>
            </a:extLst>
          </p:cNvPr>
          <p:cNvSpPr txBox="1"/>
          <p:nvPr/>
        </p:nvSpPr>
        <p:spPr>
          <a:xfrm>
            <a:off x="1300574" y="14716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Classification</a:t>
            </a:r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 -مدل‌های 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CNN</a:t>
            </a:r>
            <a:endParaRPr lang="fa-IR" sz="3200" b="1" dirty="0">
              <a:solidFill>
                <a:schemeClr val="bg1"/>
              </a:solidFill>
              <a:cs typeface="2  Bardiya" panose="00000400000000000000" pitchFamily="2" charset="-78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6921E41-C702-8C1D-89E9-D0FCB05C003E}"/>
              </a:ext>
            </a:extLst>
          </p:cNvPr>
          <p:cNvGrpSpPr/>
          <p:nvPr/>
        </p:nvGrpSpPr>
        <p:grpSpPr>
          <a:xfrm>
            <a:off x="5706215" y="3079108"/>
            <a:ext cx="4095528" cy="2910796"/>
            <a:chOff x="455908" y="1753671"/>
            <a:chExt cx="4095528" cy="291079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6A9FFF48-CE39-14CA-728E-D41E1CBCF985}"/>
                </a:ext>
              </a:extLst>
            </p:cNvPr>
            <p:cNvSpPr/>
            <p:nvPr/>
          </p:nvSpPr>
          <p:spPr>
            <a:xfrm>
              <a:off x="455908" y="1753671"/>
              <a:ext cx="4095528" cy="2910796"/>
            </a:xfrm>
            <a:prstGeom prst="roundRect">
              <a:avLst>
                <a:gd name="adj" fmla="val 92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3BEC715F-3413-AAE3-74FC-35260CE36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136" y="1974563"/>
              <a:ext cx="3784192" cy="2479617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9BFAA08-5318-CEE5-EA3B-487347A66A7F}"/>
              </a:ext>
            </a:extLst>
          </p:cNvPr>
          <p:cNvGrpSpPr/>
          <p:nvPr/>
        </p:nvGrpSpPr>
        <p:grpSpPr>
          <a:xfrm>
            <a:off x="1300574" y="3079108"/>
            <a:ext cx="4095528" cy="2910796"/>
            <a:chOff x="4981350" y="3429000"/>
            <a:chExt cx="4095528" cy="2910796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F1A1B2C-32C3-E641-CA05-7C28DA290738}"/>
                </a:ext>
              </a:extLst>
            </p:cNvPr>
            <p:cNvSpPr/>
            <p:nvPr/>
          </p:nvSpPr>
          <p:spPr>
            <a:xfrm>
              <a:off x="4981350" y="3429000"/>
              <a:ext cx="4095528" cy="2910796"/>
            </a:xfrm>
            <a:prstGeom prst="roundRect">
              <a:avLst>
                <a:gd name="adj" fmla="val 92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BC66DACF-750F-E46F-C9AF-64B683593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37578" y="3672603"/>
              <a:ext cx="3728190" cy="24429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0510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A3278-800E-88E3-8F81-7F1A1EB6E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7553E1-FF20-D0E8-9493-74DEC0BDDA5D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2BD517-BB37-C04A-3EED-3630244C936B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A95AD8-397E-122D-53AA-695BCAAC0B37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E93B46-1AF4-9000-D13D-86AB5DB46B22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207C50-E506-67F2-E9C9-D42C3A2B6690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781EB0-71C5-DDA6-4C6D-9B11DF4D0F2A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556DB98-B004-90A6-FC91-46E316B4BA1E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6CA990F-4E8E-975B-7043-A26A244A9950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7395887-0950-024A-1FA3-991ED8E393FE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41ADF6-CD59-FA02-EB42-A588F535A89E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B00E27-44BB-AB94-DE68-4D262877D2C0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4DB0769-10B5-D2BB-EED0-1EBCD9DF22EC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CA6EB64-0849-DAE9-C291-FC4006B84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55DCCE-100A-FC61-063F-F8510E09719C}"/>
              </a:ext>
            </a:extLst>
          </p:cNvPr>
          <p:cNvSpPr/>
          <p:nvPr/>
        </p:nvSpPr>
        <p:spPr>
          <a:xfrm>
            <a:off x="-667298" y="-481518"/>
            <a:ext cx="13449847" cy="7677150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95A09F-AB50-1E5B-D95E-1C1492E5FA33}"/>
              </a:ext>
            </a:extLst>
          </p:cNvPr>
          <p:cNvSpPr/>
          <p:nvPr/>
        </p:nvSpPr>
        <p:spPr>
          <a:xfrm>
            <a:off x="7560820" y="222604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668BE96-394D-0FBB-E1EB-F566C7F025FC}"/>
              </a:ext>
            </a:extLst>
          </p:cNvPr>
          <p:cNvSpPr/>
          <p:nvPr/>
        </p:nvSpPr>
        <p:spPr>
          <a:xfrm>
            <a:off x="-3554818" y="222604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BF3274B-DFED-12D5-E45C-D998FC42AE1A}"/>
              </a:ext>
            </a:extLst>
          </p:cNvPr>
          <p:cNvSpPr/>
          <p:nvPr/>
        </p:nvSpPr>
        <p:spPr>
          <a:xfrm>
            <a:off x="-3554818" y="222604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560E43E-D428-1F2D-7529-D917D75044AB}"/>
              </a:ext>
            </a:extLst>
          </p:cNvPr>
          <p:cNvSpPr/>
          <p:nvPr/>
        </p:nvSpPr>
        <p:spPr>
          <a:xfrm>
            <a:off x="-3657487" y="3951713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B50FE50-860C-9194-BF12-71615FB0BBB0}"/>
              </a:ext>
            </a:extLst>
          </p:cNvPr>
          <p:cNvSpPr/>
          <p:nvPr/>
        </p:nvSpPr>
        <p:spPr>
          <a:xfrm>
            <a:off x="-3577850" y="282586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E4910E1-6A08-84C0-3707-43D3F3E649D1}"/>
              </a:ext>
            </a:extLst>
          </p:cNvPr>
          <p:cNvSpPr/>
          <p:nvPr/>
        </p:nvSpPr>
        <p:spPr>
          <a:xfrm>
            <a:off x="-6334127" y="222604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2923CB4-E8A7-56D8-7E12-77E756DFAEAB}"/>
              </a:ext>
            </a:extLst>
          </p:cNvPr>
          <p:cNvSpPr/>
          <p:nvPr/>
        </p:nvSpPr>
        <p:spPr>
          <a:xfrm>
            <a:off x="-6334127" y="222604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512C680-F3A1-216B-0539-2EF51699F8B5}"/>
              </a:ext>
            </a:extLst>
          </p:cNvPr>
          <p:cNvSpPr/>
          <p:nvPr/>
        </p:nvSpPr>
        <p:spPr>
          <a:xfrm>
            <a:off x="-6355168" y="4027912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5E5B14D-3A14-ADA3-57B0-F5F5C37BE5B6}"/>
              </a:ext>
            </a:extLst>
          </p:cNvPr>
          <p:cNvSpPr/>
          <p:nvPr/>
        </p:nvSpPr>
        <p:spPr>
          <a:xfrm>
            <a:off x="-6357159" y="282586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F2B5987-CD47-7E5E-E65E-60EF1CD6E1A2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rgbClr val="141415"/>
                </a:solidFill>
                <a:cs typeface="2  Bardiya" panose="00000400000000000000" pitchFamily="2" charset="-78"/>
              </a:rPr>
              <a:t>13</a:t>
            </a:r>
            <a:endParaRPr lang="en-US" sz="2000" b="1" dirty="0">
              <a:solidFill>
                <a:srgbClr val="141415"/>
              </a:solidFill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6F6657-C104-3810-5B5A-220AF2065D9C}"/>
              </a:ext>
            </a:extLst>
          </p:cNvPr>
          <p:cNvSpPr/>
          <p:nvPr/>
        </p:nvSpPr>
        <p:spPr>
          <a:xfrm>
            <a:off x="10437069" y="2305028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Classification</a:t>
            </a:r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مدل‌های </a:t>
            </a:r>
            <a:r>
              <a:rPr lang="en-US" sz="1200" b="1" dirty="0">
                <a:cs typeface="2  Bardiya" panose="00000400000000000000" pitchFamily="2" charset="-78"/>
              </a:rPr>
              <a:t>CNN</a:t>
            </a:r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مدل </a:t>
            </a:r>
            <a:r>
              <a:rPr lang="en-US" sz="12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C68D50-41BB-B598-01C9-7E1D7467CA71}"/>
              </a:ext>
            </a:extLst>
          </p:cNvPr>
          <p:cNvSpPr/>
          <p:nvPr/>
        </p:nvSpPr>
        <p:spPr>
          <a:xfrm>
            <a:off x="10766498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88B4FC-43AB-A120-A855-9BDA15238A3E}"/>
              </a:ext>
            </a:extLst>
          </p:cNvPr>
          <p:cNvCxnSpPr/>
          <p:nvPr/>
        </p:nvCxnSpPr>
        <p:spPr>
          <a:xfrm>
            <a:off x="1054938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95E8B5C-A73F-DEBE-9486-A2F892DA6730}"/>
              </a:ext>
            </a:extLst>
          </p:cNvPr>
          <p:cNvSpPr txBox="1"/>
          <p:nvPr/>
        </p:nvSpPr>
        <p:spPr>
          <a:xfrm>
            <a:off x="1042050" y="2266533"/>
            <a:ext cx="9065672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Pre-process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و بالانس کردن دیتاست </a:t>
            </a:r>
            <a:r>
              <a:rPr lang="en-US" b="1" dirty="0" err="1">
                <a:solidFill>
                  <a:schemeClr val="bg1"/>
                </a:solidFill>
                <a:cs typeface="2  Koodak" panose="00000700000000000000" pitchFamily="2" charset="-78"/>
              </a:rPr>
              <a:t>PlantVillage</a:t>
            </a:r>
            <a:endParaRPr lang="en-US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استفاده از مدل های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Pre-trained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: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ResNet50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</a:t>
            </a:r>
            <a:endParaRPr lang="en-US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EfficientNetB0</a:t>
            </a:r>
            <a:endParaRPr lang="fa-IR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MobileNetV2</a:t>
            </a:r>
            <a:endParaRPr lang="fa-IR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آموزش به مدت ۱۰ ایپاک و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Fine-Tune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کردن</a:t>
            </a:r>
            <a:endParaRPr lang="en-US" b="1" dirty="0">
              <a:solidFill>
                <a:schemeClr val="bg1"/>
              </a:solidFill>
              <a:cs typeface="2  Koodak" panose="000007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1C6608-3F79-7EF7-9E18-719506321C7D}"/>
              </a:ext>
            </a:extLst>
          </p:cNvPr>
          <p:cNvSpPr txBox="1"/>
          <p:nvPr/>
        </p:nvSpPr>
        <p:spPr>
          <a:xfrm>
            <a:off x="1300574" y="14716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Classification</a:t>
            </a:r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 -مدل‌های 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CNN</a:t>
            </a:r>
            <a:endParaRPr lang="fa-IR" sz="3200" b="1" dirty="0">
              <a:solidFill>
                <a:schemeClr val="bg1"/>
              </a:solidFill>
              <a:cs typeface="2  Bardiy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55670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58E4E9-0740-1A36-4010-5A86D1C24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CDAE98-6F20-30D0-A2BC-97975461FD50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C0C410-1521-99FB-4065-326C2C5012A5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2A2E1C-687C-AEB6-C8A4-8430B44169C2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7F90622-274B-157B-D373-39D127FFDE6D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75CDB7-CAE5-D799-03DF-B7F88DA54041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5ED5A7C-F80B-4DB3-8C13-9B02A95C1F08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4CB7993-C2C3-779F-E886-CFAC8CAFC44E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79EF673-24D0-7C3D-A41B-2D358D026746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50709F1-F35D-633A-32C0-6ADA7AC157C8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1720D73-0BD0-8832-6A00-D42E0970C60C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B3255D-A8DE-867E-81D3-BB58DC8F1864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C6B5FB3-24D4-FCA9-D1F5-802D1E96217A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9E90A2E-AA73-34FD-D11C-4565D896C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C495BC-5EDE-1BA6-38CC-EB17B1A4C1AC}"/>
              </a:ext>
            </a:extLst>
          </p:cNvPr>
          <p:cNvSpPr/>
          <p:nvPr/>
        </p:nvSpPr>
        <p:spPr>
          <a:xfrm>
            <a:off x="-667298" y="-481518"/>
            <a:ext cx="13449847" cy="7677150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B0D38B-E4A2-7347-8822-D1DC74319BC5}"/>
              </a:ext>
            </a:extLst>
          </p:cNvPr>
          <p:cNvSpPr/>
          <p:nvPr/>
        </p:nvSpPr>
        <p:spPr>
          <a:xfrm>
            <a:off x="7560820" y="222604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FC9E4BE-5BC2-617C-F1D8-7F077C8F379C}"/>
              </a:ext>
            </a:extLst>
          </p:cNvPr>
          <p:cNvSpPr/>
          <p:nvPr/>
        </p:nvSpPr>
        <p:spPr>
          <a:xfrm>
            <a:off x="-3554818" y="2226049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83509C1-E95D-6662-1625-1BD95CA5A17A}"/>
              </a:ext>
            </a:extLst>
          </p:cNvPr>
          <p:cNvSpPr/>
          <p:nvPr/>
        </p:nvSpPr>
        <p:spPr>
          <a:xfrm>
            <a:off x="-3554818" y="2226048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0EB0B65-8BA8-19EE-71A4-541ABA534A6D}"/>
              </a:ext>
            </a:extLst>
          </p:cNvPr>
          <p:cNvSpPr/>
          <p:nvPr/>
        </p:nvSpPr>
        <p:spPr>
          <a:xfrm>
            <a:off x="-3657487" y="3951713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B8EE8E5-6000-F3D6-944B-F66149FA5E35}"/>
              </a:ext>
            </a:extLst>
          </p:cNvPr>
          <p:cNvSpPr/>
          <p:nvPr/>
        </p:nvSpPr>
        <p:spPr>
          <a:xfrm>
            <a:off x="-3577850" y="2825862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8D3ED86-B081-3E72-D017-2DDA83B69EEE}"/>
              </a:ext>
            </a:extLst>
          </p:cNvPr>
          <p:cNvSpPr/>
          <p:nvPr/>
        </p:nvSpPr>
        <p:spPr>
          <a:xfrm>
            <a:off x="-6334127" y="222604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D9C762D-2E0A-B301-4DF2-F922C935A77A}"/>
              </a:ext>
            </a:extLst>
          </p:cNvPr>
          <p:cNvSpPr/>
          <p:nvPr/>
        </p:nvSpPr>
        <p:spPr>
          <a:xfrm>
            <a:off x="-6334127" y="222604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B6513CC-D876-440C-E1F5-904D76B08442}"/>
              </a:ext>
            </a:extLst>
          </p:cNvPr>
          <p:cNvSpPr/>
          <p:nvPr/>
        </p:nvSpPr>
        <p:spPr>
          <a:xfrm>
            <a:off x="-6355168" y="4027912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9BED605-4D7B-3D96-7A34-3636E505C391}"/>
              </a:ext>
            </a:extLst>
          </p:cNvPr>
          <p:cNvSpPr/>
          <p:nvPr/>
        </p:nvSpPr>
        <p:spPr>
          <a:xfrm>
            <a:off x="-6357159" y="282586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0FFB17F-48EC-5342-F359-2130D80387BD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rgbClr val="141415"/>
                </a:solidFill>
                <a:cs typeface="2  Bardiya" panose="00000400000000000000" pitchFamily="2" charset="-78"/>
              </a:rPr>
              <a:t>13</a:t>
            </a:r>
            <a:endParaRPr lang="en-US" sz="2000" b="1" dirty="0">
              <a:solidFill>
                <a:srgbClr val="141415"/>
              </a:solidFill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B1118A-2FA0-C8DA-39FE-D98DFE7F9182}"/>
              </a:ext>
            </a:extLst>
          </p:cNvPr>
          <p:cNvSpPr/>
          <p:nvPr/>
        </p:nvSpPr>
        <p:spPr>
          <a:xfrm>
            <a:off x="10437069" y="2305028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Classification</a:t>
            </a:r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مدل‌های </a:t>
            </a:r>
            <a:r>
              <a:rPr lang="en-US" sz="1200" b="1" dirty="0">
                <a:cs typeface="2  Bardiya" panose="00000400000000000000" pitchFamily="2" charset="-78"/>
              </a:rPr>
              <a:t>CNN</a:t>
            </a:r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مدل </a:t>
            </a:r>
            <a:r>
              <a:rPr lang="en-US" sz="12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D21839-8613-AEAD-9081-14F67083CF2E}"/>
              </a:ext>
            </a:extLst>
          </p:cNvPr>
          <p:cNvSpPr/>
          <p:nvPr/>
        </p:nvSpPr>
        <p:spPr>
          <a:xfrm>
            <a:off x="10766498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DA447A-AFA2-03B4-06BF-B7A4F3BE68A2}"/>
              </a:ext>
            </a:extLst>
          </p:cNvPr>
          <p:cNvCxnSpPr/>
          <p:nvPr/>
        </p:nvCxnSpPr>
        <p:spPr>
          <a:xfrm>
            <a:off x="1054938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F81CB18-E000-9861-CEF7-2D69DBD9B895}"/>
              </a:ext>
            </a:extLst>
          </p:cNvPr>
          <p:cNvSpPr txBox="1"/>
          <p:nvPr/>
        </p:nvSpPr>
        <p:spPr>
          <a:xfrm>
            <a:off x="1042050" y="2266533"/>
            <a:ext cx="9065672" cy="334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استفاده از قابلیت های منحصر به فرد هر شبکه:</a:t>
            </a:r>
          </a:p>
          <a:p>
            <a:pPr marL="742950" lvl="1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EfficientNetB0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Balanced Scaling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- ساختار سبک – استخراج ویژگی‌های پایه و محلی تصویر</a:t>
            </a:r>
          </a:p>
          <a:p>
            <a:pPr marL="742950" lvl="1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MobileNetV2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: استخراج الگوهای ظریف و کم‌عمق</a:t>
            </a:r>
          </a:p>
          <a:p>
            <a:pPr marL="742950" lvl="1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ResNet50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: عمق زیاد و توانایی تحلیل ویژگی‌های پیچیده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رسیدن به دقتی بالاتر از مدل های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CNN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تکی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کاهش نوسان و جلوگیری از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Overfit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536122-9970-B848-3AB0-D518D8E17030}"/>
              </a:ext>
            </a:extLst>
          </p:cNvPr>
          <p:cNvSpPr txBox="1"/>
          <p:nvPr/>
        </p:nvSpPr>
        <p:spPr>
          <a:xfrm>
            <a:off x="1300574" y="14716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Classification</a:t>
            </a:r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 -مدل‌ 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Ensemble</a:t>
            </a:r>
            <a:endParaRPr lang="fa-IR" sz="3200" b="1" dirty="0">
              <a:solidFill>
                <a:schemeClr val="bg1"/>
              </a:solidFill>
              <a:cs typeface="2  Bardiy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41564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5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B6754-D88C-00C9-B124-0B8F31BC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A17DB5-F616-4ADA-9717-28E7FCCDBE66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65BA21-C266-1139-C598-ECEEC385E8D6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A18DFC7-B53C-6A65-4EF8-47DA3FE82F6A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26906D-F39B-75A0-1D29-5B1CF891ABD4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17B49E-871D-0770-C024-34826AD67C6B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42FB7B-810E-8C2C-C90F-9A27D208A566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14</a:t>
            </a:r>
            <a:endParaRPr lang="en-US" sz="2000" b="1" dirty="0">
              <a:solidFill>
                <a:schemeClr val="tx1"/>
              </a:solidFill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D3D70B3-526D-35F1-EDC0-EA1488E4A3A0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55DE329-D5C0-AECB-0C5A-FA006DF8370E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8B9C89E-CAE7-D64B-9B9E-409796B31C5B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CEC18ED-94C4-B670-2628-31D09AFDCCCA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4A9003B-15F6-23CA-4FB9-A807CD0A3F94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6462EE-0E06-AE18-C1EC-8F1E7096AC61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8A3C616-1148-B0CD-7AAE-A65314A68BA7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E794088-2BDD-659F-D036-1533FC822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36399C-17D5-CAB7-299C-629986F07F23}"/>
              </a:ext>
            </a:extLst>
          </p:cNvPr>
          <p:cNvSpPr/>
          <p:nvPr/>
        </p:nvSpPr>
        <p:spPr>
          <a:xfrm>
            <a:off x="7560820" y="222605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522766-2A78-C75F-6F5A-555DE00BC8E3}"/>
              </a:ext>
            </a:extLst>
          </p:cNvPr>
          <p:cNvSpPr/>
          <p:nvPr/>
        </p:nvSpPr>
        <p:spPr>
          <a:xfrm>
            <a:off x="7560820" y="222604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387F09-B518-E6CF-1957-D595A57A79DB}"/>
              </a:ext>
            </a:extLst>
          </p:cNvPr>
          <p:cNvSpPr/>
          <p:nvPr/>
        </p:nvSpPr>
        <p:spPr>
          <a:xfrm>
            <a:off x="7539779" y="395171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15E296-5B05-164E-F9A4-E1A6E8AE1D59}"/>
              </a:ext>
            </a:extLst>
          </p:cNvPr>
          <p:cNvSpPr/>
          <p:nvPr/>
        </p:nvSpPr>
        <p:spPr>
          <a:xfrm>
            <a:off x="7537788" y="282586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D917E3-DAA1-1B44-12AB-B3F0347DC38E}"/>
              </a:ext>
            </a:extLst>
          </p:cNvPr>
          <p:cNvSpPr/>
          <p:nvPr/>
        </p:nvSpPr>
        <p:spPr>
          <a:xfrm>
            <a:off x="4760470" y="2226046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3EC5193-FF53-FBD5-14AB-42FEE52AAB23}"/>
              </a:ext>
            </a:extLst>
          </p:cNvPr>
          <p:cNvSpPr/>
          <p:nvPr/>
        </p:nvSpPr>
        <p:spPr>
          <a:xfrm>
            <a:off x="4760470" y="2226045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C03B9DF-9091-E66B-0179-E2CEC378F79B}"/>
              </a:ext>
            </a:extLst>
          </p:cNvPr>
          <p:cNvSpPr/>
          <p:nvPr/>
        </p:nvSpPr>
        <p:spPr>
          <a:xfrm>
            <a:off x="4657801" y="3951710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1165A8B-DB86-CF90-021D-7F6590702D3C}"/>
              </a:ext>
            </a:extLst>
          </p:cNvPr>
          <p:cNvSpPr/>
          <p:nvPr/>
        </p:nvSpPr>
        <p:spPr>
          <a:xfrm>
            <a:off x="4737438" y="2825859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A561A45-BE23-6958-052F-F01EBE7BC735}"/>
              </a:ext>
            </a:extLst>
          </p:cNvPr>
          <p:cNvSpPr/>
          <p:nvPr/>
        </p:nvSpPr>
        <p:spPr>
          <a:xfrm>
            <a:off x="1981161" y="2226045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934E399-4DCA-EF00-6071-913106FD55A2}"/>
              </a:ext>
            </a:extLst>
          </p:cNvPr>
          <p:cNvSpPr/>
          <p:nvPr/>
        </p:nvSpPr>
        <p:spPr>
          <a:xfrm>
            <a:off x="1981161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F7A7E0D-67B8-330D-6A7C-77509073408A}"/>
              </a:ext>
            </a:extLst>
          </p:cNvPr>
          <p:cNvSpPr/>
          <p:nvPr/>
        </p:nvSpPr>
        <p:spPr>
          <a:xfrm>
            <a:off x="1960120" y="402790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A392100-5858-3F5A-20EF-E50808380C30}"/>
              </a:ext>
            </a:extLst>
          </p:cNvPr>
          <p:cNvSpPr/>
          <p:nvPr/>
        </p:nvSpPr>
        <p:spPr>
          <a:xfrm>
            <a:off x="1958129" y="282585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1565613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D828B-488B-E2BD-614D-D63673C77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5AD6DB-5DD3-301E-CA54-F455E3CB1ED0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FCE1A6-A9E7-C85B-8302-1254497F7178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D175940-28AF-F682-5C8A-6761297BC9CC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A5B0F75-4B88-E8A3-3574-26EB073B321A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31E13C-5007-6FDD-7F86-BA24A55F2D82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A80413B-DEE6-D89F-CC57-D2C0666D395A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3334C92-6DC9-876D-3D27-A145AD893235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06D8091-718F-58F3-F5ED-7CF97FAE3BD8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0B501C8-B42B-C254-B0C5-57C29B36D725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7A059D-4AD9-8251-2E49-F0D86B41A6D1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72C2F0-AAD5-BAD7-7F75-119D420FB4DA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A376FF1-457B-EF34-4446-5EA197584795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9D7B2F1-B191-F3B4-4199-517BD8848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592714-FB11-541A-6102-E896ED9C55F5}"/>
              </a:ext>
            </a:extLst>
          </p:cNvPr>
          <p:cNvSpPr/>
          <p:nvPr/>
        </p:nvSpPr>
        <p:spPr>
          <a:xfrm>
            <a:off x="-666750" y="-352424"/>
            <a:ext cx="13591706" cy="7562848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142346-6643-37A7-3E1B-8C0B9B614230}"/>
              </a:ext>
            </a:extLst>
          </p:cNvPr>
          <p:cNvSpPr/>
          <p:nvPr/>
        </p:nvSpPr>
        <p:spPr>
          <a:xfrm>
            <a:off x="12971020" y="2226045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7604D9-9130-E988-8170-FC410A17BD4C}"/>
              </a:ext>
            </a:extLst>
          </p:cNvPr>
          <p:cNvSpPr/>
          <p:nvPr/>
        </p:nvSpPr>
        <p:spPr>
          <a:xfrm>
            <a:off x="12971020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D474F1-212F-CE46-6D86-AC651BE29543}"/>
              </a:ext>
            </a:extLst>
          </p:cNvPr>
          <p:cNvSpPr/>
          <p:nvPr/>
        </p:nvSpPr>
        <p:spPr>
          <a:xfrm>
            <a:off x="12949979" y="395170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4DBED8-BE96-6F16-0981-A62E0E1F335B}"/>
              </a:ext>
            </a:extLst>
          </p:cNvPr>
          <p:cNvSpPr/>
          <p:nvPr/>
        </p:nvSpPr>
        <p:spPr>
          <a:xfrm>
            <a:off x="12947988" y="282585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35E0756-700B-B05F-1339-2888C78134A9}"/>
              </a:ext>
            </a:extLst>
          </p:cNvPr>
          <p:cNvSpPr/>
          <p:nvPr/>
        </p:nvSpPr>
        <p:spPr>
          <a:xfrm>
            <a:off x="4760470" y="2226045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48D99C2-0FFC-4D1B-DF22-738404F19D9F}"/>
              </a:ext>
            </a:extLst>
          </p:cNvPr>
          <p:cNvSpPr/>
          <p:nvPr/>
        </p:nvSpPr>
        <p:spPr>
          <a:xfrm>
            <a:off x="-2838489" y="2226045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F30C172-CCEB-4575-30D7-951CAEDDC415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14</a:t>
            </a:r>
            <a:endParaRPr lang="en-US" sz="2000" b="1" dirty="0">
              <a:solidFill>
                <a:schemeClr val="tx1"/>
              </a:solidFill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051045E-53E4-F219-61B4-F5C25C720C2B}"/>
              </a:ext>
            </a:extLst>
          </p:cNvPr>
          <p:cNvSpPr/>
          <p:nvPr/>
        </p:nvSpPr>
        <p:spPr>
          <a:xfrm>
            <a:off x="-2838489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75E96D3-05BD-827A-BEED-2C30D92D8953}"/>
              </a:ext>
            </a:extLst>
          </p:cNvPr>
          <p:cNvSpPr/>
          <p:nvPr/>
        </p:nvSpPr>
        <p:spPr>
          <a:xfrm>
            <a:off x="-2859530" y="402790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E9AFADE-DABA-5A6E-BF7B-A0952E911CDA}"/>
              </a:ext>
            </a:extLst>
          </p:cNvPr>
          <p:cNvSpPr/>
          <p:nvPr/>
        </p:nvSpPr>
        <p:spPr>
          <a:xfrm>
            <a:off x="-2861521" y="282585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E72E7B5-2BE5-8C98-11E9-C6FE99F89601}"/>
              </a:ext>
            </a:extLst>
          </p:cNvPr>
          <p:cNvSpPr/>
          <p:nvPr/>
        </p:nvSpPr>
        <p:spPr>
          <a:xfrm>
            <a:off x="10219665" y="2305028"/>
            <a:ext cx="1889207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050" b="1" dirty="0">
                <a:cs typeface="2  Bardiya" panose="00000400000000000000" pitchFamily="2" charset="-78"/>
              </a:rPr>
              <a:t>YOLOX-</a:t>
            </a:r>
            <a:r>
              <a:rPr lang="en-US" sz="1050" b="1" dirty="0" err="1">
                <a:cs typeface="2  Bardiya" panose="00000400000000000000" pitchFamily="2" charset="-78"/>
              </a:rPr>
              <a:t>ConvNeXt</a:t>
            </a:r>
            <a:r>
              <a:rPr lang="en-US" sz="1050" b="1" dirty="0">
                <a:cs typeface="2  Bardiya" panose="00000400000000000000" pitchFamily="2" charset="-78"/>
              </a:rPr>
              <a:t>-CBAM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079DB65-64B7-C1C1-33A4-BE769A1D0803}"/>
              </a:ext>
            </a:extLst>
          </p:cNvPr>
          <p:cNvSpPr/>
          <p:nvPr/>
        </p:nvSpPr>
        <p:spPr>
          <a:xfrm>
            <a:off x="10683370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085614A-5526-F9D3-458B-04233821D25B}"/>
              </a:ext>
            </a:extLst>
          </p:cNvPr>
          <p:cNvCxnSpPr/>
          <p:nvPr/>
        </p:nvCxnSpPr>
        <p:spPr>
          <a:xfrm>
            <a:off x="1023765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C89C81F-B108-E9EC-CD85-B8EB220EE5AC}"/>
              </a:ext>
            </a:extLst>
          </p:cNvPr>
          <p:cNvSpPr txBox="1"/>
          <p:nvPr/>
        </p:nvSpPr>
        <p:spPr>
          <a:xfrm>
            <a:off x="805746" y="2266533"/>
            <a:ext cx="9065672" cy="22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تشخیص ناحیه بیماری در تصاویر واقعی مزرعه</a:t>
            </a:r>
            <a:endParaRPr lang="en-US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محدودیت‌های طبقه‌بندی تصویر در کاربرد عملی</a:t>
            </a:r>
            <a:endParaRPr lang="en-US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استفاده از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YOLOX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برای تعیین مکان دقیق ناحیه بیماری</a:t>
            </a:r>
            <a:endParaRPr lang="en-US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تمرکز بر دیتاست </a:t>
            </a:r>
            <a:r>
              <a:rPr lang="en-US" b="1" dirty="0" err="1">
                <a:solidFill>
                  <a:schemeClr val="bg1"/>
                </a:solidFill>
                <a:cs typeface="2  Koodak" panose="00000700000000000000" pitchFamily="2" charset="-78"/>
              </a:rPr>
              <a:t>PlantDoc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با شرایط واقعی</a:t>
            </a:r>
            <a:endParaRPr lang="en-US" b="1" dirty="0">
              <a:solidFill>
                <a:schemeClr val="bg1"/>
              </a:solidFill>
              <a:cs typeface="2  Koodak" panose="00000700000000000000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BA4550-7E66-AE80-9939-B54395A164C5}"/>
              </a:ext>
            </a:extLst>
          </p:cNvPr>
          <p:cNvSpPr txBox="1"/>
          <p:nvPr/>
        </p:nvSpPr>
        <p:spPr>
          <a:xfrm>
            <a:off x="1064270" y="14716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Object Detection</a:t>
            </a:r>
          </a:p>
        </p:txBody>
      </p:sp>
    </p:spTree>
    <p:extLst>
      <p:ext uri="{BB962C8B-B14F-4D97-AF65-F5344CB8AC3E}">
        <p14:creationId xmlns:p14="http://schemas.microsoft.com/office/powerpoint/2010/main" val="3781127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EFFCF0-624D-3F84-909D-CC740CAF7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BA377E-ECB3-4198-A813-836BF69D0637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5ECEE7-ECFD-0C33-5F99-1A11565211E8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F320266-8333-9FEE-D186-EBEEB1BCC098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A24D29-EC56-CD5C-1672-8C790BB3394E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3CE5970-AA69-917C-F2E7-FC0D83D2D311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9A5BAA7-5103-27F1-6476-1C2D70C77F11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25CE80C-1B95-2F1A-053A-50E29E54C630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2E61BFC-EAED-134E-93D4-8A8BB9BFB3B2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63D81D7-C718-DF69-FCE8-B24E9E9AA273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2E6C64-6916-D969-14AC-5D734A6D30B3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70CBFBB-4CD9-819D-FAC0-4F3A41E1C96F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915D323-8F86-C8A3-DFDD-6B4AD623EAFF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1DD117C-19C8-F8AE-5171-F0B0EA9B8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4637660-4AB2-FC24-5C18-1262B4A19628}"/>
              </a:ext>
            </a:extLst>
          </p:cNvPr>
          <p:cNvSpPr/>
          <p:nvPr/>
        </p:nvSpPr>
        <p:spPr>
          <a:xfrm>
            <a:off x="-666750" y="-352424"/>
            <a:ext cx="13591706" cy="7562848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796C52-B16B-A657-E0B5-82FA9BF984FF}"/>
              </a:ext>
            </a:extLst>
          </p:cNvPr>
          <p:cNvSpPr/>
          <p:nvPr/>
        </p:nvSpPr>
        <p:spPr>
          <a:xfrm>
            <a:off x="12971020" y="2226045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AF234C-872A-662F-1702-6723FA69740E}"/>
              </a:ext>
            </a:extLst>
          </p:cNvPr>
          <p:cNvSpPr/>
          <p:nvPr/>
        </p:nvSpPr>
        <p:spPr>
          <a:xfrm>
            <a:off x="12971020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E7AF2B-1E63-D905-15BC-1C79A5A9F5A8}"/>
              </a:ext>
            </a:extLst>
          </p:cNvPr>
          <p:cNvSpPr/>
          <p:nvPr/>
        </p:nvSpPr>
        <p:spPr>
          <a:xfrm>
            <a:off x="12949979" y="395170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04B19E-DE20-5218-9439-0FF69BE4B331}"/>
              </a:ext>
            </a:extLst>
          </p:cNvPr>
          <p:cNvSpPr/>
          <p:nvPr/>
        </p:nvSpPr>
        <p:spPr>
          <a:xfrm>
            <a:off x="12947988" y="282585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E727D9-BA63-5274-33CA-EBAA4CABC7FB}"/>
              </a:ext>
            </a:extLst>
          </p:cNvPr>
          <p:cNvSpPr/>
          <p:nvPr/>
        </p:nvSpPr>
        <p:spPr>
          <a:xfrm>
            <a:off x="4760470" y="2226045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BFE367-2B32-FCF2-8FA9-C156011055B0}"/>
              </a:ext>
            </a:extLst>
          </p:cNvPr>
          <p:cNvSpPr/>
          <p:nvPr/>
        </p:nvSpPr>
        <p:spPr>
          <a:xfrm>
            <a:off x="-2838489" y="2226045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BA1657D-C487-5693-8FC5-D0C3A09727B3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14</a:t>
            </a:r>
            <a:endParaRPr lang="en-US" sz="2000" b="1" dirty="0">
              <a:solidFill>
                <a:schemeClr val="tx1"/>
              </a:solidFill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3FAC2AE-3483-507F-363B-67BA5C37518B}"/>
              </a:ext>
            </a:extLst>
          </p:cNvPr>
          <p:cNvSpPr/>
          <p:nvPr/>
        </p:nvSpPr>
        <p:spPr>
          <a:xfrm>
            <a:off x="-2838489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24517EB-8BF7-701E-8E5A-0833E5D69D95}"/>
              </a:ext>
            </a:extLst>
          </p:cNvPr>
          <p:cNvSpPr/>
          <p:nvPr/>
        </p:nvSpPr>
        <p:spPr>
          <a:xfrm>
            <a:off x="-2859530" y="402790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8C464A7-7076-812B-78DE-C8612DD81887}"/>
              </a:ext>
            </a:extLst>
          </p:cNvPr>
          <p:cNvSpPr/>
          <p:nvPr/>
        </p:nvSpPr>
        <p:spPr>
          <a:xfrm>
            <a:off x="-2861521" y="282585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40CE973-23D9-213D-95B0-898AE956F924}"/>
              </a:ext>
            </a:extLst>
          </p:cNvPr>
          <p:cNvSpPr/>
          <p:nvPr/>
        </p:nvSpPr>
        <p:spPr>
          <a:xfrm>
            <a:off x="10219665" y="2305028"/>
            <a:ext cx="1889207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050" b="1" dirty="0">
                <a:cs typeface="2  Bardiya" panose="00000400000000000000" pitchFamily="2" charset="-78"/>
              </a:rPr>
              <a:t>YOLOX-</a:t>
            </a:r>
            <a:r>
              <a:rPr lang="en-US" sz="1050" b="1" dirty="0" err="1">
                <a:cs typeface="2  Bardiya" panose="00000400000000000000" pitchFamily="2" charset="-78"/>
              </a:rPr>
              <a:t>ConvNeXt</a:t>
            </a:r>
            <a:r>
              <a:rPr lang="en-US" sz="1050" b="1" dirty="0">
                <a:cs typeface="2  Bardiya" panose="00000400000000000000" pitchFamily="2" charset="-78"/>
              </a:rPr>
              <a:t>-CBAM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550A6C3-AA08-56CE-7773-1C6893EAE549}"/>
              </a:ext>
            </a:extLst>
          </p:cNvPr>
          <p:cNvSpPr/>
          <p:nvPr/>
        </p:nvSpPr>
        <p:spPr>
          <a:xfrm>
            <a:off x="10683370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05D69B9-542B-A99A-428C-393FC5FBCB01}"/>
              </a:ext>
            </a:extLst>
          </p:cNvPr>
          <p:cNvCxnSpPr/>
          <p:nvPr/>
        </p:nvCxnSpPr>
        <p:spPr>
          <a:xfrm>
            <a:off x="1023765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E233787-E39C-AAB5-541F-CF678A5BD888}"/>
              </a:ext>
            </a:extLst>
          </p:cNvPr>
          <p:cNvSpPr txBox="1"/>
          <p:nvPr/>
        </p:nvSpPr>
        <p:spPr>
          <a:xfrm>
            <a:off x="805746" y="2266533"/>
            <a:ext cx="9065672" cy="27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ترکیب چند ماژول برای افزایش دقت در داده‌های واقعی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YOLOX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به‌عنوان مدل پایه تشخیص ناحیه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تقویت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Backbone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با </a:t>
            </a:r>
            <a:r>
              <a:rPr lang="en-US" b="1" dirty="0" err="1">
                <a:solidFill>
                  <a:schemeClr val="bg1"/>
                </a:solidFill>
                <a:cs typeface="2  Koodak" panose="00000700000000000000" pitchFamily="2" charset="-78"/>
              </a:rPr>
              <a:t>ConvNeXt</a:t>
            </a:r>
            <a:endParaRPr lang="en-US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افزایش تمرکز مدل با مکانیزم توجه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CBAM</a:t>
            </a:r>
          </a:p>
          <a:p>
            <a:pPr algn="r" rtl="1">
              <a:lnSpc>
                <a:spcPct val="200000"/>
              </a:lnSpc>
            </a:pPr>
            <a:endParaRPr lang="en-US" dirty="0">
              <a:solidFill>
                <a:schemeClr val="bg1"/>
              </a:solidFill>
              <a:cs typeface="2  Koodak" panose="00000700000000000000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BC0EEA-99B6-E5F0-3FB0-9F7CC4881BC0}"/>
              </a:ext>
            </a:extLst>
          </p:cNvPr>
          <p:cNvSpPr txBox="1"/>
          <p:nvPr/>
        </p:nvSpPr>
        <p:spPr>
          <a:xfrm>
            <a:off x="1064270" y="14716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مدل هیبرید: 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YOLOX-</a:t>
            </a:r>
            <a:r>
              <a:rPr lang="en-US" sz="3200" b="1" dirty="0" err="1">
                <a:solidFill>
                  <a:schemeClr val="bg1"/>
                </a:solidFill>
                <a:cs typeface="2  Bardiya" panose="00000400000000000000" pitchFamily="2" charset="-78"/>
              </a:rPr>
              <a:t>ConvNeXt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-CBAM</a:t>
            </a:r>
          </a:p>
        </p:txBody>
      </p:sp>
    </p:spTree>
    <p:extLst>
      <p:ext uri="{BB962C8B-B14F-4D97-AF65-F5344CB8AC3E}">
        <p14:creationId xmlns:p14="http://schemas.microsoft.com/office/powerpoint/2010/main" val="2555945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857CAC-BC9C-5D7A-B44C-D9A810E5F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3518B8-8D30-6316-8447-67F6E848BC29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AF8A31-3B63-4351-EB2E-9E9BFF42FECC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7B70737-192F-BCA0-642F-94FA76FD4EDE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1C3E655-0AFA-0B9E-453B-3675B550B964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251B926-0C3B-4E5B-C0DA-B12F78C527BF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5051CB4-DEBA-B884-BF0B-81FCAF314DAC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4456559-E3E4-25DA-DFB9-931B0AE79D0E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8EBAAFE-4CDB-D6B3-3932-7B57C2608B10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A4C36DD-51E1-1CAC-926D-F72741D79C62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E6A8673-142C-A4A3-8A8A-5B36C526916B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91BCA1-DF4C-DE7D-D743-3F107DDA063C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0489724-48E0-BFA3-601C-554E8FF2E75E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40C7D9F-BAC4-251E-C596-EAEC8AB38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A121084-B8C7-73B5-D084-E8897554B9FE}"/>
              </a:ext>
            </a:extLst>
          </p:cNvPr>
          <p:cNvSpPr/>
          <p:nvPr/>
        </p:nvSpPr>
        <p:spPr>
          <a:xfrm>
            <a:off x="-666750" y="-352424"/>
            <a:ext cx="13591706" cy="7562848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C142ED-E91A-21B2-044C-FC4BD3D9091A}"/>
              </a:ext>
            </a:extLst>
          </p:cNvPr>
          <p:cNvSpPr/>
          <p:nvPr/>
        </p:nvSpPr>
        <p:spPr>
          <a:xfrm>
            <a:off x="12971020" y="2226045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A2947A-66C5-81E3-3121-F6BCB876FBEF}"/>
              </a:ext>
            </a:extLst>
          </p:cNvPr>
          <p:cNvSpPr/>
          <p:nvPr/>
        </p:nvSpPr>
        <p:spPr>
          <a:xfrm>
            <a:off x="12971020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15A0F0-7C02-B364-5773-A0B8ECA99BDA}"/>
              </a:ext>
            </a:extLst>
          </p:cNvPr>
          <p:cNvSpPr/>
          <p:nvPr/>
        </p:nvSpPr>
        <p:spPr>
          <a:xfrm>
            <a:off x="12949979" y="395170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3FBD49-214A-67B5-C331-1AD336871B42}"/>
              </a:ext>
            </a:extLst>
          </p:cNvPr>
          <p:cNvSpPr/>
          <p:nvPr/>
        </p:nvSpPr>
        <p:spPr>
          <a:xfrm>
            <a:off x="12947988" y="282585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14D4749-FDEF-F696-9208-8C804B7FF175}"/>
              </a:ext>
            </a:extLst>
          </p:cNvPr>
          <p:cNvSpPr/>
          <p:nvPr/>
        </p:nvSpPr>
        <p:spPr>
          <a:xfrm>
            <a:off x="4760470" y="2226045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D586AFE-CDEC-EE7F-8F88-30A393D4DF43}"/>
              </a:ext>
            </a:extLst>
          </p:cNvPr>
          <p:cNvSpPr/>
          <p:nvPr/>
        </p:nvSpPr>
        <p:spPr>
          <a:xfrm>
            <a:off x="-2838489" y="2226045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B0914F2-89CD-8D00-5734-2DF31F2297A5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14</a:t>
            </a:r>
            <a:endParaRPr lang="en-US" sz="2000" b="1" dirty="0">
              <a:solidFill>
                <a:schemeClr val="tx1"/>
              </a:solidFill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BB2E5A0-BF1E-C6EE-606F-F0CD506DF3A0}"/>
              </a:ext>
            </a:extLst>
          </p:cNvPr>
          <p:cNvSpPr/>
          <p:nvPr/>
        </p:nvSpPr>
        <p:spPr>
          <a:xfrm>
            <a:off x="-2838489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016ABDA-2C1D-7249-DECF-FBF571CA3F33}"/>
              </a:ext>
            </a:extLst>
          </p:cNvPr>
          <p:cNvSpPr/>
          <p:nvPr/>
        </p:nvSpPr>
        <p:spPr>
          <a:xfrm>
            <a:off x="-2859530" y="402790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07984C6-4905-A54F-D8E8-FB4BBF218D63}"/>
              </a:ext>
            </a:extLst>
          </p:cNvPr>
          <p:cNvSpPr/>
          <p:nvPr/>
        </p:nvSpPr>
        <p:spPr>
          <a:xfrm>
            <a:off x="-2861521" y="282585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F4023F-1C79-C801-0BAE-C242814FAEA0}"/>
              </a:ext>
            </a:extLst>
          </p:cNvPr>
          <p:cNvSpPr/>
          <p:nvPr/>
        </p:nvSpPr>
        <p:spPr>
          <a:xfrm>
            <a:off x="10219665" y="2305028"/>
            <a:ext cx="1889207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12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050" b="1" dirty="0">
                <a:cs typeface="2  Bardiya" panose="00000400000000000000" pitchFamily="2" charset="-78"/>
              </a:rPr>
              <a:t>YOLOX-</a:t>
            </a:r>
            <a:r>
              <a:rPr lang="en-US" sz="1050" b="1" dirty="0" err="1">
                <a:cs typeface="2  Bardiya" panose="00000400000000000000" pitchFamily="2" charset="-78"/>
              </a:rPr>
              <a:t>ConvNeXt</a:t>
            </a:r>
            <a:r>
              <a:rPr lang="en-US" sz="1050" b="1" dirty="0">
                <a:cs typeface="2  Bardiya" panose="00000400000000000000" pitchFamily="2" charset="-78"/>
              </a:rPr>
              <a:t>-CBAM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C0064FC-FFF0-D8B8-1BF2-A9B8844C2765}"/>
              </a:ext>
            </a:extLst>
          </p:cNvPr>
          <p:cNvSpPr/>
          <p:nvPr/>
        </p:nvSpPr>
        <p:spPr>
          <a:xfrm>
            <a:off x="10683370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1AE395B-FFFE-785F-6EE2-5523C71DA486}"/>
              </a:ext>
            </a:extLst>
          </p:cNvPr>
          <p:cNvCxnSpPr/>
          <p:nvPr/>
        </p:nvCxnSpPr>
        <p:spPr>
          <a:xfrm>
            <a:off x="1023765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1C8560C-38FF-0C34-F75E-364139C0311B}"/>
              </a:ext>
            </a:extLst>
          </p:cNvPr>
          <p:cNvSpPr txBox="1"/>
          <p:nvPr/>
        </p:nvSpPr>
        <p:spPr>
          <a:xfrm>
            <a:off x="805746" y="2266533"/>
            <a:ext cx="9065672" cy="22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YOLOX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: معماری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Anchor-Free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با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Head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تفکیک شده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 err="1">
                <a:solidFill>
                  <a:schemeClr val="bg1"/>
                </a:solidFill>
                <a:cs typeface="2  Koodak" panose="00000700000000000000" pitchFamily="2" charset="-78"/>
              </a:rPr>
              <a:t>ConvNeXt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: استخراج ویژگی‌های دقیق در تصاویر نویزی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CBAM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: افزایش تمرکز روی نواحی بیمار – کاهش قابل توجه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False Negative</a:t>
            </a:r>
            <a:endParaRPr lang="fa-IR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بهبود </a:t>
            </a:r>
            <a:r>
              <a:rPr lang="en-US" b="1" dirty="0" err="1">
                <a:solidFill>
                  <a:schemeClr val="bg1"/>
                </a:solidFill>
                <a:cs typeface="2  Koodak" panose="00000700000000000000" pitchFamily="2" charset="-78"/>
              </a:rPr>
              <a:t>mAP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و تشخیص لکه های کوچک</a:t>
            </a:r>
            <a:endParaRPr lang="en-US" b="1" dirty="0">
              <a:solidFill>
                <a:schemeClr val="bg1"/>
              </a:solidFill>
              <a:cs typeface="2  Koodak" panose="00000700000000000000" pitchFamily="2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4B4729-E4E7-8E4A-3066-5827676CC1CA}"/>
              </a:ext>
            </a:extLst>
          </p:cNvPr>
          <p:cNvSpPr txBox="1"/>
          <p:nvPr/>
        </p:nvSpPr>
        <p:spPr>
          <a:xfrm>
            <a:off x="1064270" y="14716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مدل هیبرید: 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YOLOX-</a:t>
            </a:r>
            <a:r>
              <a:rPr lang="en-US" sz="3200" b="1" dirty="0" err="1">
                <a:solidFill>
                  <a:schemeClr val="bg1"/>
                </a:solidFill>
                <a:cs typeface="2  Bardiya" panose="00000400000000000000" pitchFamily="2" charset="-78"/>
              </a:rPr>
              <a:t>ConvNeXt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-CBAM</a:t>
            </a:r>
          </a:p>
        </p:txBody>
      </p:sp>
    </p:spTree>
    <p:extLst>
      <p:ext uri="{BB962C8B-B14F-4D97-AF65-F5344CB8AC3E}">
        <p14:creationId xmlns:p14="http://schemas.microsoft.com/office/powerpoint/2010/main" val="1370034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5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C9F24-C619-1D48-E2C5-3E6936555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B51A97-679C-2E3E-D22B-53E41EC44080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D51D5EE-7D30-BE3B-895E-71EF036AE959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9A12C8A-061A-4CE1-185B-6BDDBBBB3E78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B5E2FB-B9E6-CBAF-74C4-EE2C4702AFC8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2C6B5B-C42E-809E-104B-E4E4D3C14469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1E3262F-2018-DE0A-0154-A8981E05D311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15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4BCFD3A-5C76-8C8A-CD5F-FC1364635B0F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2DCBE8F-565D-5C32-5654-F1BF836C52FC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B66A30F-C239-561C-6DCD-505830608C8A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275C877-2E60-B55C-ED38-29251786DCEA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EBD3D01-14A8-5472-FE51-D4F26EC95209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BE43F24-524F-F4FC-546E-3659244894A3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1C12204-88AF-F882-480F-CEEF23EA1356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39C1D5C-69DE-9499-4705-3BD9880A9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351001-F6E0-6292-57A3-86B1F3D822C4}"/>
              </a:ext>
            </a:extLst>
          </p:cNvPr>
          <p:cNvSpPr/>
          <p:nvPr/>
        </p:nvSpPr>
        <p:spPr>
          <a:xfrm>
            <a:off x="7560820" y="222605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36C533-9B94-0895-F1C8-E8167426D404}"/>
              </a:ext>
            </a:extLst>
          </p:cNvPr>
          <p:cNvSpPr/>
          <p:nvPr/>
        </p:nvSpPr>
        <p:spPr>
          <a:xfrm>
            <a:off x="7560820" y="222604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580936-9F21-60B7-2AAE-E0D2CFB7C88D}"/>
              </a:ext>
            </a:extLst>
          </p:cNvPr>
          <p:cNvSpPr/>
          <p:nvPr/>
        </p:nvSpPr>
        <p:spPr>
          <a:xfrm>
            <a:off x="7539779" y="395171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A99E71E-BF52-6197-1A36-DD468BD94A92}"/>
              </a:ext>
            </a:extLst>
          </p:cNvPr>
          <p:cNvSpPr/>
          <p:nvPr/>
        </p:nvSpPr>
        <p:spPr>
          <a:xfrm>
            <a:off x="7537788" y="282586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1681CA-11EE-B125-592F-6E11EA3A81EC}"/>
              </a:ext>
            </a:extLst>
          </p:cNvPr>
          <p:cNvSpPr/>
          <p:nvPr/>
        </p:nvSpPr>
        <p:spPr>
          <a:xfrm>
            <a:off x="4760470" y="2226046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1AAEC1-85B4-6362-58EB-43E869B38B65}"/>
              </a:ext>
            </a:extLst>
          </p:cNvPr>
          <p:cNvSpPr/>
          <p:nvPr/>
        </p:nvSpPr>
        <p:spPr>
          <a:xfrm>
            <a:off x="4760470" y="2226045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74E4A9-8AA6-CAA2-A91C-1CDCAA06E537}"/>
              </a:ext>
            </a:extLst>
          </p:cNvPr>
          <p:cNvSpPr/>
          <p:nvPr/>
        </p:nvSpPr>
        <p:spPr>
          <a:xfrm>
            <a:off x="4657801" y="3951710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EFDEE09-AAA2-2BC1-AAA6-2C03A4D00D27}"/>
              </a:ext>
            </a:extLst>
          </p:cNvPr>
          <p:cNvSpPr/>
          <p:nvPr/>
        </p:nvSpPr>
        <p:spPr>
          <a:xfrm>
            <a:off x="4737438" y="2825859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1E22EA0-2B86-DCB8-964B-7EA965BEBFBA}"/>
              </a:ext>
            </a:extLst>
          </p:cNvPr>
          <p:cNvSpPr/>
          <p:nvPr/>
        </p:nvSpPr>
        <p:spPr>
          <a:xfrm>
            <a:off x="1981161" y="2226045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6362890-1D72-C22F-8D9B-9F85F928EF71}"/>
              </a:ext>
            </a:extLst>
          </p:cNvPr>
          <p:cNvSpPr/>
          <p:nvPr/>
        </p:nvSpPr>
        <p:spPr>
          <a:xfrm>
            <a:off x="1981161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A0AF969-48E6-FB88-0395-EB0E4B583556}"/>
              </a:ext>
            </a:extLst>
          </p:cNvPr>
          <p:cNvSpPr/>
          <p:nvPr/>
        </p:nvSpPr>
        <p:spPr>
          <a:xfrm>
            <a:off x="1960120" y="402790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C362AC-6777-D34C-34E7-779F92B179FA}"/>
              </a:ext>
            </a:extLst>
          </p:cNvPr>
          <p:cNvSpPr/>
          <p:nvPr/>
        </p:nvSpPr>
        <p:spPr>
          <a:xfrm>
            <a:off x="1958129" y="282585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3093178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DEECE-FD08-BCC4-F8A3-839B7593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69B539-7EE3-2378-3808-43FF7953EBF8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A7BE2B-2C3E-3ED4-6157-00A11E2E0333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0F6097-F305-D02E-9384-A0E928B85BB8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166FF66-A098-63F4-BD91-120FCCCAF760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6FF87BF-F17C-E4E8-02AB-DE38F0E9F272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3B5FB2-46BB-FF2B-DAB2-BDB486607B5A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A4780C5-6497-D5F7-8D94-2EC9C0149DEB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1F9872-6591-9E5A-3900-B0274C967348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0338850-8E91-942E-EC83-5878E3F3687D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8A4C073-B34D-D17A-02CA-C7110C98660C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E8ECBE-27CE-DE05-D2F5-B46B0AE268D8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027BE78-E724-7701-26FE-0A5BEF237F81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5B87B01-0502-A6A1-FBBE-C36E41B07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10FEBF-65FD-86F7-B220-6A3F2744690C}"/>
              </a:ext>
            </a:extLst>
          </p:cNvPr>
          <p:cNvSpPr/>
          <p:nvPr/>
        </p:nvSpPr>
        <p:spPr>
          <a:xfrm>
            <a:off x="15523720" y="222604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100E7E-889C-8877-EC6D-B0588B03C919}"/>
              </a:ext>
            </a:extLst>
          </p:cNvPr>
          <p:cNvSpPr/>
          <p:nvPr/>
        </p:nvSpPr>
        <p:spPr>
          <a:xfrm>
            <a:off x="15523720" y="222604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CE086D-9FE7-B1FD-A0FA-C3006A67B5AE}"/>
              </a:ext>
            </a:extLst>
          </p:cNvPr>
          <p:cNvSpPr/>
          <p:nvPr/>
        </p:nvSpPr>
        <p:spPr>
          <a:xfrm>
            <a:off x="15502679" y="3951712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F4ECFB-258D-EA92-7EDB-142395DA002D}"/>
              </a:ext>
            </a:extLst>
          </p:cNvPr>
          <p:cNvSpPr/>
          <p:nvPr/>
        </p:nvSpPr>
        <p:spPr>
          <a:xfrm>
            <a:off x="15500688" y="282586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B18AD4B-A081-BF88-B652-E5BBE7F031EC}"/>
              </a:ext>
            </a:extLst>
          </p:cNvPr>
          <p:cNvSpPr/>
          <p:nvPr/>
        </p:nvSpPr>
        <p:spPr>
          <a:xfrm>
            <a:off x="12723370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9AD9E93-9DE1-0C33-C27B-968B4545E31E}"/>
              </a:ext>
            </a:extLst>
          </p:cNvPr>
          <p:cNvSpPr/>
          <p:nvPr/>
        </p:nvSpPr>
        <p:spPr>
          <a:xfrm>
            <a:off x="12723370" y="222604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71F8EF-32A8-3C0F-D268-B02EF07F0750}"/>
              </a:ext>
            </a:extLst>
          </p:cNvPr>
          <p:cNvSpPr/>
          <p:nvPr/>
        </p:nvSpPr>
        <p:spPr>
          <a:xfrm>
            <a:off x="12620701" y="3951708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3415C0-B4CF-8FA8-DD6D-CDA2DCD18246}"/>
              </a:ext>
            </a:extLst>
          </p:cNvPr>
          <p:cNvSpPr/>
          <p:nvPr/>
        </p:nvSpPr>
        <p:spPr>
          <a:xfrm>
            <a:off x="12700338" y="282585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61E81B3-6084-E63D-3406-3BB0FF9C5B02}"/>
              </a:ext>
            </a:extLst>
          </p:cNvPr>
          <p:cNvSpPr/>
          <p:nvPr/>
        </p:nvSpPr>
        <p:spPr>
          <a:xfrm>
            <a:off x="-528293" y="-533400"/>
            <a:ext cx="13256769" cy="7924799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E969AEA-B108-6998-0CA9-D562F5B5DB7B}"/>
              </a:ext>
            </a:extLst>
          </p:cNvPr>
          <p:cNvSpPr/>
          <p:nvPr/>
        </p:nvSpPr>
        <p:spPr>
          <a:xfrm>
            <a:off x="1981161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64C9BB-C2E1-B256-31FA-5B45F9E1BF05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15</a:t>
            </a:r>
            <a:endParaRPr lang="en-US" sz="2000" b="1" dirty="0">
              <a:solidFill>
                <a:schemeClr val="tx1"/>
              </a:solidFill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D8E919E-526A-BCAD-4C40-D81F4A7D309D}"/>
              </a:ext>
            </a:extLst>
          </p:cNvPr>
          <p:cNvSpPr/>
          <p:nvPr/>
        </p:nvSpPr>
        <p:spPr>
          <a:xfrm>
            <a:off x="10437069" y="2305028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CEB0CA-AD4A-6D75-BB89-99BA0E4C4204}"/>
              </a:ext>
            </a:extLst>
          </p:cNvPr>
          <p:cNvSpPr/>
          <p:nvPr/>
        </p:nvSpPr>
        <p:spPr>
          <a:xfrm>
            <a:off x="10766498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6CF8087-920F-2C6C-648C-24CC7AEA8D10}"/>
              </a:ext>
            </a:extLst>
          </p:cNvPr>
          <p:cNvCxnSpPr/>
          <p:nvPr/>
        </p:nvCxnSpPr>
        <p:spPr>
          <a:xfrm>
            <a:off x="1054938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F9BA65F-410E-7B2D-DE92-1688BB187E08}"/>
              </a:ext>
            </a:extLst>
          </p:cNvPr>
          <p:cNvSpPr txBox="1"/>
          <p:nvPr/>
        </p:nvSpPr>
        <p:spPr>
          <a:xfrm>
            <a:off x="1064270" y="14716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نتایج بخش 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Classification</a:t>
            </a:r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:</a:t>
            </a:r>
            <a:endParaRPr lang="en-US" sz="3200" b="1" dirty="0">
              <a:solidFill>
                <a:schemeClr val="bg1"/>
              </a:solidFill>
              <a:cs typeface="2  Bardiya" panose="00000400000000000000" pitchFamily="2" charset="-78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69237B-F3C6-5291-1397-F724B87535D2}"/>
              </a:ext>
            </a:extLst>
          </p:cNvPr>
          <p:cNvSpPr txBox="1"/>
          <p:nvPr/>
        </p:nvSpPr>
        <p:spPr>
          <a:xfrm>
            <a:off x="805746" y="2266533"/>
            <a:ext cx="9065672" cy="379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ResNet50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:</a:t>
            </a:r>
            <a:endParaRPr lang="en-US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Train Accuracy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98.98%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 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-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Loss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0.0307</a:t>
            </a:r>
            <a:endParaRPr lang="fa-IR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Validation Accuracy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98.86%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-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Loss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0.0345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EfficientNetB0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Train Accuracy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99.11%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 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-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Loss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0.0269</a:t>
            </a:r>
            <a:endParaRPr lang="fa-IR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Validation Accuracy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99.3%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 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-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Loss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0.0211</a:t>
            </a:r>
            <a:endParaRPr lang="fa-IR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MobileNetV2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Train Accuracy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98.27%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 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-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Loss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0.0528</a:t>
            </a:r>
            <a:endParaRPr lang="fa-IR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1200150" lvl="2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Validation Accuracy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98.92%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 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-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Loss</a:t>
            </a: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  <a:r>
              <a:rPr lang="en-US" dirty="0">
                <a:solidFill>
                  <a:schemeClr val="bg1"/>
                </a:solidFill>
                <a:cs typeface="2  Koodak" panose="00000700000000000000" pitchFamily="2" charset="-78"/>
              </a:rPr>
              <a:t>0.0334</a:t>
            </a:r>
            <a:endParaRPr lang="fa-IR" dirty="0">
              <a:solidFill>
                <a:schemeClr val="bg1"/>
              </a:solidFill>
              <a:cs typeface="2 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95120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9E2C78-6081-65A0-0CD8-E9B83B20B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14D4B9F-B7AA-982B-EF70-6B9162118036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94DF17-55C3-3A16-E05F-9AD62959CB91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40939AA-E2DC-56D6-4581-22F41497FE2F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579101F-5332-56B3-3779-23FEAD834318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CC1160-94E1-3AC2-3FBB-610CD7613114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B6F0181-7A70-7F09-A632-6BDF3707A429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BB0082B-58FE-22E7-0840-5C4506B7B2B5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630C44B-2065-FFD9-852A-4A2734DBCB8F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31175B9-1A05-3903-3912-B2C5353F19AC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441E63-9C34-EFF0-2EFD-402B9B52B636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B88D92B-5E3D-79DD-0B7C-F65C1A4AE9E6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704EF25-CF01-B04F-63F4-936522F764F5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AFE25BB-D18C-4607-34F1-34BFF6725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445B4B-C643-8098-A06E-37528510700C}"/>
              </a:ext>
            </a:extLst>
          </p:cNvPr>
          <p:cNvSpPr/>
          <p:nvPr/>
        </p:nvSpPr>
        <p:spPr>
          <a:xfrm>
            <a:off x="15523720" y="222604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9376A4-1862-B94B-A5BD-3FEF61C94D69}"/>
              </a:ext>
            </a:extLst>
          </p:cNvPr>
          <p:cNvSpPr/>
          <p:nvPr/>
        </p:nvSpPr>
        <p:spPr>
          <a:xfrm>
            <a:off x="15523720" y="222604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3C0313-B13D-7DC5-896C-F42C5434AF20}"/>
              </a:ext>
            </a:extLst>
          </p:cNvPr>
          <p:cNvSpPr/>
          <p:nvPr/>
        </p:nvSpPr>
        <p:spPr>
          <a:xfrm>
            <a:off x="15502679" y="3951712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9EDC06-3642-E83C-7F8B-5D169D60FB0E}"/>
              </a:ext>
            </a:extLst>
          </p:cNvPr>
          <p:cNvSpPr/>
          <p:nvPr/>
        </p:nvSpPr>
        <p:spPr>
          <a:xfrm>
            <a:off x="15500688" y="282586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76B668-2712-58DF-101B-2C98F9C72CBD}"/>
              </a:ext>
            </a:extLst>
          </p:cNvPr>
          <p:cNvSpPr/>
          <p:nvPr/>
        </p:nvSpPr>
        <p:spPr>
          <a:xfrm>
            <a:off x="12723370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644FF95-28BD-61F5-9FDC-0292E5078484}"/>
              </a:ext>
            </a:extLst>
          </p:cNvPr>
          <p:cNvSpPr/>
          <p:nvPr/>
        </p:nvSpPr>
        <p:spPr>
          <a:xfrm>
            <a:off x="12723370" y="222604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F4E256-15F9-BEEC-6FF9-D43EB5A01BB2}"/>
              </a:ext>
            </a:extLst>
          </p:cNvPr>
          <p:cNvSpPr/>
          <p:nvPr/>
        </p:nvSpPr>
        <p:spPr>
          <a:xfrm>
            <a:off x="12620701" y="3951708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7A2AE03-F53C-AC95-5129-62E976B226AD}"/>
              </a:ext>
            </a:extLst>
          </p:cNvPr>
          <p:cNvSpPr/>
          <p:nvPr/>
        </p:nvSpPr>
        <p:spPr>
          <a:xfrm>
            <a:off x="12700338" y="282585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EC8351D-1451-9628-4745-D412A6EB8F53}"/>
              </a:ext>
            </a:extLst>
          </p:cNvPr>
          <p:cNvSpPr/>
          <p:nvPr/>
        </p:nvSpPr>
        <p:spPr>
          <a:xfrm>
            <a:off x="-528293" y="-533400"/>
            <a:ext cx="13256769" cy="7924799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D44B65E-EF29-1399-366B-BEFA707F560F}"/>
              </a:ext>
            </a:extLst>
          </p:cNvPr>
          <p:cNvSpPr/>
          <p:nvPr/>
        </p:nvSpPr>
        <p:spPr>
          <a:xfrm>
            <a:off x="1981161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F97042D-2C38-D35A-1B9F-9D297331640C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15</a:t>
            </a:r>
            <a:endParaRPr lang="en-US" sz="2000" b="1" dirty="0">
              <a:solidFill>
                <a:schemeClr val="tx1"/>
              </a:solidFill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621FD24-CB28-EDA8-DD47-62B9F7084E25}"/>
              </a:ext>
            </a:extLst>
          </p:cNvPr>
          <p:cNvSpPr/>
          <p:nvPr/>
        </p:nvSpPr>
        <p:spPr>
          <a:xfrm>
            <a:off x="10437069" y="2305028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948E47-8B3D-77CF-9117-86DF223D42CF}"/>
              </a:ext>
            </a:extLst>
          </p:cNvPr>
          <p:cNvSpPr/>
          <p:nvPr/>
        </p:nvSpPr>
        <p:spPr>
          <a:xfrm>
            <a:off x="10766498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6D7CB96-158A-AB26-9990-496FA2A37F48}"/>
              </a:ext>
            </a:extLst>
          </p:cNvPr>
          <p:cNvCxnSpPr/>
          <p:nvPr/>
        </p:nvCxnSpPr>
        <p:spPr>
          <a:xfrm>
            <a:off x="1054938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352B052-90B7-2714-1D65-918D82B14F3E}"/>
              </a:ext>
            </a:extLst>
          </p:cNvPr>
          <p:cNvSpPr txBox="1"/>
          <p:nvPr/>
        </p:nvSpPr>
        <p:spPr>
          <a:xfrm>
            <a:off x="1064270" y="14716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نتایج بخش 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Classification</a:t>
            </a:r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:</a:t>
            </a:r>
            <a:endParaRPr lang="en-US" sz="3200" b="1" dirty="0">
              <a:solidFill>
                <a:schemeClr val="bg1"/>
              </a:solidFill>
              <a:cs typeface="2  Bardiya" panose="00000400000000000000" pitchFamily="2" charset="-78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754BE1D-C84A-DF9D-C0C2-B7DEC2EF0FF7}"/>
              </a:ext>
            </a:extLst>
          </p:cNvPr>
          <p:cNvGrpSpPr/>
          <p:nvPr/>
        </p:nvGrpSpPr>
        <p:grpSpPr>
          <a:xfrm>
            <a:off x="1328436" y="2056449"/>
            <a:ext cx="8426422" cy="4531516"/>
            <a:chOff x="1212877" y="2219165"/>
            <a:chExt cx="8007321" cy="436880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97F6869-50A4-8D47-0D79-7FF58EECE725}"/>
                </a:ext>
              </a:extLst>
            </p:cNvPr>
            <p:cNvSpPr/>
            <p:nvPr/>
          </p:nvSpPr>
          <p:spPr>
            <a:xfrm>
              <a:off x="1212877" y="2219165"/>
              <a:ext cx="8007321" cy="4368800"/>
            </a:xfrm>
            <a:prstGeom prst="roundRect">
              <a:avLst>
                <a:gd name="adj" fmla="val 85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DF32FFC-F27E-9978-13A5-5D1413681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3389" y="2328558"/>
              <a:ext cx="7586512" cy="41747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4650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A8584-F07D-FBA7-9540-43B6C8B38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F551695-4500-B0B8-9229-6CE06F0A34C3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504D79-502C-B8CC-92C8-9708A9F1B497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F325D7-50D1-07E0-1C15-926D861B4F85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29E22B-60A0-94A3-08D6-30FB3AA039DE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2C4F64-923D-4A9C-5CAB-6602908E5B10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C9480D6-927A-7904-AFF1-01D616A4ACB2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F81617D-F440-6D88-8257-918D89FBBC4D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D782195-C376-D82C-F486-7F2433F084AD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FC508BC-EBE7-3892-17A2-7B9F1FF39F67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60C951-2888-BA1B-0919-1252744B24B6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BB6BAE-8479-15F4-EE9F-87CB00D35485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6ABFFA6-C56C-E478-A8B9-63FEE4044381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E1A0AF2-94A2-C3B0-4598-3CFC643E3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C965F4-CA4F-07FA-DC14-87CEA2370E1F}"/>
              </a:ext>
            </a:extLst>
          </p:cNvPr>
          <p:cNvSpPr/>
          <p:nvPr/>
        </p:nvSpPr>
        <p:spPr>
          <a:xfrm>
            <a:off x="15523720" y="222604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57DEA5-042C-BBA0-A113-25F82411B401}"/>
              </a:ext>
            </a:extLst>
          </p:cNvPr>
          <p:cNvSpPr/>
          <p:nvPr/>
        </p:nvSpPr>
        <p:spPr>
          <a:xfrm>
            <a:off x="15523720" y="222604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8CCC1B-C6AF-D55B-A243-CA92939ABE4F}"/>
              </a:ext>
            </a:extLst>
          </p:cNvPr>
          <p:cNvSpPr/>
          <p:nvPr/>
        </p:nvSpPr>
        <p:spPr>
          <a:xfrm>
            <a:off x="15502679" y="3951712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F539A2-10A0-F5C7-CC88-908C57F7ECB4}"/>
              </a:ext>
            </a:extLst>
          </p:cNvPr>
          <p:cNvSpPr/>
          <p:nvPr/>
        </p:nvSpPr>
        <p:spPr>
          <a:xfrm>
            <a:off x="15500688" y="282586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89EC7BD-0722-C731-3626-CF42E21B4707}"/>
              </a:ext>
            </a:extLst>
          </p:cNvPr>
          <p:cNvSpPr/>
          <p:nvPr/>
        </p:nvSpPr>
        <p:spPr>
          <a:xfrm>
            <a:off x="12723370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3B02708-2E16-2A93-B1ED-29476B2671E4}"/>
              </a:ext>
            </a:extLst>
          </p:cNvPr>
          <p:cNvSpPr/>
          <p:nvPr/>
        </p:nvSpPr>
        <p:spPr>
          <a:xfrm>
            <a:off x="12723370" y="222604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979B712-FBC9-EB62-6D51-51292A359B5B}"/>
              </a:ext>
            </a:extLst>
          </p:cNvPr>
          <p:cNvSpPr/>
          <p:nvPr/>
        </p:nvSpPr>
        <p:spPr>
          <a:xfrm>
            <a:off x="12620701" y="3951708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6AFD7F-E46D-4632-D517-E09BEB91B96C}"/>
              </a:ext>
            </a:extLst>
          </p:cNvPr>
          <p:cNvSpPr/>
          <p:nvPr/>
        </p:nvSpPr>
        <p:spPr>
          <a:xfrm>
            <a:off x="12700338" y="282585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4DF0ABF-8174-3BB3-6538-4AEB5B5D2ADE}"/>
              </a:ext>
            </a:extLst>
          </p:cNvPr>
          <p:cNvSpPr/>
          <p:nvPr/>
        </p:nvSpPr>
        <p:spPr>
          <a:xfrm>
            <a:off x="-482560" y="-533400"/>
            <a:ext cx="13256769" cy="7924799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C8D0E02-FEFF-E070-B33E-03D0EDCE2BCF}"/>
              </a:ext>
            </a:extLst>
          </p:cNvPr>
          <p:cNvSpPr/>
          <p:nvPr/>
        </p:nvSpPr>
        <p:spPr>
          <a:xfrm>
            <a:off x="1981161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4F07F8B-C973-2E66-8572-EE542991F468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15</a:t>
            </a:r>
            <a:endParaRPr lang="en-US" sz="2000" b="1" dirty="0">
              <a:solidFill>
                <a:schemeClr val="tx1"/>
              </a:solidFill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CCBEBBE-BF88-6B1B-95A0-F2728A339A4D}"/>
              </a:ext>
            </a:extLst>
          </p:cNvPr>
          <p:cNvSpPr/>
          <p:nvPr/>
        </p:nvSpPr>
        <p:spPr>
          <a:xfrm>
            <a:off x="10437069" y="2305028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83A402E-B5E1-F3B9-3FB9-B50EE6821AB0}"/>
              </a:ext>
            </a:extLst>
          </p:cNvPr>
          <p:cNvSpPr/>
          <p:nvPr/>
        </p:nvSpPr>
        <p:spPr>
          <a:xfrm>
            <a:off x="10766498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4B7CC84-49FC-B6FC-5D7D-3B010AE9142C}"/>
              </a:ext>
            </a:extLst>
          </p:cNvPr>
          <p:cNvCxnSpPr/>
          <p:nvPr/>
        </p:nvCxnSpPr>
        <p:spPr>
          <a:xfrm>
            <a:off x="1054938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BFF13BA-C19F-888F-4564-1383BF0C4462}"/>
              </a:ext>
            </a:extLst>
          </p:cNvPr>
          <p:cNvSpPr txBox="1"/>
          <p:nvPr/>
        </p:nvSpPr>
        <p:spPr>
          <a:xfrm>
            <a:off x="1064270" y="12684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نتایج بخش 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Classification</a:t>
            </a:r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:</a:t>
            </a:r>
            <a:endParaRPr lang="en-US" sz="3200" b="1" dirty="0">
              <a:solidFill>
                <a:schemeClr val="bg1"/>
              </a:solidFill>
              <a:cs typeface="2  Bardiya" panose="00000400000000000000" pitchFamily="2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62215E-916A-E7FB-CCEC-216087842494}"/>
              </a:ext>
            </a:extLst>
          </p:cNvPr>
          <p:cNvSpPr txBox="1"/>
          <p:nvPr/>
        </p:nvSpPr>
        <p:spPr>
          <a:xfrm>
            <a:off x="1253603" y="1843162"/>
            <a:ext cx="9065672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مدل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Ensemble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دولایه</a:t>
            </a:r>
            <a:endParaRPr lang="en-US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EfficientNetB0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+ </a:t>
            </a:r>
            <a:r>
              <a:rPr lang="en-US" b="1" dirty="0">
                <a:solidFill>
                  <a:schemeClr val="bg1"/>
                </a:solidFill>
              </a:rPr>
              <a:t>MobileNetV2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Final Accuracy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99.7%</a:t>
            </a:r>
            <a:endParaRPr lang="fa-IR" b="1" dirty="0">
              <a:solidFill>
                <a:schemeClr val="bg1"/>
              </a:solidFill>
              <a:cs typeface="2  Koodak" panose="000007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A6A37C4-B582-1C43-AE70-7FAEB5697ACD}"/>
              </a:ext>
            </a:extLst>
          </p:cNvPr>
          <p:cNvSpPr/>
          <p:nvPr/>
        </p:nvSpPr>
        <p:spPr>
          <a:xfrm>
            <a:off x="811233" y="1853338"/>
            <a:ext cx="5427640" cy="4300287"/>
          </a:xfrm>
          <a:prstGeom prst="roundRect">
            <a:avLst>
              <a:gd name="adj" fmla="val 73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C478398-961D-D0F9-A2F5-F26C6E3809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48" y="1919273"/>
            <a:ext cx="4977202" cy="420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7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4C00D-03BF-58FF-8230-D3A1AD65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593006-6D5F-AFD9-DA46-A137544DF927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292BBA-4ACB-67B6-A5C0-672FC9AD7544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625AB5-B056-2331-D90E-23EAC97CACCE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374DFC-CFEF-66E3-0657-ED8D3609C8DB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758358-303A-9E4D-E0DA-8464C6F383A5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5BA026F-3191-0889-F860-303475269E8D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CD439FA-EE87-2035-8C77-E641829C5696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A64324A-6BA1-9E85-A47D-EE577357B21F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283DD49-900B-5A8E-E74B-0F7A41F9DB4F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DEC9F7B-4F49-5F5E-7A89-F71DE9EFB0DA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AF78567-4F23-D756-2ED5-44AC8C2ED0AE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BDA3DAD-1BD6-B250-1682-58B0D8857298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553D9FB-DE0B-7CBA-EE60-3EB75013C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84252A-1EB7-F928-BE3D-A5D16FC3B328}"/>
              </a:ext>
            </a:extLst>
          </p:cNvPr>
          <p:cNvSpPr/>
          <p:nvPr/>
        </p:nvSpPr>
        <p:spPr>
          <a:xfrm>
            <a:off x="15523720" y="222604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E4B390-26B7-1873-AC09-D4244F615D8D}"/>
              </a:ext>
            </a:extLst>
          </p:cNvPr>
          <p:cNvSpPr/>
          <p:nvPr/>
        </p:nvSpPr>
        <p:spPr>
          <a:xfrm>
            <a:off x="15523720" y="222604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408B72-C161-9818-53A8-04F790040EE4}"/>
              </a:ext>
            </a:extLst>
          </p:cNvPr>
          <p:cNvSpPr/>
          <p:nvPr/>
        </p:nvSpPr>
        <p:spPr>
          <a:xfrm>
            <a:off x="15502679" y="3951712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F5CEC1-AB3C-750F-B2E2-9470FD51C072}"/>
              </a:ext>
            </a:extLst>
          </p:cNvPr>
          <p:cNvSpPr/>
          <p:nvPr/>
        </p:nvSpPr>
        <p:spPr>
          <a:xfrm>
            <a:off x="15500688" y="282586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DB8FE5-E1D1-F190-6783-0715C7A0F6F3}"/>
              </a:ext>
            </a:extLst>
          </p:cNvPr>
          <p:cNvSpPr/>
          <p:nvPr/>
        </p:nvSpPr>
        <p:spPr>
          <a:xfrm>
            <a:off x="12723370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71B546B-41F3-ED21-EA91-4EE15045EC29}"/>
              </a:ext>
            </a:extLst>
          </p:cNvPr>
          <p:cNvSpPr/>
          <p:nvPr/>
        </p:nvSpPr>
        <p:spPr>
          <a:xfrm>
            <a:off x="12723370" y="222604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B03C1A-62F6-4ADC-0713-802F06BD8D6E}"/>
              </a:ext>
            </a:extLst>
          </p:cNvPr>
          <p:cNvSpPr/>
          <p:nvPr/>
        </p:nvSpPr>
        <p:spPr>
          <a:xfrm>
            <a:off x="12620701" y="3951708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06B5CBF-550E-701C-2330-73DD461E1B9E}"/>
              </a:ext>
            </a:extLst>
          </p:cNvPr>
          <p:cNvSpPr/>
          <p:nvPr/>
        </p:nvSpPr>
        <p:spPr>
          <a:xfrm>
            <a:off x="12700338" y="282585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95B74B-37BF-8F42-844A-9801F70E6BBA}"/>
              </a:ext>
            </a:extLst>
          </p:cNvPr>
          <p:cNvSpPr/>
          <p:nvPr/>
        </p:nvSpPr>
        <p:spPr>
          <a:xfrm>
            <a:off x="-482560" y="-533400"/>
            <a:ext cx="13256769" cy="7924799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8E6A6D2-8F63-90A1-250C-20A357F149C2}"/>
              </a:ext>
            </a:extLst>
          </p:cNvPr>
          <p:cNvSpPr/>
          <p:nvPr/>
        </p:nvSpPr>
        <p:spPr>
          <a:xfrm>
            <a:off x="1981161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8AABC7E-A6D6-DC1A-B5AA-BE2785A284DE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15</a:t>
            </a:r>
            <a:endParaRPr lang="en-US" sz="2000" b="1" dirty="0">
              <a:solidFill>
                <a:schemeClr val="tx1"/>
              </a:solidFill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C1CE4B8-7B99-6071-06B9-0A5D4F1B7D3D}"/>
              </a:ext>
            </a:extLst>
          </p:cNvPr>
          <p:cNvSpPr/>
          <p:nvPr/>
        </p:nvSpPr>
        <p:spPr>
          <a:xfrm>
            <a:off x="10437069" y="2305028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B232684-9AAE-2DD7-4974-6516911D2341}"/>
              </a:ext>
            </a:extLst>
          </p:cNvPr>
          <p:cNvSpPr/>
          <p:nvPr/>
        </p:nvSpPr>
        <p:spPr>
          <a:xfrm>
            <a:off x="10766498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E77BF52-E883-1744-FE12-C5F779E722FB}"/>
              </a:ext>
            </a:extLst>
          </p:cNvPr>
          <p:cNvCxnSpPr/>
          <p:nvPr/>
        </p:nvCxnSpPr>
        <p:spPr>
          <a:xfrm>
            <a:off x="1054938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7683809-C437-2890-C56E-DA5985A527C6}"/>
              </a:ext>
            </a:extLst>
          </p:cNvPr>
          <p:cNvSpPr txBox="1"/>
          <p:nvPr/>
        </p:nvSpPr>
        <p:spPr>
          <a:xfrm>
            <a:off x="1064270" y="12684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نتایج بخش 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Classification</a:t>
            </a:r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:</a:t>
            </a:r>
            <a:endParaRPr lang="en-US" sz="3200" b="1" dirty="0">
              <a:solidFill>
                <a:schemeClr val="bg1"/>
              </a:solidFill>
              <a:cs typeface="2  Bardiya" panose="00000400000000000000" pitchFamily="2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1AA23F-D286-2A19-B7C7-E0F56BF674AC}"/>
              </a:ext>
            </a:extLst>
          </p:cNvPr>
          <p:cNvSpPr txBox="1"/>
          <p:nvPr/>
        </p:nvSpPr>
        <p:spPr>
          <a:xfrm>
            <a:off x="1091678" y="1843162"/>
            <a:ext cx="9065672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مدل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Ensemble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سه لایه</a:t>
            </a:r>
            <a:endParaRPr lang="en-US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Final Accuracy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: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99.76%</a:t>
            </a:r>
            <a:endParaRPr lang="fa-IR" b="1" dirty="0">
              <a:solidFill>
                <a:schemeClr val="bg1"/>
              </a:solidFill>
              <a:cs typeface="2  Koodak" panose="000007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D07C394-C054-AE03-B6FF-294ECFD52FDF}"/>
              </a:ext>
            </a:extLst>
          </p:cNvPr>
          <p:cNvSpPr/>
          <p:nvPr/>
        </p:nvSpPr>
        <p:spPr>
          <a:xfrm>
            <a:off x="888514" y="1931668"/>
            <a:ext cx="5254838" cy="4250058"/>
          </a:xfrm>
          <a:prstGeom prst="roundRect">
            <a:avLst>
              <a:gd name="adj" fmla="val 73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43D175D-160D-0AA8-197B-0674E94D91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04" y="2015477"/>
            <a:ext cx="4914938" cy="407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72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BA03CD-FCB5-0611-9C2F-F68DE14D7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906ED0-A641-D421-3B3F-BF7EB5F06FFC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55D6B7-4886-C1BC-D353-ED406E26DA2D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0D5FBC-47FC-CFE1-9977-6A25B5795D98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20AAD76-8539-CFC0-4FB4-926041049C5D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A0E61BB-CDC3-5B9C-A4CB-CAE1C1895648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061B622-E068-0DA1-9C95-6E88F8993B0A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1D9E4E7-EE5F-905B-824A-2D270D275D16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FC6FCE7-99C3-4705-292A-5C019AF4BF97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C13FAA9-7F7E-32A9-0F77-F436925B4723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093DC0-71CB-2767-C8A5-BDA84C5F42DF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9820A6-E5C7-69F2-178A-98D8644AE5DE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705BFB9-007D-5E3B-57D4-B000AC9C0FBE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893F4F-A6FB-0148-8614-B0461DB92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B7C45C-631E-24EA-BD00-60D7D1A4383C}"/>
              </a:ext>
            </a:extLst>
          </p:cNvPr>
          <p:cNvSpPr/>
          <p:nvPr/>
        </p:nvSpPr>
        <p:spPr>
          <a:xfrm>
            <a:off x="15523720" y="222604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AF6982-1993-9AD0-FCAC-3A864C99354F}"/>
              </a:ext>
            </a:extLst>
          </p:cNvPr>
          <p:cNvSpPr/>
          <p:nvPr/>
        </p:nvSpPr>
        <p:spPr>
          <a:xfrm>
            <a:off x="15523720" y="222604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F127C2-281E-C937-D179-F6724C9B88BE}"/>
              </a:ext>
            </a:extLst>
          </p:cNvPr>
          <p:cNvSpPr/>
          <p:nvPr/>
        </p:nvSpPr>
        <p:spPr>
          <a:xfrm>
            <a:off x="15502679" y="3951712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924AD8-C871-E3C9-4113-C2A7CD5209F7}"/>
              </a:ext>
            </a:extLst>
          </p:cNvPr>
          <p:cNvSpPr/>
          <p:nvPr/>
        </p:nvSpPr>
        <p:spPr>
          <a:xfrm>
            <a:off x="15500688" y="282586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C03C44A-EFB1-E31D-D841-C0A9099C4C13}"/>
              </a:ext>
            </a:extLst>
          </p:cNvPr>
          <p:cNvSpPr/>
          <p:nvPr/>
        </p:nvSpPr>
        <p:spPr>
          <a:xfrm>
            <a:off x="12723370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0C224EE-94F5-8FAF-556D-8118C400E865}"/>
              </a:ext>
            </a:extLst>
          </p:cNvPr>
          <p:cNvSpPr/>
          <p:nvPr/>
        </p:nvSpPr>
        <p:spPr>
          <a:xfrm>
            <a:off x="12723370" y="222604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4755CF4-657A-4863-91D4-1DD6AF5591B1}"/>
              </a:ext>
            </a:extLst>
          </p:cNvPr>
          <p:cNvSpPr/>
          <p:nvPr/>
        </p:nvSpPr>
        <p:spPr>
          <a:xfrm>
            <a:off x="12620701" y="3951708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6881139-B652-6F7B-2119-1490EF85DADA}"/>
              </a:ext>
            </a:extLst>
          </p:cNvPr>
          <p:cNvSpPr/>
          <p:nvPr/>
        </p:nvSpPr>
        <p:spPr>
          <a:xfrm>
            <a:off x="12700338" y="282585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19F5D4-FA37-990F-A6B8-F21AA8F7C490}"/>
              </a:ext>
            </a:extLst>
          </p:cNvPr>
          <p:cNvSpPr/>
          <p:nvPr/>
        </p:nvSpPr>
        <p:spPr>
          <a:xfrm>
            <a:off x="-528293" y="-533400"/>
            <a:ext cx="13256769" cy="7924799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A005CF4-15EF-D40E-E8FD-884E0A42367D}"/>
              </a:ext>
            </a:extLst>
          </p:cNvPr>
          <p:cNvSpPr/>
          <p:nvPr/>
        </p:nvSpPr>
        <p:spPr>
          <a:xfrm>
            <a:off x="1689061" y="22768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056636-CA4A-7A70-8970-22B8184E6FD1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15</a:t>
            </a:r>
            <a:endParaRPr lang="en-US" sz="2000" b="1" dirty="0">
              <a:solidFill>
                <a:schemeClr val="tx1"/>
              </a:solidFill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FCC94E9-24BD-F69C-732D-019A33F68816}"/>
              </a:ext>
            </a:extLst>
          </p:cNvPr>
          <p:cNvSpPr/>
          <p:nvPr/>
        </p:nvSpPr>
        <p:spPr>
          <a:xfrm>
            <a:off x="806085" y="1477290"/>
            <a:ext cx="3144888" cy="450616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7B7BB1-70DC-934E-D97C-5386858C731B}"/>
              </a:ext>
            </a:extLst>
          </p:cNvPr>
          <p:cNvSpPr/>
          <p:nvPr/>
        </p:nvSpPr>
        <p:spPr>
          <a:xfrm>
            <a:off x="10437069" y="2305028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0861874-1F3C-0CEB-0E63-41DDD34FC303}"/>
              </a:ext>
            </a:extLst>
          </p:cNvPr>
          <p:cNvSpPr/>
          <p:nvPr/>
        </p:nvSpPr>
        <p:spPr>
          <a:xfrm>
            <a:off x="10766498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F1A5652-04D4-C6F7-8B91-612CACE5C859}"/>
              </a:ext>
            </a:extLst>
          </p:cNvPr>
          <p:cNvCxnSpPr/>
          <p:nvPr/>
        </p:nvCxnSpPr>
        <p:spPr>
          <a:xfrm>
            <a:off x="1054938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F63F288-447A-AABF-5367-DFEBCAF20046}"/>
              </a:ext>
            </a:extLst>
          </p:cNvPr>
          <p:cNvSpPr txBox="1"/>
          <p:nvPr/>
        </p:nvSpPr>
        <p:spPr>
          <a:xfrm>
            <a:off x="1064270" y="14716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نتایج بخش 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Detection</a:t>
            </a:r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:</a:t>
            </a:r>
            <a:endParaRPr lang="en-US" sz="3200" b="1" dirty="0">
              <a:solidFill>
                <a:schemeClr val="bg1"/>
              </a:solidFill>
              <a:cs typeface="2  Bardiya" panose="00000400000000000000" pitchFamily="2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698DFF-BC03-1421-D15E-16176958249D}"/>
              </a:ext>
            </a:extLst>
          </p:cNvPr>
          <p:cNvSpPr txBox="1"/>
          <p:nvPr/>
        </p:nvSpPr>
        <p:spPr>
          <a:xfrm>
            <a:off x="1145167" y="2056449"/>
            <a:ext cx="9065672" cy="3347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Precision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: بین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61%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تا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77%</a:t>
            </a:r>
          </a:p>
          <a:p>
            <a:pPr marL="742950" lvl="1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Recall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: بین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64%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تا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85%</a:t>
            </a:r>
          </a:p>
          <a:p>
            <a:pPr marL="742950" lvl="1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mAP@0.5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: بین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0.631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تا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0.688</a:t>
            </a:r>
          </a:p>
          <a:p>
            <a:pPr marL="742950" lvl="1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mAP@0.5:0.95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: بین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0.52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تا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0.546</a:t>
            </a:r>
          </a:p>
          <a:p>
            <a:pPr marL="742950" lvl="1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تشخیص موفق لکه‌های چندپیکسلی</a:t>
            </a:r>
            <a:endParaRPr lang="en-US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742950" lvl="1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dirty="0">
                <a:solidFill>
                  <a:schemeClr val="bg1"/>
                </a:solidFill>
                <a:cs typeface="2  Koodak" panose="00000700000000000000" pitchFamily="2" charset="-78"/>
              </a:rPr>
              <a:t>عملکرد پایدار در داده‌های واقعی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9490F6C-8FF1-347E-2D45-9E022A613221}"/>
                  </a:ext>
                </a:extLst>
              </p:cNvPr>
              <p:cNvSpPr txBox="1"/>
              <p:nvPr/>
            </p:nvSpPr>
            <p:spPr>
              <a:xfrm>
                <a:off x="1213962" y="1522474"/>
                <a:ext cx="2306003" cy="1821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1600" i="1" smtClean="0">
                          <a:solidFill>
                            <a:srgbClr val="141415"/>
                          </a:solidFill>
                          <a:latin typeface="Cambria Math" panose="02040503050406030204" pitchFamily="18" charset="0"/>
                        </a:rPr>
                        <m:t>𝑃𝑟</m:t>
                      </m:r>
                      <m:r>
                        <a:rPr lang="en-US" sz="1600" b="0" i="1" smtClean="0">
                          <a:solidFill>
                            <a:srgbClr val="141415"/>
                          </a:solidFill>
                          <a:latin typeface="Cambria Math" panose="02040503050406030204" pitchFamily="18" charset="0"/>
                        </a:rPr>
                        <m:t>𝑒𝑐𝑖𝑠𝑖𝑜𝑛</m:t>
                      </m:r>
                      <m:r>
                        <a:rPr lang="fa-IR" sz="1600" i="1">
                          <a:solidFill>
                            <a:srgbClr val="14141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a-IR" sz="1600" i="1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1600" i="1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fa-IR" sz="1600" i="1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fa-IR" sz="1600" i="1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a-IR" sz="1600" i="1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sz="1600" dirty="0">
                  <a:solidFill>
                    <a:srgbClr val="141415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41415"/>
                          </a:solidFill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fa-IR" sz="1600" i="1">
                          <a:solidFill>
                            <a:srgbClr val="14141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a-IR" sz="1600" i="1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1600" i="1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fa-IR" sz="1600" i="1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fa-IR" sz="1600" i="1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a-IR" sz="1600" i="1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1600" dirty="0">
                  <a:solidFill>
                    <a:srgbClr val="141415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sz="1600" dirty="0">
                  <a:solidFill>
                    <a:srgbClr val="141415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9490F6C-8FF1-347E-2D45-9E022A613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962" y="1522474"/>
                <a:ext cx="2306003" cy="18215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2886AF9-C005-FC3E-E177-990AFCA86DDC}"/>
                  </a:ext>
                </a:extLst>
              </p:cNvPr>
              <p:cNvSpPr txBox="1"/>
              <p:nvPr/>
            </p:nvSpPr>
            <p:spPr>
              <a:xfrm>
                <a:off x="1121036" y="3114528"/>
                <a:ext cx="2573565" cy="2000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41415"/>
                          </a:solidFill>
                          <a:latin typeface="Cambria Math" panose="02040503050406030204" pitchFamily="18" charset="0"/>
                        </a:rPr>
                        <m:t>𝐼𝑜𝑈</m:t>
                      </m:r>
                      <m:r>
                        <a:rPr lang="fa-IR" sz="1600" i="1">
                          <a:solidFill>
                            <a:srgbClr val="14141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a-IR" sz="1600" i="1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sz="160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600" i="1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𝑂𝑣𝑒𝑟𝑙𝑎𝑝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sz="1600" b="0" i="0" smtClean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600" b="0" i="1" smtClean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𝑈𝑛𝑖𝑜𝑛</m:t>
                          </m:r>
                        </m:den>
                      </m:f>
                    </m:oMath>
                  </m:oMathPara>
                </a14:m>
                <a:endParaRPr lang="en-US" sz="1600" dirty="0">
                  <a:solidFill>
                    <a:srgbClr val="141415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141415"/>
                          </a:solidFill>
                          <a:latin typeface="Cambria Math" panose="02040503050406030204" pitchFamily="18" charset="0"/>
                        </a:rPr>
                        <m:t>𝐼𝑜𝑈</m:t>
                      </m:r>
                      <m:r>
                        <a:rPr lang="en-US" sz="1600" i="1" smtClean="0">
                          <a:solidFill>
                            <a:srgbClr val="14141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600" i="1" smtClean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 smtClean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sz="1600" i="1" smtClean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600" i="1" smtClean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  <m:t>𝑃𝑟𝑒𝑑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smtClean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  <m:t>𝑔𝑡</m:t>
                              </m:r>
                            </m:sub>
                          </m:sSub>
                          <m:r>
                            <a:rPr lang="en-US" sz="1600" i="1" smtClean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sz="1600" i="1" smtClean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  <m:t>𝑃𝑟𝑒𝑑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>
                  <a:solidFill>
                    <a:srgbClr val="141415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sz="1600" dirty="0">
                  <a:solidFill>
                    <a:srgbClr val="141415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2886AF9-C005-FC3E-E177-990AFCA86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036" y="3114528"/>
                <a:ext cx="2573565" cy="20000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C64DCA1-F635-27C8-EA18-C8B4B3CE1856}"/>
                  </a:ext>
                </a:extLst>
              </p:cNvPr>
              <p:cNvSpPr txBox="1"/>
              <p:nvPr/>
            </p:nvSpPr>
            <p:spPr>
              <a:xfrm>
                <a:off x="1229222" y="4415320"/>
                <a:ext cx="2306003" cy="1966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141415"/>
                          </a:solidFill>
                          <a:latin typeface="Cambria Math" panose="02040503050406030204" pitchFamily="18" charset="0"/>
                        </a:rPr>
                        <m:t>𝑚𝐴𝑃</m:t>
                      </m:r>
                      <m:r>
                        <a:rPr lang="en-US" sz="1600" i="0" dirty="0">
                          <a:solidFill>
                            <a:srgbClr val="14141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dirty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 dirty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 dirty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1600" i="1" dirty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 dirty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i="1" dirty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sz="1600" i="1" dirty="0">
                              <a:solidFill>
                                <a:srgbClr val="141415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rgbClr val="141415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00" dirty="0">
                  <a:solidFill>
                    <a:srgbClr val="141415"/>
                  </a:solidFill>
                </a:endParaRPr>
              </a:p>
              <a:p>
                <a:pPr>
                  <a:lnSpc>
                    <a:spcPct val="200000"/>
                  </a:lnSpc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C64DCA1-F635-27C8-EA18-C8B4B3CE1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222" y="4415320"/>
                <a:ext cx="2306003" cy="19663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244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39C62-07FB-637F-5ACD-B4160C579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77DDCE-3FF9-7A13-0CC0-E330AEAC6050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87FFF0-89E1-7AB2-A435-C5D2159B8E9C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A70BB46-737B-DDA4-7A42-591FEA5127E1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CC8D2E-2BFE-4F31-D134-64FE0170C940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4879836-5765-F551-5CAE-5516B71BDE7C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5AD25BA-7B19-DD40-9839-191F558DD78E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348AA58-CF95-640A-996F-11572DB49DB9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7CBF2D3-69D7-FD63-5B64-34DED761034C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500A476-5EFE-AA01-438E-1A103D5A391B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7D7EFF0-4918-6C7C-5267-57A2002E453C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8283129-E3AD-A4ED-FCA8-F427EA0DD4A0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DFF4879-E065-6487-D8CE-01CB21F92F68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0861736-4BC0-1893-78E7-8B6C7F403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6ACC49-9412-1A61-0B51-E8D0F5985503}"/>
              </a:ext>
            </a:extLst>
          </p:cNvPr>
          <p:cNvSpPr/>
          <p:nvPr/>
        </p:nvSpPr>
        <p:spPr>
          <a:xfrm>
            <a:off x="15523720" y="222604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89DACE-C35C-1D1F-C234-A2D84E53D592}"/>
              </a:ext>
            </a:extLst>
          </p:cNvPr>
          <p:cNvSpPr/>
          <p:nvPr/>
        </p:nvSpPr>
        <p:spPr>
          <a:xfrm>
            <a:off x="15523720" y="222604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3208E1-BF09-05EC-9FF9-7CE29DAC4F37}"/>
              </a:ext>
            </a:extLst>
          </p:cNvPr>
          <p:cNvSpPr/>
          <p:nvPr/>
        </p:nvSpPr>
        <p:spPr>
          <a:xfrm>
            <a:off x="15502679" y="3951712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8EE028-0DB2-5F59-3B3E-6656837BA2EA}"/>
              </a:ext>
            </a:extLst>
          </p:cNvPr>
          <p:cNvSpPr/>
          <p:nvPr/>
        </p:nvSpPr>
        <p:spPr>
          <a:xfrm>
            <a:off x="15500688" y="282586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13BBBC-1542-152B-D41B-0D82212F7CC6}"/>
              </a:ext>
            </a:extLst>
          </p:cNvPr>
          <p:cNvSpPr/>
          <p:nvPr/>
        </p:nvSpPr>
        <p:spPr>
          <a:xfrm>
            <a:off x="12723370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4609B94-ACC5-8763-1999-784E9543F18E}"/>
              </a:ext>
            </a:extLst>
          </p:cNvPr>
          <p:cNvSpPr/>
          <p:nvPr/>
        </p:nvSpPr>
        <p:spPr>
          <a:xfrm>
            <a:off x="12723370" y="222604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2B34D46-7BEC-8F53-2B65-9AD51BED1C93}"/>
              </a:ext>
            </a:extLst>
          </p:cNvPr>
          <p:cNvSpPr/>
          <p:nvPr/>
        </p:nvSpPr>
        <p:spPr>
          <a:xfrm>
            <a:off x="12620701" y="3951708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200998E-7AE5-6A0C-944A-ABE1EA174C8C}"/>
              </a:ext>
            </a:extLst>
          </p:cNvPr>
          <p:cNvSpPr/>
          <p:nvPr/>
        </p:nvSpPr>
        <p:spPr>
          <a:xfrm>
            <a:off x="12700338" y="282585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9298006-FE98-9C95-8F8E-73DF863149AB}"/>
              </a:ext>
            </a:extLst>
          </p:cNvPr>
          <p:cNvSpPr/>
          <p:nvPr/>
        </p:nvSpPr>
        <p:spPr>
          <a:xfrm>
            <a:off x="-528293" y="-533400"/>
            <a:ext cx="13256769" cy="7924799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EC4AE0F-1D7A-74AD-7DE9-7A17CF544ACD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15</a:t>
            </a:r>
            <a:endParaRPr lang="en-US" sz="2000" b="1" dirty="0">
              <a:solidFill>
                <a:schemeClr val="tx1"/>
              </a:solidFill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1D9B05A-0928-4AB8-BDB6-9E6288E9CD44}"/>
              </a:ext>
            </a:extLst>
          </p:cNvPr>
          <p:cNvSpPr/>
          <p:nvPr/>
        </p:nvSpPr>
        <p:spPr>
          <a:xfrm>
            <a:off x="10437069" y="2305028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FE6767B-1666-5D1A-B6C6-E2EA2821BDF0}"/>
              </a:ext>
            </a:extLst>
          </p:cNvPr>
          <p:cNvSpPr/>
          <p:nvPr/>
        </p:nvSpPr>
        <p:spPr>
          <a:xfrm>
            <a:off x="10766498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D2808CC-147E-106A-AD37-FB27AEB6ABF8}"/>
              </a:ext>
            </a:extLst>
          </p:cNvPr>
          <p:cNvCxnSpPr/>
          <p:nvPr/>
        </p:nvCxnSpPr>
        <p:spPr>
          <a:xfrm>
            <a:off x="1054938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1746FC3-AACF-298A-166B-2842642E8D9A}"/>
              </a:ext>
            </a:extLst>
          </p:cNvPr>
          <p:cNvSpPr txBox="1"/>
          <p:nvPr/>
        </p:nvSpPr>
        <p:spPr>
          <a:xfrm>
            <a:off x="1064270" y="14716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نتایج بخش 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Detection</a:t>
            </a:r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:</a:t>
            </a:r>
            <a:endParaRPr lang="en-US" sz="3200" b="1" dirty="0">
              <a:solidFill>
                <a:schemeClr val="bg1"/>
              </a:solidFill>
              <a:cs typeface="2  Bardiya" panose="00000400000000000000" pitchFamily="2" charset="-78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99653E4-B114-A593-1BF9-D3496691675A}"/>
              </a:ext>
            </a:extLst>
          </p:cNvPr>
          <p:cNvSpPr/>
          <p:nvPr/>
        </p:nvSpPr>
        <p:spPr>
          <a:xfrm>
            <a:off x="1114768" y="2159369"/>
            <a:ext cx="7040670" cy="4210973"/>
          </a:xfrm>
          <a:prstGeom prst="roundRect">
            <a:avLst>
              <a:gd name="adj" fmla="val 40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AA3CA3B-B804-E249-518F-B03907F735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733" y="2276777"/>
            <a:ext cx="6739836" cy="402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383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4F272-ECD5-DD2E-D128-C12D3FA7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05AADF-46F2-47E1-16DA-8222471FD876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D866DE-C3DD-3E47-3D5E-7828A0EE1170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C91F6B-F12F-E1D4-4574-2BC6C55A8B3D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CFEAF6-C1BB-716B-0DE3-59E8E26A40B9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8579BC-D8BF-D9F3-E280-AC7F731EADA9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DCC167B-7B81-4529-D3ED-D8ED729E7B7E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A01BBD3-0835-C86C-C554-970357E8CC1A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32CD58A-E1F0-991E-DEDF-7B52C0B65A23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64DE33D-AB95-9398-09CE-E3D21824DEBE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5095AD-23A4-1BC3-BC23-DD37153970FD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43BEE0-EA6E-3DE6-6D12-99F25928CCCB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790B061-A881-D4AC-C43E-6F3957A5B4D7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245661F-CC8C-940F-05BE-41746B59F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C48D2E-C026-8B6B-AA7E-2B0A1B396E49}"/>
              </a:ext>
            </a:extLst>
          </p:cNvPr>
          <p:cNvSpPr/>
          <p:nvPr/>
        </p:nvSpPr>
        <p:spPr>
          <a:xfrm>
            <a:off x="15523720" y="222604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185F74-2483-DEDE-2C88-9A9FB568268A}"/>
              </a:ext>
            </a:extLst>
          </p:cNvPr>
          <p:cNvSpPr/>
          <p:nvPr/>
        </p:nvSpPr>
        <p:spPr>
          <a:xfrm>
            <a:off x="15523720" y="222604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7A7E4D-85F4-3FBB-C321-9D27685B7B82}"/>
              </a:ext>
            </a:extLst>
          </p:cNvPr>
          <p:cNvSpPr/>
          <p:nvPr/>
        </p:nvSpPr>
        <p:spPr>
          <a:xfrm>
            <a:off x="15502679" y="3951712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378AC0-4DE7-60D0-1138-EF99E8490159}"/>
              </a:ext>
            </a:extLst>
          </p:cNvPr>
          <p:cNvSpPr/>
          <p:nvPr/>
        </p:nvSpPr>
        <p:spPr>
          <a:xfrm>
            <a:off x="15500688" y="282586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D43CAF6-A225-3DA8-4E25-77508B400A2C}"/>
              </a:ext>
            </a:extLst>
          </p:cNvPr>
          <p:cNvSpPr/>
          <p:nvPr/>
        </p:nvSpPr>
        <p:spPr>
          <a:xfrm>
            <a:off x="12723370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321F9F6-3D12-2CA3-2873-923C1528A1CD}"/>
              </a:ext>
            </a:extLst>
          </p:cNvPr>
          <p:cNvSpPr/>
          <p:nvPr/>
        </p:nvSpPr>
        <p:spPr>
          <a:xfrm>
            <a:off x="12723370" y="222604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1C10B16-45C1-085F-6315-4A085AB3F560}"/>
              </a:ext>
            </a:extLst>
          </p:cNvPr>
          <p:cNvSpPr/>
          <p:nvPr/>
        </p:nvSpPr>
        <p:spPr>
          <a:xfrm>
            <a:off x="12620701" y="3951708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5CA81AD-9B0B-E9A3-8E2F-78996D33B6C6}"/>
              </a:ext>
            </a:extLst>
          </p:cNvPr>
          <p:cNvSpPr/>
          <p:nvPr/>
        </p:nvSpPr>
        <p:spPr>
          <a:xfrm>
            <a:off x="12700338" y="282585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2A0651F-71E0-C77C-DF2F-85E0FD776756}"/>
              </a:ext>
            </a:extLst>
          </p:cNvPr>
          <p:cNvSpPr/>
          <p:nvPr/>
        </p:nvSpPr>
        <p:spPr>
          <a:xfrm>
            <a:off x="-528293" y="-533400"/>
            <a:ext cx="13256769" cy="7924799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0BE6CB7-D75F-8157-E085-6CC9698E2675}"/>
              </a:ext>
            </a:extLst>
          </p:cNvPr>
          <p:cNvSpPr/>
          <p:nvPr/>
        </p:nvSpPr>
        <p:spPr>
          <a:xfrm>
            <a:off x="1981161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03D5A3-9492-7049-6A93-0D99BEA64672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15</a:t>
            </a:r>
            <a:endParaRPr lang="en-US" sz="2000" b="1" dirty="0">
              <a:solidFill>
                <a:schemeClr val="tx1"/>
              </a:solidFill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7CB0CA5-2EDD-E98E-FD0B-27593B4D3B07}"/>
              </a:ext>
            </a:extLst>
          </p:cNvPr>
          <p:cNvSpPr/>
          <p:nvPr/>
        </p:nvSpPr>
        <p:spPr>
          <a:xfrm>
            <a:off x="10437069" y="2305028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7E57F9E-3AE4-2D69-53D5-26CE865B5699}"/>
              </a:ext>
            </a:extLst>
          </p:cNvPr>
          <p:cNvSpPr/>
          <p:nvPr/>
        </p:nvSpPr>
        <p:spPr>
          <a:xfrm>
            <a:off x="10766498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269E2E8-51A8-BDA5-06C8-6E5B4ACFE4D6}"/>
              </a:ext>
            </a:extLst>
          </p:cNvPr>
          <p:cNvCxnSpPr/>
          <p:nvPr/>
        </p:nvCxnSpPr>
        <p:spPr>
          <a:xfrm>
            <a:off x="1054938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842181D-C0AC-81D5-CA56-845ADACB70FC}"/>
              </a:ext>
            </a:extLst>
          </p:cNvPr>
          <p:cNvSpPr txBox="1"/>
          <p:nvPr/>
        </p:nvSpPr>
        <p:spPr>
          <a:xfrm>
            <a:off x="1064270" y="14716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نتایج بخش 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Detection</a:t>
            </a:r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:</a:t>
            </a:r>
            <a:endParaRPr lang="en-US" sz="3200" b="1" dirty="0">
              <a:solidFill>
                <a:schemeClr val="bg1"/>
              </a:solidFill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CA267E1-AC9D-1817-CA30-4AEC05F47BF6}"/>
              </a:ext>
            </a:extLst>
          </p:cNvPr>
          <p:cNvSpPr/>
          <p:nvPr/>
        </p:nvSpPr>
        <p:spPr>
          <a:xfrm>
            <a:off x="1268091" y="2056450"/>
            <a:ext cx="7533048" cy="3939482"/>
          </a:xfrm>
          <a:prstGeom prst="roundRect">
            <a:avLst>
              <a:gd name="adj" fmla="val 40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ABF9287-061E-A74F-F9AB-67FC7E9690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663" y="2226043"/>
            <a:ext cx="3600172" cy="360017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4294D62-1711-9BD6-74F1-5A8B4B6CE9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992" y="2215185"/>
            <a:ext cx="3559157" cy="360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81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BC66E-4987-9140-503C-7760A7F52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22CF0F0-6437-4355-E224-7B0ECAB13B57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10E0779-7D04-E643-1247-681697025EA9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52E097-1102-D4AD-831E-B86FAF58F79B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A8BCB15-EE3D-526B-BE4B-B3B5D23D5D91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E489E5-FE80-E2F7-4879-DDE069E2AA0A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BC9EE8D-1E12-48DF-F069-5DCD38EAA8EE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A5497A6-61C5-668C-CBCD-34FB364F500D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16D158-52C7-0A31-267B-ED9BCF86098D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D833A69-450F-2CB9-8231-AA6BEB4AAC3A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3F12AFC-7A26-B982-9C13-9918423A6833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2020C19-9568-0FC5-F96C-48AF74ED01AD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FB91172-A72A-152A-6E39-0495EAA87D86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1837A22-801A-04C2-CD2A-DCAD1D73F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C116E4-2CB3-6BB9-A76E-D1A43B0FB933}"/>
              </a:ext>
            </a:extLst>
          </p:cNvPr>
          <p:cNvSpPr/>
          <p:nvPr/>
        </p:nvSpPr>
        <p:spPr>
          <a:xfrm>
            <a:off x="15523720" y="222604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45D612-7A26-4C1E-82FE-B538F0223549}"/>
              </a:ext>
            </a:extLst>
          </p:cNvPr>
          <p:cNvSpPr/>
          <p:nvPr/>
        </p:nvSpPr>
        <p:spPr>
          <a:xfrm>
            <a:off x="15523720" y="222604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49ECCD-E246-9F23-3D21-2C3F648793A2}"/>
              </a:ext>
            </a:extLst>
          </p:cNvPr>
          <p:cNvSpPr/>
          <p:nvPr/>
        </p:nvSpPr>
        <p:spPr>
          <a:xfrm>
            <a:off x="15502679" y="3951712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FF3EC7-6D7F-A7D1-01F9-BEA2DDC544E5}"/>
              </a:ext>
            </a:extLst>
          </p:cNvPr>
          <p:cNvSpPr/>
          <p:nvPr/>
        </p:nvSpPr>
        <p:spPr>
          <a:xfrm>
            <a:off x="15500688" y="282586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3A6003-5EBB-5679-111E-5C76135CD519}"/>
              </a:ext>
            </a:extLst>
          </p:cNvPr>
          <p:cNvSpPr/>
          <p:nvPr/>
        </p:nvSpPr>
        <p:spPr>
          <a:xfrm>
            <a:off x="12723370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7B48D16-F6DC-D292-0627-E89513B46951}"/>
              </a:ext>
            </a:extLst>
          </p:cNvPr>
          <p:cNvSpPr/>
          <p:nvPr/>
        </p:nvSpPr>
        <p:spPr>
          <a:xfrm>
            <a:off x="12723370" y="222604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3573D11-000D-DE07-F94C-B11C4502A27F}"/>
              </a:ext>
            </a:extLst>
          </p:cNvPr>
          <p:cNvSpPr/>
          <p:nvPr/>
        </p:nvSpPr>
        <p:spPr>
          <a:xfrm>
            <a:off x="12620701" y="3951708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A29449-814D-9EB2-5E80-D53A65AF58EC}"/>
              </a:ext>
            </a:extLst>
          </p:cNvPr>
          <p:cNvSpPr/>
          <p:nvPr/>
        </p:nvSpPr>
        <p:spPr>
          <a:xfrm>
            <a:off x="12700338" y="282585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76D7EBD-C87E-0ABB-44F0-663D4C65FF75}"/>
              </a:ext>
            </a:extLst>
          </p:cNvPr>
          <p:cNvSpPr/>
          <p:nvPr/>
        </p:nvSpPr>
        <p:spPr>
          <a:xfrm>
            <a:off x="-528293" y="-533400"/>
            <a:ext cx="13256769" cy="7924799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7B4D457-6857-44F8-C15E-9F498DCC2D65}"/>
              </a:ext>
            </a:extLst>
          </p:cNvPr>
          <p:cNvSpPr/>
          <p:nvPr/>
        </p:nvSpPr>
        <p:spPr>
          <a:xfrm>
            <a:off x="1981161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F73DC22-0F96-9B18-D079-1710CB0F18EC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15</a:t>
            </a:r>
            <a:endParaRPr lang="en-US" sz="2000" b="1" dirty="0">
              <a:solidFill>
                <a:schemeClr val="tx1"/>
              </a:solidFill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4994D58-FE03-7C58-101E-9A9480D439F1}"/>
              </a:ext>
            </a:extLst>
          </p:cNvPr>
          <p:cNvSpPr/>
          <p:nvPr/>
        </p:nvSpPr>
        <p:spPr>
          <a:xfrm>
            <a:off x="10437069" y="2305028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C85DF5C-B488-ADCE-73D9-564B1563732C}"/>
              </a:ext>
            </a:extLst>
          </p:cNvPr>
          <p:cNvSpPr/>
          <p:nvPr/>
        </p:nvSpPr>
        <p:spPr>
          <a:xfrm>
            <a:off x="10766498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0C60E5C-532E-C882-21CE-32BC8040EDE1}"/>
              </a:ext>
            </a:extLst>
          </p:cNvPr>
          <p:cNvCxnSpPr/>
          <p:nvPr/>
        </p:nvCxnSpPr>
        <p:spPr>
          <a:xfrm>
            <a:off x="1054938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D73486D-37EF-1839-BAC6-08454FD61446}"/>
              </a:ext>
            </a:extLst>
          </p:cNvPr>
          <p:cNvSpPr txBox="1"/>
          <p:nvPr/>
        </p:nvSpPr>
        <p:spPr>
          <a:xfrm>
            <a:off x="1064270" y="14716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نتایج بخش 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Detection</a:t>
            </a:r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:</a:t>
            </a:r>
            <a:endParaRPr lang="en-US" sz="3200" b="1" dirty="0">
              <a:solidFill>
                <a:schemeClr val="bg1"/>
              </a:solidFill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1FA717F-205A-5E85-56D5-C1C7CCABFFF0}"/>
              </a:ext>
            </a:extLst>
          </p:cNvPr>
          <p:cNvSpPr/>
          <p:nvPr/>
        </p:nvSpPr>
        <p:spPr>
          <a:xfrm>
            <a:off x="1268091" y="2056450"/>
            <a:ext cx="7533048" cy="3939482"/>
          </a:xfrm>
          <a:prstGeom prst="roundRect">
            <a:avLst>
              <a:gd name="adj" fmla="val 40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83A2516-D26C-9B8B-C760-518C594D7C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631" y="2251443"/>
            <a:ext cx="3565945" cy="356594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29A8916-1F6B-A663-401D-BFC80D834E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270" y="2257454"/>
            <a:ext cx="3565945" cy="356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8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94BA3-1CC3-4259-3F43-0A5734E94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B88229-EED9-E2EC-2D0C-397F331CE1DF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181F42A-7129-5FA0-E161-D4EB76208233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D008C6B-96A0-C003-8C09-6294E2B6C6B4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6EADC2D-6AD7-EEC4-FA70-67BE0F9EB084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7AE787E-0F03-A307-2E5E-557C6762A1C0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8749859-EB08-491D-39AA-CCC6AC0769BB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37E28C7-DBF2-80C2-FEA6-0FD981E56ABC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D55E5B9-E2E2-BEC0-2D84-C378E4A2C330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6799DF7-0998-B582-332E-4458021B4EBF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F3A450-BCEF-1373-823C-0B1AEA1129B6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DF6ABF-61F5-22AC-B92C-AE9E509B1B12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AED6EF3-5355-8C3A-F3CE-DF79319DEAB3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1C49FEB-6418-4C87-64F1-69E3B9E4C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8C9DCE-0DCD-5FC8-D6AB-55530FC287BD}"/>
              </a:ext>
            </a:extLst>
          </p:cNvPr>
          <p:cNvSpPr/>
          <p:nvPr/>
        </p:nvSpPr>
        <p:spPr>
          <a:xfrm>
            <a:off x="15523720" y="222604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03EB03-7524-AEA0-9DE5-EDBDCC36C8B3}"/>
              </a:ext>
            </a:extLst>
          </p:cNvPr>
          <p:cNvSpPr/>
          <p:nvPr/>
        </p:nvSpPr>
        <p:spPr>
          <a:xfrm>
            <a:off x="15523720" y="222604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9BF86D-D75A-3FF0-03BE-800D7647045E}"/>
              </a:ext>
            </a:extLst>
          </p:cNvPr>
          <p:cNvSpPr/>
          <p:nvPr/>
        </p:nvSpPr>
        <p:spPr>
          <a:xfrm>
            <a:off x="15502679" y="3951712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DCF204-16BA-FE16-59E6-6D15AFA5A19B}"/>
              </a:ext>
            </a:extLst>
          </p:cNvPr>
          <p:cNvSpPr/>
          <p:nvPr/>
        </p:nvSpPr>
        <p:spPr>
          <a:xfrm>
            <a:off x="15500688" y="282586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9F1D12-FEFC-F8B2-E0FF-79F972B19BBE}"/>
              </a:ext>
            </a:extLst>
          </p:cNvPr>
          <p:cNvSpPr/>
          <p:nvPr/>
        </p:nvSpPr>
        <p:spPr>
          <a:xfrm>
            <a:off x="12723370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5C949A8-ACCD-9C2C-D81F-21EF8C53678A}"/>
              </a:ext>
            </a:extLst>
          </p:cNvPr>
          <p:cNvSpPr/>
          <p:nvPr/>
        </p:nvSpPr>
        <p:spPr>
          <a:xfrm>
            <a:off x="12723370" y="222604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97FFC74-8555-2C51-A164-0F09D63866AD}"/>
              </a:ext>
            </a:extLst>
          </p:cNvPr>
          <p:cNvSpPr/>
          <p:nvPr/>
        </p:nvSpPr>
        <p:spPr>
          <a:xfrm>
            <a:off x="12620701" y="3951708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4C4492C-1970-62EB-52BA-AB6E4E2637F1}"/>
              </a:ext>
            </a:extLst>
          </p:cNvPr>
          <p:cNvSpPr/>
          <p:nvPr/>
        </p:nvSpPr>
        <p:spPr>
          <a:xfrm>
            <a:off x="12700338" y="282585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84FCC88-37B6-0770-97A1-7DA43D0CA04E}"/>
              </a:ext>
            </a:extLst>
          </p:cNvPr>
          <p:cNvSpPr/>
          <p:nvPr/>
        </p:nvSpPr>
        <p:spPr>
          <a:xfrm>
            <a:off x="-528293" y="-533400"/>
            <a:ext cx="13256769" cy="7924799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61CD13A-E8E6-50C3-5F69-32F8214F937E}"/>
              </a:ext>
            </a:extLst>
          </p:cNvPr>
          <p:cNvSpPr/>
          <p:nvPr/>
        </p:nvSpPr>
        <p:spPr>
          <a:xfrm>
            <a:off x="1981161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DEAE945-5280-26F1-B258-10F1B21ED9C2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15</a:t>
            </a:r>
            <a:endParaRPr lang="en-US" sz="2000" b="1" dirty="0">
              <a:solidFill>
                <a:schemeClr val="tx1"/>
              </a:solidFill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75F8B0D-E076-4E34-5D41-DF4D7FA6CFEC}"/>
              </a:ext>
            </a:extLst>
          </p:cNvPr>
          <p:cNvSpPr/>
          <p:nvPr/>
        </p:nvSpPr>
        <p:spPr>
          <a:xfrm>
            <a:off x="10437069" y="2305028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404294D-0174-9AFC-2508-C579C1EBB774}"/>
              </a:ext>
            </a:extLst>
          </p:cNvPr>
          <p:cNvSpPr/>
          <p:nvPr/>
        </p:nvSpPr>
        <p:spPr>
          <a:xfrm>
            <a:off x="10766498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C0ABFEF-81B8-CE04-2065-D46CE44630D6}"/>
              </a:ext>
            </a:extLst>
          </p:cNvPr>
          <p:cNvCxnSpPr/>
          <p:nvPr/>
        </p:nvCxnSpPr>
        <p:spPr>
          <a:xfrm>
            <a:off x="1054938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93578A4-C5FF-1293-5878-74818C05CAAD}"/>
              </a:ext>
            </a:extLst>
          </p:cNvPr>
          <p:cNvSpPr txBox="1"/>
          <p:nvPr/>
        </p:nvSpPr>
        <p:spPr>
          <a:xfrm>
            <a:off x="1064270" y="14716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نتایج بخش 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Detection</a:t>
            </a:r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:</a:t>
            </a:r>
            <a:endParaRPr lang="en-US" sz="3200" b="1" dirty="0">
              <a:solidFill>
                <a:schemeClr val="bg1"/>
              </a:solidFill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8CEC123-54F1-78D7-3BD2-FDD05DC3F566}"/>
              </a:ext>
            </a:extLst>
          </p:cNvPr>
          <p:cNvSpPr/>
          <p:nvPr/>
        </p:nvSpPr>
        <p:spPr>
          <a:xfrm>
            <a:off x="1268091" y="2056450"/>
            <a:ext cx="7533048" cy="3939482"/>
          </a:xfrm>
          <a:prstGeom prst="roundRect">
            <a:avLst>
              <a:gd name="adj" fmla="val 40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4FAC28F-B68F-024C-AFA8-A18C4D73C3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069" y="2249412"/>
            <a:ext cx="3565945" cy="356594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12073BA-4C28-E9DE-E98A-D373DD4413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479" y="2249412"/>
            <a:ext cx="3659909" cy="356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53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814BE-1EC5-2003-6ED9-59F1CE84A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F5CBEF-B6C7-8478-9651-5969006FBF8E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53410E-71D9-0098-35A4-FC2E0CA2D802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BEEDA6-3E88-AAF8-A405-DBD0D9A5F750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AD5A8B-734D-9F7B-1628-A8809D1DBCAA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C8F4EA6-88DE-B12F-E7C7-8EF84DDEFBCE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FD8D95C-A495-D32B-BBE1-EC4444911B57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0DF2D3-CD0A-5773-6556-96C64223C066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FB02A86-569F-5C0B-1006-3EC8CC964FA7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FEDE167-F95D-E23D-1D2F-B38CE67F4574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E08A5BE-566D-09E9-1DA5-48CD89DFEA82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F445EF-9434-8E2C-0E9D-45A0ACB236DF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5D4D86E-9088-F0B1-8217-D755E09D4AF6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194E454-111A-BBAF-A302-71ABCC7B2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A958B0-F053-1B9E-9465-B6A8DEEA4C02}"/>
              </a:ext>
            </a:extLst>
          </p:cNvPr>
          <p:cNvSpPr/>
          <p:nvPr/>
        </p:nvSpPr>
        <p:spPr>
          <a:xfrm>
            <a:off x="15523720" y="2226048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4A6D59-A0FD-1909-2D60-0BE51DB28106}"/>
              </a:ext>
            </a:extLst>
          </p:cNvPr>
          <p:cNvSpPr/>
          <p:nvPr/>
        </p:nvSpPr>
        <p:spPr>
          <a:xfrm>
            <a:off x="15523720" y="2226047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4A3324-7A45-4A31-9D74-E8E7037D102D}"/>
              </a:ext>
            </a:extLst>
          </p:cNvPr>
          <p:cNvSpPr/>
          <p:nvPr/>
        </p:nvSpPr>
        <p:spPr>
          <a:xfrm>
            <a:off x="15502679" y="3951712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7FB701-6013-CE08-7424-7538A15DFF2C}"/>
              </a:ext>
            </a:extLst>
          </p:cNvPr>
          <p:cNvSpPr/>
          <p:nvPr/>
        </p:nvSpPr>
        <p:spPr>
          <a:xfrm>
            <a:off x="15500688" y="2825861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96A997-187C-6CE5-824E-FF55A6D85B20}"/>
              </a:ext>
            </a:extLst>
          </p:cNvPr>
          <p:cNvSpPr/>
          <p:nvPr/>
        </p:nvSpPr>
        <p:spPr>
          <a:xfrm>
            <a:off x="12723370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527329-FBC9-07C2-6C9C-5DD54F59FFB3}"/>
              </a:ext>
            </a:extLst>
          </p:cNvPr>
          <p:cNvSpPr/>
          <p:nvPr/>
        </p:nvSpPr>
        <p:spPr>
          <a:xfrm>
            <a:off x="12723370" y="222604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B65C0D-38C5-3CA5-801E-F2DAE4ABD2A8}"/>
              </a:ext>
            </a:extLst>
          </p:cNvPr>
          <p:cNvSpPr/>
          <p:nvPr/>
        </p:nvSpPr>
        <p:spPr>
          <a:xfrm>
            <a:off x="12620701" y="3951708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8D200A7-E185-C96E-0436-5883D5FBFF49}"/>
              </a:ext>
            </a:extLst>
          </p:cNvPr>
          <p:cNvSpPr/>
          <p:nvPr/>
        </p:nvSpPr>
        <p:spPr>
          <a:xfrm>
            <a:off x="12700338" y="282585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943DBF7-9602-B1D8-7AD6-AAC28DB5883D}"/>
              </a:ext>
            </a:extLst>
          </p:cNvPr>
          <p:cNvSpPr/>
          <p:nvPr/>
        </p:nvSpPr>
        <p:spPr>
          <a:xfrm>
            <a:off x="-556431" y="-533400"/>
            <a:ext cx="13256769" cy="7924799"/>
          </a:xfrm>
          <a:prstGeom prst="roundRect">
            <a:avLst>
              <a:gd name="adj" fmla="val 20197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80C6C34-6BD6-3B4C-18ED-17B643E62D45}"/>
              </a:ext>
            </a:extLst>
          </p:cNvPr>
          <p:cNvSpPr/>
          <p:nvPr/>
        </p:nvSpPr>
        <p:spPr>
          <a:xfrm>
            <a:off x="1981161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85E33F-147A-AB27-D193-4E4410B9818A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15</a:t>
            </a:r>
            <a:endParaRPr lang="en-US" sz="2000" b="1" dirty="0">
              <a:solidFill>
                <a:schemeClr val="tx1"/>
              </a:solidFill>
              <a:cs typeface="2  Bardiya" panose="00000400000000000000" pitchFamily="2" charset="-7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697CBFA-3AEF-0279-4340-B5049009F571}"/>
              </a:ext>
            </a:extLst>
          </p:cNvPr>
          <p:cNvSpPr/>
          <p:nvPr/>
        </p:nvSpPr>
        <p:spPr>
          <a:xfrm>
            <a:off x="10437069" y="2305028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  <a:p>
            <a:pPr algn="ctr" rtl="1"/>
            <a:endParaRPr lang="fa-IR" sz="12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09045B-ED3A-2F9A-4F4D-73EB5EE02D0A}"/>
              </a:ext>
            </a:extLst>
          </p:cNvPr>
          <p:cNvSpPr/>
          <p:nvPr/>
        </p:nvSpPr>
        <p:spPr>
          <a:xfrm>
            <a:off x="10766498" y="1764062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648EA6-735E-D3A2-0DEB-46131EB071BB}"/>
              </a:ext>
            </a:extLst>
          </p:cNvPr>
          <p:cNvCxnSpPr/>
          <p:nvPr/>
        </p:nvCxnSpPr>
        <p:spPr>
          <a:xfrm>
            <a:off x="10549386" y="1753671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6566002-8DEA-2D5C-6FB8-57965D6AA5D9}"/>
              </a:ext>
            </a:extLst>
          </p:cNvPr>
          <p:cNvSpPr txBox="1"/>
          <p:nvPr/>
        </p:nvSpPr>
        <p:spPr>
          <a:xfrm>
            <a:off x="1064270" y="1471674"/>
            <a:ext cx="9065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نتایج بخش </a:t>
            </a:r>
            <a:r>
              <a:rPr lang="en-US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Detection</a:t>
            </a:r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:</a:t>
            </a:r>
            <a:endParaRPr lang="en-US" sz="3200" b="1" dirty="0">
              <a:solidFill>
                <a:schemeClr val="bg1"/>
              </a:solidFill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0ECDE8B-0A81-85C6-9D8B-FA9B87D0B391}"/>
              </a:ext>
            </a:extLst>
          </p:cNvPr>
          <p:cNvSpPr/>
          <p:nvPr/>
        </p:nvSpPr>
        <p:spPr>
          <a:xfrm>
            <a:off x="1268091" y="2056450"/>
            <a:ext cx="7533048" cy="3939482"/>
          </a:xfrm>
          <a:prstGeom prst="roundRect">
            <a:avLst>
              <a:gd name="adj" fmla="val 40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DEEBA43-71BB-93B5-751D-422ECE8D8A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546" y="2181432"/>
            <a:ext cx="3600172" cy="365100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555E77E-C3B5-FA81-A9EB-B9F95629B7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195" y="2238743"/>
            <a:ext cx="3606398" cy="360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01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5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38ACF-6FD9-CE2B-BE0F-C2C4C5A8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D9EE13E-825A-4DBD-9A16-311C15941555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212DFD-8282-AD5F-6EBB-FCBC9822A040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C10E5F-71D6-59A3-D051-659B4D20D27A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8EC398C-4AB0-8F4C-C6D1-FC1ABF1BE088}"/>
              </a:ext>
            </a:extLst>
          </p:cNvPr>
          <p:cNvSpPr/>
          <p:nvPr/>
        </p:nvSpPr>
        <p:spPr>
          <a:xfrm>
            <a:off x="6096000" y="264316"/>
            <a:ext cx="3448129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3E38DBF-8B48-DDED-7337-683EFA76AFB1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56A194-2631-A521-D39C-EBCA0104C792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solidFill>
                  <a:schemeClr val="tx1"/>
                </a:solidFill>
                <a:cs typeface="2  Bardiya" panose="00000400000000000000" pitchFamily="2" charset="-78"/>
              </a:rPr>
              <a:t>15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F0EF29F-F256-EA1F-072B-21ED6627237D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AA58109-6A8C-8D15-C3BA-A8473CC85834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16ECF25-45C2-D627-2FB8-582E79E6009E}"/>
              </a:ext>
            </a:extLst>
          </p:cNvPr>
          <p:cNvSpPr/>
          <p:nvPr/>
        </p:nvSpPr>
        <p:spPr>
          <a:xfrm>
            <a:off x="8524875" y="264316"/>
            <a:ext cx="10192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5B50D54-1E8F-5D9A-3ED0-AD1DF994B89A}"/>
              </a:ext>
            </a:extLst>
          </p:cNvPr>
          <p:cNvSpPr/>
          <p:nvPr/>
        </p:nvSpPr>
        <p:spPr>
          <a:xfrm>
            <a:off x="4924425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2B2E163-51A7-920B-BF7F-AFBEC03A4508}"/>
              </a:ext>
            </a:extLst>
          </p:cNvPr>
          <p:cNvSpPr/>
          <p:nvPr/>
        </p:nvSpPr>
        <p:spPr>
          <a:xfrm>
            <a:off x="6067386" y="264316"/>
            <a:ext cx="2733753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ساختار سیستم پشنهادی و نتایج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7B9F50C-EE9B-B775-4CD1-4F51D86F23CD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06565F1-4871-B882-40C5-CCE5854AF741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4797EEA-25DE-88F3-691E-A221A2D5E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9FBFC06-DE16-5728-7157-E9C9A12556F1}"/>
              </a:ext>
            </a:extLst>
          </p:cNvPr>
          <p:cNvSpPr/>
          <p:nvPr/>
        </p:nvSpPr>
        <p:spPr>
          <a:xfrm>
            <a:off x="7560820" y="2226050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80B6AE-C780-DF91-8086-1901863253D4}"/>
              </a:ext>
            </a:extLst>
          </p:cNvPr>
          <p:cNvSpPr/>
          <p:nvPr/>
        </p:nvSpPr>
        <p:spPr>
          <a:xfrm>
            <a:off x="7560820" y="222604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B22D9F-AF78-4D6F-F9B2-02CDD9F90D8C}"/>
              </a:ext>
            </a:extLst>
          </p:cNvPr>
          <p:cNvSpPr/>
          <p:nvPr/>
        </p:nvSpPr>
        <p:spPr>
          <a:xfrm>
            <a:off x="7539779" y="395171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Classification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مدل‌های </a:t>
            </a:r>
            <a:r>
              <a:rPr lang="en-US" sz="2000" b="1" dirty="0">
                <a:cs typeface="2  Bardiya" panose="00000400000000000000" pitchFamily="2" charset="-78"/>
              </a:rPr>
              <a:t>CNN</a:t>
            </a:r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</a:t>
            </a:r>
            <a:r>
              <a:rPr lang="en-US" sz="2000" b="1" dirty="0">
                <a:cs typeface="2  Bardiya" panose="00000400000000000000" pitchFamily="2" charset="-78"/>
              </a:rPr>
              <a:t>Ensemble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527BDA-FFCB-91E8-257C-6068E2FB5774}"/>
              </a:ext>
            </a:extLst>
          </p:cNvPr>
          <p:cNvSpPr/>
          <p:nvPr/>
        </p:nvSpPr>
        <p:spPr>
          <a:xfrm>
            <a:off x="7537788" y="282586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9693CF-FC1A-13F4-9249-263396CBB341}"/>
              </a:ext>
            </a:extLst>
          </p:cNvPr>
          <p:cNvSpPr/>
          <p:nvPr/>
        </p:nvSpPr>
        <p:spPr>
          <a:xfrm>
            <a:off x="4760470" y="2226046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87598FD-EE06-1DF0-AB15-4F0D882DCF50}"/>
              </a:ext>
            </a:extLst>
          </p:cNvPr>
          <p:cNvSpPr/>
          <p:nvPr/>
        </p:nvSpPr>
        <p:spPr>
          <a:xfrm>
            <a:off x="4760470" y="2226045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A04E0E3-B825-4427-71EC-E8C0369C242B}"/>
              </a:ext>
            </a:extLst>
          </p:cNvPr>
          <p:cNvSpPr/>
          <p:nvPr/>
        </p:nvSpPr>
        <p:spPr>
          <a:xfrm>
            <a:off x="4657801" y="3951710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en-US" sz="2000" b="1" dirty="0">
                <a:cs typeface="2  Bardiya" panose="00000400000000000000" pitchFamily="2" charset="-78"/>
              </a:rPr>
              <a:t>Object Detection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مدل هیبرید</a:t>
            </a:r>
          </a:p>
          <a:p>
            <a:pPr algn="ctr" rtl="1"/>
            <a:r>
              <a:rPr lang="en-US" sz="1600" b="1" dirty="0">
                <a:cs typeface="2  Bardiya" panose="00000400000000000000" pitchFamily="2" charset="-78"/>
              </a:rPr>
              <a:t>YOLOX-</a:t>
            </a:r>
            <a:r>
              <a:rPr lang="en-US" sz="1600" b="1" dirty="0" err="1">
                <a:cs typeface="2  Bardiya" panose="00000400000000000000" pitchFamily="2" charset="-78"/>
              </a:rPr>
              <a:t>ConvNeXt</a:t>
            </a:r>
            <a:r>
              <a:rPr lang="en-US" sz="1600" b="1" dirty="0">
                <a:cs typeface="2  Bardiya" panose="00000400000000000000" pitchFamily="2" charset="-78"/>
              </a:rPr>
              <a:t>-CBAM</a:t>
            </a:r>
          </a:p>
          <a:p>
            <a:pPr algn="ctr" rtl="1"/>
            <a:endParaRPr lang="en-US" sz="1600" b="1" dirty="0">
              <a:cs typeface="2  Bardiya" panose="000004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D102446-2CE4-EABE-23E5-56A2A66EC2B2}"/>
              </a:ext>
            </a:extLst>
          </p:cNvPr>
          <p:cNvSpPr/>
          <p:nvPr/>
        </p:nvSpPr>
        <p:spPr>
          <a:xfrm>
            <a:off x="4737438" y="2825859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2DE43F7-27A6-FB12-872B-C84B1D78749F}"/>
              </a:ext>
            </a:extLst>
          </p:cNvPr>
          <p:cNvSpPr/>
          <p:nvPr/>
        </p:nvSpPr>
        <p:spPr>
          <a:xfrm>
            <a:off x="1981161" y="2226045"/>
            <a:ext cx="2480638" cy="3186469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8E17FB5-8356-3D1F-6AC7-8C1E62E5024D}"/>
              </a:ext>
            </a:extLst>
          </p:cNvPr>
          <p:cNvSpPr/>
          <p:nvPr/>
        </p:nvSpPr>
        <p:spPr>
          <a:xfrm>
            <a:off x="1981161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605CB65-E800-01FE-4AB7-3197D26F1DF7}"/>
              </a:ext>
            </a:extLst>
          </p:cNvPr>
          <p:cNvSpPr/>
          <p:nvPr/>
        </p:nvSpPr>
        <p:spPr>
          <a:xfrm>
            <a:off x="1960120" y="402790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ارزیابی و تحلیل نتایج</a:t>
            </a: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  <a:p>
            <a:pPr algn="ctr" rtl="1"/>
            <a:endParaRPr lang="fa-IR" sz="2000" b="1" dirty="0">
              <a:cs typeface="2  Bardiya" panose="00000400000000000000" pitchFamily="2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026D04B-E469-1F55-F9C8-767ADDE61839}"/>
              </a:ext>
            </a:extLst>
          </p:cNvPr>
          <p:cNvSpPr/>
          <p:nvPr/>
        </p:nvSpPr>
        <p:spPr>
          <a:xfrm>
            <a:off x="1958129" y="282585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2935374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93DD1-AF48-8C80-7F1E-2A7295EB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4A8BD7-C655-5816-485A-265D2DE7F038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D71A1F-1328-D5B8-E6E1-BFE24E6C76E6}"/>
              </a:ext>
            </a:extLst>
          </p:cNvPr>
          <p:cNvSpPr/>
          <p:nvPr/>
        </p:nvSpPr>
        <p:spPr>
          <a:xfrm>
            <a:off x="7543800" y="264316"/>
            <a:ext cx="85736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809AFE7-C31D-7EB4-5090-BC4B10EA80A6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6FE78FF-67CE-DF10-A29E-EE56691085F2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93A68D4-A4DA-C907-FEAF-4B39C7EAA386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5446850-F9BA-BA33-4304-DAA48BB4AB5E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16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F47C73-8976-6D45-E82A-43FBAFEDD9B8}"/>
              </a:ext>
            </a:extLst>
          </p:cNvPr>
          <p:cNvSpPr/>
          <p:nvPr/>
        </p:nvSpPr>
        <p:spPr>
          <a:xfrm>
            <a:off x="1097268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C87F1E0-4EA3-94B4-7DBD-BDCCF63A42A9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F3FA470-6467-0B02-C910-1B6D3BE1763F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1EFF929-D2C5-375F-3872-D85578ABABE3}"/>
              </a:ext>
            </a:extLst>
          </p:cNvPr>
          <p:cNvSpPr/>
          <p:nvPr/>
        </p:nvSpPr>
        <p:spPr>
          <a:xfrm>
            <a:off x="7543800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AD728D4-93EA-0EE1-718B-5A2DCD0F3762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89ACD7F-5206-526C-6E5F-01EF36102EC5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2D471F5-BE3C-2302-A2DD-F3BFE312F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3580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B0EDB-6F55-36B7-026C-5A36847C2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D6E77F-73F4-309B-0CBF-DE52F6BFBFB7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2FB826-5FB8-A06A-9EE4-31CEAAF61739}"/>
              </a:ext>
            </a:extLst>
          </p:cNvPr>
          <p:cNvSpPr/>
          <p:nvPr/>
        </p:nvSpPr>
        <p:spPr>
          <a:xfrm>
            <a:off x="6343650" y="264316"/>
            <a:ext cx="205751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950443-6549-5BE8-C338-BD5456483BDA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9CBC05-EAB9-2495-2A5A-806C1ED3CF4F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59C888C-8660-3AD8-0211-74E1E373AE90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3B7D429-6EE3-F40B-95DA-604B8298EDE7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17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5550FCA-8C82-CE68-32C5-67AAB9EBCE1A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835C5D4-52F0-9392-4438-A083FD52A103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CF1B151-E1C3-0CE9-6F2A-D230A4D2BC1D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BF06178-9A25-1354-E732-17EB50B86960}"/>
              </a:ext>
            </a:extLst>
          </p:cNvPr>
          <p:cNvSpPr/>
          <p:nvPr/>
        </p:nvSpPr>
        <p:spPr>
          <a:xfrm>
            <a:off x="7315200" y="264316"/>
            <a:ext cx="10859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3A6472-7F9B-F4A8-964B-BDD79D5AA44F}"/>
              </a:ext>
            </a:extLst>
          </p:cNvPr>
          <p:cNvSpPr/>
          <p:nvPr/>
        </p:nvSpPr>
        <p:spPr>
          <a:xfrm>
            <a:off x="6410325" y="264316"/>
            <a:ext cx="119062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نتیجه گیری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2272B3-DF56-9885-CD04-5A9DB608B9B4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94FA0C6-94C4-7DDF-7A34-81B4E78B61CD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9BB61B3-C51F-B0EA-4B54-A910F7ECB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B48054-83C2-DBF7-C0E5-7B9B8B97E019}"/>
              </a:ext>
            </a:extLst>
          </p:cNvPr>
          <p:cNvSpPr/>
          <p:nvPr/>
        </p:nvSpPr>
        <p:spPr>
          <a:xfrm>
            <a:off x="7772322" y="2226050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3D531F-1672-0687-24AF-50AD861D21BA}"/>
              </a:ext>
            </a:extLst>
          </p:cNvPr>
          <p:cNvSpPr/>
          <p:nvPr/>
        </p:nvSpPr>
        <p:spPr>
          <a:xfrm>
            <a:off x="7772322" y="222604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87261F-4425-35D6-1643-0E56FFF4B08D}"/>
              </a:ext>
            </a:extLst>
          </p:cNvPr>
          <p:cNvSpPr/>
          <p:nvPr/>
        </p:nvSpPr>
        <p:spPr>
          <a:xfrm>
            <a:off x="7751281" y="391361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جمع بندی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نتیجه گیری</a:t>
            </a:r>
          </a:p>
          <a:p>
            <a:pPr algn="ctr" rtl="1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35FCF5-9458-5E94-71C7-6C1B1FB7963E}"/>
              </a:ext>
            </a:extLst>
          </p:cNvPr>
          <p:cNvSpPr/>
          <p:nvPr/>
        </p:nvSpPr>
        <p:spPr>
          <a:xfrm>
            <a:off x="7749290" y="282586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165144-B24B-6C41-1AD4-B8F7CE70BE0A}"/>
              </a:ext>
            </a:extLst>
          </p:cNvPr>
          <p:cNvSpPr/>
          <p:nvPr/>
        </p:nvSpPr>
        <p:spPr>
          <a:xfrm>
            <a:off x="4971972" y="2226046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1727361-E98F-4E16-8309-6A8FAA348821}"/>
              </a:ext>
            </a:extLst>
          </p:cNvPr>
          <p:cNvSpPr/>
          <p:nvPr/>
        </p:nvSpPr>
        <p:spPr>
          <a:xfrm>
            <a:off x="4971972" y="2226045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BD8723-7445-F3A1-6AF4-363108888065}"/>
              </a:ext>
            </a:extLst>
          </p:cNvPr>
          <p:cNvSpPr/>
          <p:nvPr/>
        </p:nvSpPr>
        <p:spPr>
          <a:xfrm>
            <a:off x="4869303" y="3646910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تحلیل نقاط قوت  و ضعف سیستم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A98BD63-EFB8-2D74-05CE-A6E3ABA23851}"/>
              </a:ext>
            </a:extLst>
          </p:cNvPr>
          <p:cNvSpPr/>
          <p:nvPr/>
        </p:nvSpPr>
        <p:spPr>
          <a:xfrm>
            <a:off x="4948940" y="2825859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F548369-6AC3-320F-EB64-E1640E01A2B2}"/>
              </a:ext>
            </a:extLst>
          </p:cNvPr>
          <p:cNvSpPr/>
          <p:nvPr/>
        </p:nvSpPr>
        <p:spPr>
          <a:xfrm>
            <a:off x="2192663" y="2226045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76695B8-2D63-109C-6C17-3D08D4BA6244}"/>
              </a:ext>
            </a:extLst>
          </p:cNvPr>
          <p:cNvSpPr/>
          <p:nvPr/>
        </p:nvSpPr>
        <p:spPr>
          <a:xfrm>
            <a:off x="2192663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CC28171-9C67-E77C-58BA-8A79C6814340}"/>
              </a:ext>
            </a:extLst>
          </p:cNvPr>
          <p:cNvSpPr/>
          <p:nvPr/>
        </p:nvSpPr>
        <p:spPr>
          <a:xfrm>
            <a:off x="2171622" y="364690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پیشنهادات آتی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E9F90BD-2B71-2EB5-AB3E-A1510D19B4C4}"/>
              </a:ext>
            </a:extLst>
          </p:cNvPr>
          <p:cNvSpPr/>
          <p:nvPr/>
        </p:nvSpPr>
        <p:spPr>
          <a:xfrm>
            <a:off x="2169631" y="282585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2927615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28FD6-C612-028E-6261-23502568E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B3F52C-E787-2913-BA4F-97C8C03DB723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ADEF6A-EE38-47D4-0D89-C0EAB59DADC4}"/>
              </a:ext>
            </a:extLst>
          </p:cNvPr>
          <p:cNvSpPr/>
          <p:nvPr/>
        </p:nvSpPr>
        <p:spPr>
          <a:xfrm>
            <a:off x="6343650" y="264316"/>
            <a:ext cx="205751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9966274-2D50-40B4-51C8-0A042730AB30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75BED0-7376-53EA-7EB7-E3B3C13A6E64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FFF105A-788A-448E-AEE5-47F3192D6362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860667-782E-DF4A-06DF-1D9376DDB2B1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17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9A2588D-9170-249F-CED6-15E2C86AEAF3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B814D9C-8ABB-C654-9185-185F1C6F7BA7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FA4952B-EB71-A778-4271-A9A597342C98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8E95C35-9EA0-15ED-F954-992565E66BCA}"/>
              </a:ext>
            </a:extLst>
          </p:cNvPr>
          <p:cNvSpPr/>
          <p:nvPr/>
        </p:nvSpPr>
        <p:spPr>
          <a:xfrm>
            <a:off x="7315200" y="264316"/>
            <a:ext cx="10859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337835-8512-70AE-EE9C-BF9A6702DAAA}"/>
              </a:ext>
            </a:extLst>
          </p:cNvPr>
          <p:cNvSpPr/>
          <p:nvPr/>
        </p:nvSpPr>
        <p:spPr>
          <a:xfrm>
            <a:off x="6410325" y="264316"/>
            <a:ext cx="119062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نتیجه گیری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E85C52-34C8-C678-4942-A34F512DBF01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EA86696-A617-D82E-3BD9-696CAC58C92B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0EE3767-81F8-0F27-AC64-46C7BC071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9B81C96-12AC-A310-91DC-3D736FE97D2F}"/>
              </a:ext>
            </a:extLst>
          </p:cNvPr>
          <p:cNvSpPr/>
          <p:nvPr/>
        </p:nvSpPr>
        <p:spPr>
          <a:xfrm>
            <a:off x="845421" y="1289889"/>
            <a:ext cx="10698879" cy="5058792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FB15367-DFD8-22CA-3E20-2D6E60B49126}"/>
              </a:ext>
            </a:extLst>
          </p:cNvPr>
          <p:cNvSpPr/>
          <p:nvPr/>
        </p:nvSpPr>
        <p:spPr>
          <a:xfrm>
            <a:off x="7772322" y="222604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4B4A48A-56E3-E9DD-5D6A-4EBFA70F0724}"/>
              </a:ext>
            </a:extLst>
          </p:cNvPr>
          <p:cNvSpPr/>
          <p:nvPr/>
        </p:nvSpPr>
        <p:spPr>
          <a:xfrm>
            <a:off x="-1994475" y="2226051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B3B367C-633D-37B2-8853-D1AF91387FAB}"/>
              </a:ext>
            </a:extLst>
          </p:cNvPr>
          <p:cNvSpPr/>
          <p:nvPr/>
        </p:nvSpPr>
        <p:spPr>
          <a:xfrm>
            <a:off x="-1994475" y="2226050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AFF6A5C-51A8-3F3D-45C8-6701490E54A0}"/>
              </a:ext>
            </a:extLst>
          </p:cNvPr>
          <p:cNvSpPr/>
          <p:nvPr/>
        </p:nvSpPr>
        <p:spPr>
          <a:xfrm>
            <a:off x="-2097144" y="3646915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تحلیل نقاط قوت  و ضعف سیستم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61D818A-AAB7-F48C-EE01-7C8BC1B34B6C}"/>
              </a:ext>
            </a:extLst>
          </p:cNvPr>
          <p:cNvSpPr/>
          <p:nvPr/>
        </p:nvSpPr>
        <p:spPr>
          <a:xfrm>
            <a:off x="-2017507" y="2825864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99C539B-A0BF-F8D8-36CE-84FC8E1070F3}"/>
              </a:ext>
            </a:extLst>
          </p:cNvPr>
          <p:cNvSpPr/>
          <p:nvPr/>
        </p:nvSpPr>
        <p:spPr>
          <a:xfrm>
            <a:off x="-4773784" y="2226050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E74AD7D-7EE2-1AEC-7828-0356190B42C1}"/>
              </a:ext>
            </a:extLst>
          </p:cNvPr>
          <p:cNvSpPr/>
          <p:nvPr/>
        </p:nvSpPr>
        <p:spPr>
          <a:xfrm>
            <a:off x="-4773784" y="222604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09C9BCB-0562-19F7-8E2F-623391B23BCE}"/>
              </a:ext>
            </a:extLst>
          </p:cNvPr>
          <p:cNvSpPr/>
          <p:nvPr/>
        </p:nvSpPr>
        <p:spPr>
          <a:xfrm>
            <a:off x="-4794825" y="364691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پیشنهادات آتی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F8D6B3A-1EA6-B831-BAB3-FC916739D4C9}"/>
              </a:ext>
            </a:extLst>
          </p:cNvPr>
          <p:cNvSpPr/>
          <p:nvPr/>
        </p:nvSpPr>
        <p:spPr>
          <a:xfrm>
            <a:off x="-4796816" y="282586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6D9B2F7-C4D8-238E-E26C-14CB2960DAAF}"/>
              </a:ext>
            </a:extLst>
          </p:cNvPr>
          <p:cNvSpPr/>
          <p:nvPr/>
        </p:nvSpPr>
        <p:spPr>
          <a:xfrm>
            <a:off x="9974942" y="2542451"/>
            <a:ext cx="1671803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جمع بندی </a:t>
            </a: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و</a:t>
            </a:r>
            <a:endParaRPr lang="en-US" sz="12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نتیجه گیری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822CAA4-9792-723C-823A-533BC4326336}"/>
              </a:ext>
            </a:extLst>
          </p:cNvPr>
          <p:cNvSpPr/>
          <p:nvPr/>
        </p:nvSpPr>
        <p:spPr>
          <a:xfrm>
            <a:off x="10304371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E580B91-B7C2-29C5-1B34-2F8801B82742}"/>
              </a:ext>
            </a:extLst>
          </p:cNvPr>
          <p:cNvCxnSpPr/>
          <p:nvPr/>
        </p:nvCxnSpPr>
        <p:spPr>
          <a:xfrm>
            <a:off x="10136244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5B44FE2-BBD2-FD07-83F5-3A6D83182A90}"/>
              </a:ext>
            </a:extLst>
          </p:cNvPr>
          <p:cNvSpPr txBox="1"/>
          <p:nvPr/>
        </p:nvSpPr>
        <p:spPr>
          <a:xfrm>
            <a:off x="1524000" y="2686050"/>
            <a:ext cx="8001000" cy="2793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طراحی سیستم دو‌مرحله‌ای برای تشخیص بیماری‌های گیاهی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استفاده از دو دیتاست متفاوت: </a:t>
            </a:r>
            <a:r>
              <a:rPr lang="en-US" b="1" dirty="0" err="1">
                <a:solidFill>
                  <a:schemeClr val="bg1"/>
                </a:solidFill>
                <a:cs typeface="2  Koodak" panose="00000700000000000000" pitchFamily="2" charset="-78"/>
              </a:rPr>
              <a:t>PlantVillage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 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 و </a:t>
            </a:r>
            <a:r>
              <a:rPr lang="en-US" b="1" dirty="0" err="1">
                <a:solidFill>
                  <a:schemeClr val="bg1"/>
                </a:solidFill>
                <a:cs typeface="2  Koodak" panose="00000700000000000000" pitchFamily="2" charset="-78"/>
              </a:rPr>
              <a:t>PlantDoc</a:t>
            </a:r>
            <a:endParaRPr lang="fa-IR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طبقه‌بندی مبتنی بر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Ensemble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تشخیص ناحیه با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YOLOX-</a:t>
            </a:r>
            <a:r>
              <a:rPr lang="en-US" b="1" dirty="0" err="1">
                <a:solidFill>
                  <a:schemeClr val="bg1"/>
                </a:solidFill>
                <a:cs typeface="2  Koodak" panose="00000700000000000000" pitchFamily="2" charset="-78"/>
              </a:rPr>
              <a:t>ConvNeXt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-CBAM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عملکرد قابل قبول در داده‌های واقعی و نویزی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817368-49B9-9612-E34A-79D3D9068DF1}"/>
              </a:ext>
            </a:extLst>
          </p:cNvPr>
          <p:cNvSpPr txBox="1"/>
          <p:nvPr/>
        </p:nvSpPr>
        <p:spPr>
          <a:xfrm>
            <a:off x="1448881" y="2058682"/>
            <a:ext cx="800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جمع بندی و نتیجه گیری </a:t>
            </a:r>
          </a:p>
        </p:txBody>
      </p:sp>
    </p:spTree>
    <p:extLst>
      <p:ext uri="{BB962C8B-B14F-4D97-AF65-F5344CB8AC3E}">
        <p14:creationId xmlns:p14="http://schemas.microsoft.com/office/powerpoint/2010/main" val="330794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1A12C-E71E-82D0-B684-0A93C0053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E8C6149-D980-85AC-29E0-7F73416F2809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2F64AAE-BCA4-7FB2-0B4F-EBEE3D2C7378}"/>
              </a:ext>
            </a:extLst>
          </p:cNvPr>
          <p:cNvSpPr/>
          <p:nvPr/>
        </p:nvSpPr>
        <p:spPr>
          <a:xfrm>
            <a:off x="6343650" y="264316"/>
            <a:ext cx="205751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7CFBB81-B995-FEA2-2217-1CAAA0BF3E32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8A6C2CD-C87B-42EC-33BC-D9E77223A5F6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748DF74-3D21-C43D-D41B-5871A30FB3EE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A2D6261-C151-D303-F0DC-5DD8FEAF9A98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18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1FDD99B-B38D-1B8C-9369-1CF457D62F53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E1A6327-E54C-8E77-223C-589FB6C563CF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94A2571-32AD-F2D1-31F4-BCEA9E46E7CA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57C160B-FCDB-4A3A-4D92-57D7E85F87B5}"/>
              </a:ext>
            </a:extLst>
          </p:cNvPr>
          <p:cNvSpPr/>
          <p:nvPr/>
        </p:nvSpPr>
        <p:spPr>
          <a:xfrm>
            <a:off x="7315200" y="264316"/>
            <a:ext cx="10859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8B0F1F9-4520-E61C-1881-24531638CEED}"/>
              </a:ext>
            </a:extLst>
          </p:cNvPr>
          <p:cNvSpPr/>
          <p:nvPr/>
        </p:nvSpPr>
        <p:spPr>
          <a:xfrm>
            <a:off x="6410325" y="264316"/>
            <a:ext cx="119062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نتیجه گیری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5791DB1-A89F-7E38-DB1F-5E947294C13A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2932E71-1D5E-C029-5BAC-62B788F36DDF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0A5F9E7-94A3-3D2F-1401-9E1D78C7B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D23396-AD73-2E20-2F1E-607F1080395F}"/>
              </a:ext>
            </a:extLst>
          </p:cNvPr>
          <p:cNvSpPr/>
          <p:nvPr/>
        </p:nvSpPr>
        <p:spPr>
          <a:xfrm>
            <a:off x="7772322" y="2226050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239270-7935-8BC3-C100-A5B3B41DD3A4}"/>
              </a:ext>
            </a:extLst>
          </p:cNvPr>
          <p:cNvSpPr/>
          <p:nvPr/>
        </p:nvSpPr>
        <p:spPr>
          <a:xfrm>
            <a:off x="7772322" y="222604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8D9725-D79B-55A3-F657-9C56146DDE96}"/>
              </a:ext>
            </a:extLst>
          </p:cNvPr>
          <p:cNvSpPr/>
          <p:nvPr/>
        </p:nvSpPr>
        <p:spPr>
          <a:xfrm>
            <a:off x="7751281" y="391361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جمع بندی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نتیجه گیری</a:t>
            </a:r>
          </a:p>
          <a:p>
            <a:pPr algn="ctr" rtl="1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5E7743-F1CE-A01A-91AB-3ED0F6E62A2A}"/>
              </a:ext>
            </a:extLst>
          </p:cNvPr>
          <p:cNvSpPr/>
          <p:nvPr/>
        </p:nvSpPr>
        <p:spPr>
          <a:xfrm>
            <a:off x="7749290" y="282586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1C10DC-5059-549C-3DCC-8673D8A74D24}"/>
              </a:ext>
            </a:extLst>
          </p:cNvPr>
          <p:cNvSpPr/>
          <p:nvPr/>
        </p:nvSpPr>
        <p:spPr>
          <a:xfrm>
            <a:off x="4971972" y="2226046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06E9A4D-1880-EDAB-72AE-3EFE0CDBBCE9}"/>
              </a:ext>
            </a:extLst>
          </p:cNvPr>
          <p:cNvSpPr/>
          <p:nvPr/>
        </p:nvSpPr>
        <p:spPr>
          <a:xfrm>
            <a:off x="4971972" y="2226045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D01EE34-502E-3725-FE73-8AD261A17C03}"/>
              </a:ext>
            </a:extLst>
          </p:cNvPr>
          <p:cNvSpPr/>
          <p:nvPr/>
        </p:nvSpPr>
        <p:spPr>
          <a:xfrm>
            <a:off x="4869303" y="3646910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تحلیل نقاط قوت  و ضعف سیستم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37382D6-96A0-F976-BCD8-F7C33199FA6B}"/>
              </a:ext>
            </a:extLst>
          </p:cNvPr>
          <p:cNvSpPr/>
          <p:nvPr/>
        </p:nvSpPr>
        <p:spPr>
          <a:xfrm>
            <a:off x="4948940" y="2825859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7C6BFC-F3C1-B885-DFE3-F32A1317D4DF}"/>
              </a:ext>
            </a:extLst>
          </p:cNvPr>
          <p:cNvSpPr/>
          <p:nvPr/>
        </p:nvSpPr>
        <p:spPr>
          <a:xfrm>
            <a:off x="2192663" y="2226045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60CB033-22A8-C0B0-9C61-D7474B228F44}"/>
              </a:ext>
            </a:extLst>
          </p:cNvPr>
          <p:cNvSpPr/>
          <p:nvPr/>
        </p:nvSpPr>
        <p:spPr>
          <a:xfrm>
            <a:off x="2192663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14C7DB6-4478-2345-5773-6740E01467E4}"/>
              </a:ext>
            </a:extLst>
          </p:cNvPr>
          <p:cNvSpPr/>
          <p:nvPr/>
        </p:nvSpPr>
        <p:spPr>
          <a:xfrm>
            <a:off x="2171622" y="364690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پیشنهادات آتی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2AB2A7E-066E-2B21-E097-50A4C37896A2}"/>
              </a:ext>
            </a:extLst>
          </p:cNvPr>
          <p:cNvSpPr/>
          <p:nvPr/>
        </p:nvSpPr>
        <p:spPr>
          <a:xfrm>
            <a:off x="2169631" y="282585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682979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550B5-D421-870A-E13E-9EC750E96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363C1E0-A521-DEA7-5D6D-F15C51FD4E60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4B2A71-019A-CC8C-2ED9-43305068F6AE}"/>
              </a:ext>
            </a:extLst>
          </p:cNvPr>
          <p:cNvSpPr/>
          <p:nvPr/>
        </p:nvSpPr>
        <p:spPr>
          <a:xfrm>
            <a:off x="6343650" y="264316"/>
            <a:ext cx="205751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296C86-9CAD-D4D1-7B87-9839D057CB24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0F68A5E-F711-EF32-E627-CD566C4831B2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BD4DDC2-1A26-AEB2-E175-E5B632609FE7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B07EFBB-8CA4-01CC-4F56-B654EFAE8190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18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866E56D-A173-6DC0-3FAC-07FAE7198A13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3BAD56A-CC6E-8A5D-26AC-F5BFF7894DFA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92D6A6D-5673-7FF8-85C6-ED3CADBF6E51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30DB74F-7831-C3F5-5FC9-BBD2D29873C1}"/>
              </a:ext>
            </a:extLst>
          </p:cNvPr>
          <p:cNvSpPr/>
          <p:nvPr/>
        </p:nvSpPr>
        <p:spPr>
          <a:xfrm>
            <a:off x="7315200" y="264316"/>
            <a:ext cx="10859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AC88DA4-E673-8E91-1812-66FADBB8E9CD}"/>
              </a:ext>
            </a:extLst>
          </p:cNvPr>
          <p:cNvSpPr/>
          <p:nvPr/>
        </p:nvSpPr>
        <p:spPr>
          <a:xfrm>
            <a:off x="6410325" y="264316"/>
            <a:ext cx="119062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نتیجه گیری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0F071E2-EDE1-80F8-5361-597C46AC4E7E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94AC5E2-F316-50CD-0165-5F76A696228C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C7C4B42-0BAD-43C2-3C28-D4229E24B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03BF8C-2DDA-7BFE-7423-43255E31A887}"/>
              </a:ext>
            </a:extLst>
          </p:cNvPr>
          <p:cNvSpPr/>
          <p:nvPr/>
        </p:nvSpPr>
        <p:spPr>
          <a:xfrm>
            <a:off x="11830050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3E573CA-E208-8EE6-15B9-D446DA25ED18}"/>
              </a:ext>
            </a:extLst>
          </p:cNvPr>
          <p:cNvSpPr/>
          <p:nvPr/>
        </p:nvSpPr>
        <p:spPr>
          <a:xfrm>
            <a:off x="11830050" y="222604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918CD45-FC30-4C35-A1F4-DAF3CF36D7A8}"/>
              </a:ext>
            </a:extLst>
          </p:cNvPr>
          <p:cNvSpPr/>
          <p:nvPr/>
        </p:nvSpPr>
        <p:spPr>
          <a:xfrm>
            <a:off x="11809009" y="3646908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نتیجه گیری</a:t>
            </a:r>
          </a:p>
          <a:p>
            <a:pPr algn="ctr" rtl="1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57701B-BFCA-0498-6EDB-65B6C148780C}"/>
              </a:ext>
            </a:extLst>
          </p:cNvPr>
          <p:cNvSpPr/>
          <p:nvPr/>
        </p:nvSpPr>
        <p:spPr>
          <a:xfrm>
            <a:off x="11807018" y="282585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F1F4927-0D2F-94A4-B301-FF07356CE093}"/>
              </a:ext>
            </a:extLst>
          </p:cNvPr>
          <p:cNvSpPr/>
          <p:nvPr/>
        </p:nvSpPr>
        <p:spPr>
          <a:xfrm>
            <a:off x="767243" y="1289881"/>
            <a:ext cx="10643707" cy="5058800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4A21AA4-24A0-1057-72D0-70B898B7E3F1}"/>
              </a:ext>
            </a:extLst>
          </p:cNvPr>
          <p:cNvSpPr/>
          <p:nvPr/>
        </p:nvSpPr>
        <p:spPr>
          <a:xfrm>
            <a:off x="4971972" y="2226045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DD0E2C6-58DF-E77D-43D2-096485259122}"/>
              </a:ext>
            </a:extLst>
          </p:cNvPr>
          <p:cNvSpPr/>
          <p:nvPr/>
        </p:nvSpPr>
        <p:spPr>
          <a:xfrm>
            <a:off x="-2122242" y="2226043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A5FCCAE-B7D2-A8D8-DEC3-EBC36F8CD9BF}"/>
              </a:ext>
            </a:extLst>
          </p:cNvPr>
          <p:cNvSpPr/>
          <p:nvPr/>
        </p:nvSpPr>
        <p:spPr>
          <a:xfrm>
            <a:off x="-2122242" y="2226042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CF101BC-F90B-C692-2252-626DADA0F0A0}"/>
              </a:ext>
            </a:extLst>
          </p:cNvPr>
          <p:cNvSpPr/>
          <p:nvPr/>
        </p:nvSpPr>
        <p:spPr>
          <a:xfrm>
            <a:off x="-2143283" y="3646907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پیشنهادات آتی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D3C1117-DB1C-CF66-412F-240859A0CCB9}"/>
              </a:ext>
            </a:extLst>
          </p:cNvPr>
          <p:cNvSpPr/>
          <p:nvPr/>
        </p:nvSpPr>
        <p:spPr>
          <a:xfrm>
            <a:off x="-2145274" y="2825856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B1CD611-A06E-9B6C-BC65-AAB4064CAF9E}"/>
              </a:ext>
            </a:extLst>
          </p:cNvPr>
          <p:cNvSpPr/>
          <p:nvPr/>
        </p:nvSpPr>
        <p:spPr>
          <a:xfrm>
            <a:off x="10131519" y="2542451"/>
            <a:ext cx="1300469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تحلیل نقاط قوت  و ضعف سیستم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CA102E0-8427-FFB4-712C-63BEFB731C03}"/>
              </a:ext>
            </a:extLst>
          </p:cNvPr>
          <p:cNvSpPr/>
          <p:nvPr/>
        </p:nvSpPr>
        <p:spPr>
          <a:xfrm>
            <a:off x="10304371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E59FC7-C9A6-7C5F-62DE-EEC6902C723C}"/>
              </a:ext>
            </a:extLst>
          </p:cNvPr>
          <p:cNvCxnSpPr/>
          <p:nvPr/>
        </p:nvCxnSpPr>
        <p:spPr>
          <a:xfrm>
            <a:off x="10136244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476ECB5-57CC-0D33-EDA4-D13C1EB3BA6E}"/>
              </a:ext>
            </a:extLst>
          </p:cNvPr>
          <p:cNvSpPr txBox="1"/>
          <p:nvPr/>
        </p:nvSpPr>
        <p:spPr>
          <a:xfrm>
            <a:off x="1524000" y="2635250"/>
            <a:ext cx="8001000" cy="3373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نقاط قوت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: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ساختار دو‌مرحله‌ای منطقی و کاربردی</a:t>
            </a:r>
            <a:endParaRPr lang="en-US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کاهش خطا با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Ensemble Learning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تشخیص دقیق نواحی کوچک بیماری</a:t>
            </a:r>
            <a:endParaRPr lang="en-US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محدودیت ها و نقاط ضعف: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وابستگی به کیفیت و تنوع دیتاست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چالش تصاویر نویزی و هم‌پوشانی برگ‌ها</a:t>
            </a:r>
          </a:p>
          <a:p>
            <a:pPr marL="742950" lvl="1" indent="-285750" algn="r" rtl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هزینه محاسباتی بالا در مرحله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Detection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DA0CD3-8F44-5886-A896-2FE94C545A30}"/>
              </a:ext>
            </a:extLst>
          </p:cNvPr>
          <p:cNvSpPr txBox="1"/>
          <p:nvPr/>
        </p:nvSpPr>
        <p:spPr>
          <a:xfrm>
            <a:off x="1448881" y="2058682"/>
            <a:ext cx="800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تحلیل نقاط قوت  و ضعف سیستم</a:t>
            </a:r>
          </a:p>
        </p:txBody>
      </p:sp>
    </p:spTree>
    <p:extLst>
      <p:ext uri="{BB962C8B-B14F-4D97-AF65-F5344CB8AC3E}">
        <p14:creationId xmlns:p14="http://schemas.microsoft.com/office/powerpoint/2010/main" val="76524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ACEB3-7153-5DA1-DBB6-D1214C2E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1CF8F7-85A3-6440-FCC3-098924BC5A37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80E04A-2C17-EA5A-F501-75F900702C00}"/>
              </a:ext>
            </a:extLst>
          </p:cNvPr>
          <p:cNvSpPr/>
          <p:nvPr/>
        </p:nvSpPr>
        <p:spPr>
          <a:xfrm>
            <a:off x="6343650" y="264316"/>
            <a:ext cx="205751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DE7B2EA-62DE-3B0B-5AC4-A3CFFB55DE8E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FC54DA-9C1D-1EF7-AB46-4B9886952982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9C8247-6352-ACD3-DBDA-433712BD66AA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65E309D-FB1A-884C-D2FA-B36BE12AC2BB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19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6C999F8-B20B-FC82-E766-94179AE1F0C4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8086E4C-A6A2-728C-6BB8-C60E1E601EEE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48E43B-46A9-4F63-7649-ECBD7C2C5D62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BA5268-DB95-E3DB-DF77-7F5605F3526D}"/>
              </a:ext>
            </a:extLst>
          </p:cNvPr>
          <p:cNvSpPr/>
          <p:nvPr/>
        </p:nvSpPr>
        <p:spPr>
          <a:xfrm>
            <a:off x="7315200" y="264316"/>
            <a:ext cx="10859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35E665-6F5F-0365-8B65-F08C46F0EE34}"/>
              </a:ext>
            </a:extLst>
          </p:cNvPr>
          <p:cNvSpPr/>
          <p:nvPr/>
        </p:nvSpPr>
        <p:spPr>
          <a:xfrm>
            <a:off x="6410325" y="264316"/>
            <a:ext cx="119062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نتیجه گیری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7209CE-1890-FFF5-BCC8-B255C10C02D3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49ED4D0-2B32-8111-E541-809B0B35E5A8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4FAB357-0977-61E1-F683-F6FDEE5C9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38C55D-A3D4-5A3C-21B6-CC5B4CA5995C}"/>
              </a:ext>
            </a:extLst>
          </p:cNvPr>
          <p:cNvSpPr/>
          <p:nvPr/>
        </p:nvSpPr>
        <p:spPr>
          <a:xfrm>
            <a:off x="7772322" y="2226050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CEA642-37D7-D39A-D88E-D9E441BDF71B}"/>
              </a:ext>
            </a:extLst>
          </p:cNvPr>
          <p:cNvSpPr/>
          <p:nvPr/>
        </p:nvSpPr>
        <p:spPr>
          <a:xfrm>
            <a:off x="7772322" y="222604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060482-9F9E-7217-FEDB-331C94ED247D}"/>
              </a:ext>
            </a:extLst>
          </p:cNvPr>
          <p:cNvSpPr/>
          <p:nvPr/>
        </p:nvSpPr>
        <p:spPr>
          <a:xfrm>
            <a:off x="7751281" y="391361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جمع بندی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نتیجه گیری</a:t>
            </a:r>
          </a:p>
          <a:p>
            <a:pPr algn="ctr" rtl="1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8D21A3-2A94-A044-6B2D-FA0BA7C847E7}"/>
              </a:ext>
            </a:extLst>
          </p:cNvPr>
          <p:cNvSpPr/>
          <p:nvPr/>
        </p:nvSpPr>
        <p:spPr>
          <a:xfrm>
            <a:off x="7749290" y="282586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A68E1FD-8E58-5958-8B1E-538BA4A8D9DA}"/>
              </a:ext>
            </a:extLst>
          </p:cNvPr>
          <p:cNvSpPr/>
          <p:nvPr/>
        </p:nvSpPr>
        <p:spPr>
          <a:xfrm>
            <a:off x="4971972" y="2226046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CC67E5-293B-FCC9-94A7-CB58F4E92C56}"/>
              </a:ext>
            </a:extLst>
          </p:cNvPr>
          <p:cNvSpPr/>
          <p:nvPr/>
        </p:nvSpPr>
        <p:spPr>
          <a:xfrm>
            <a:off x="4971972" y="2226045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7D1445D-7703-F3F2-C36E-30116104C4A1}"/>
              </a:ext>
            </a:extLst>
          </p:cNvPr>
          <p:cNvSpPr/>
          <p:nvPr/>
        </p:nvSpPr>
        <p:spPr>
          <a:xfrm>
            <a:off x="4869303" y="3646910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تحلیل نقاط قوت  و ضعف سیستم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5E562B4-D541-D50D-3065-3FB1676DBA6B}"/>
              </a:ext>
            </a:extLst>
          </p:cNvPr>
          <p:cNvSpPr/>
          <p:nvPr/>
        </p:nvSpPr>
        <p:spPr>
          <a:xfrm>
            <a:off x="4948940" y="2825859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59786F1-291E-18EA-4B1A-2C43F8C1A33F}"/>
              </a:ext>
            </a:extLst>
          </p:cNvPr>
          <p:cNvSpPr/>
          <p:nvPr/>
        </p:nvSpPr>
        <p:spPr>
          <a:xfrm>
            <a:off x="2192663" y="2226045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5FC96B-B443-6363-BA3C-E9E57311ABF8}"/>
              </a:ext>
            </a:extLst>
          </p:cNvPr>
          <p:cNvSpPr/>
          <p:nvPr/>
        </p:nvSpPr>
        <p:spPr>
          <a:xfrm>
            <a:off x="2192663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7F28B6E-D173-A064-6F33-D56A463A4357}"/>
              </a:ext>
            </a:extLst>
          </p:cNvPr>
          <p:cNvSpPr/>
          <p:nvPr/>
        </p:nvSpPr>
        <p:spPr>
          <a:xfrm>
            <a:off x="2171622" y="364690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پیشنهادات آتی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5686FB5-C9C9-4C0C-54F6-DACA733E43FC}"/>
              </a:ext>
            </a:extLst>
          </p:cNvPr>
          <p:cNvSpPr/>
          <p:nvPr/>
        </p:nvSpPr>
        <p:spPr>
          <a:xfrm>
            <a:off x="2169631" y="282585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3373540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484A9-E933-951A-7CEC-B92D6E8F4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8DB7AD-5050-037F-5022-761C9BB8952D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54E207-7F5A-F37F-401B-A32546EE7035}"/>
              </a:ext>
            </a:extLst>
          </p:cNvPr>
          <p:cNvSpPr/>
          <p:nvPr/>
        </p:nvSpPr>
        <p:spPr>
          <a:xfrm>
            <a:off x="6343650" y="264316"/>
            <a:ext cx="205751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12825B-CD57-F63F-3B45-2AEC53AAB2CA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FD319F2-36FB-DFF8-AA14-AB83692D57BB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CA66B6D-08AB-F6B6-7097-A26659A0F632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406C6E0-4307-6A88-51CF-BBBF8C5B3BD8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19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962FD5A-6760-4F82-6700-475E61B30441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478E0F6-BA66-F728-1632-05F94E3C7E5D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7F55E94-DC46-DB4A-9AC1-DF1135562E37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0802596-14B4-A364-A7C2-C3AAB38E55C7}"/>
              </a:ext>
            </a:extLst>
          </p:cNvPr>
          <p:cNvSpPr/>
          <p:nvPr/>
        </p:nvSpPr>
        <p:spPr>
          <a:xfrm>
            <a:off x="7315200" y="264316"/>
            <a:ext cx="10859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329F8DA-6313-6280-D1FB-68F80BD7EFE0}"/>
              </a:ext>
            </a:extLst>
          </p:cNvPr>
          <p:cNvSpPr/>
          <p:nvPr/>
        </p:nvSpPr>
        <p:spPr>
          <a:xfrm>
            <a:off x="6410325" y="264316"/>
            <a:ext cx="119062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نتیجه گیری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043E52-0FAE-E78E-D750-A35CA5B9788A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4CAEBB2-DC28-3A52-EE4B-E3EAF80B1F46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C82FBF0-B5FB-5955-9394-374739C48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293CC2E-C823-443B-AFE5-836F19B65D9A}"/>
              </a:ext>
            </a:extLst>
          </p:cNvPr>
          <p:cNvSpPr/>
          <p:nvPr/>
        </p:nvSpPr>
        <p:spPr>
          <a:xfrm>
            <a:off x="14287422" y="2226044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4E5D4E0-3D6F-7B06-B63D-5A5235B6EB49}"/>
              </a:ext>
            </a:extLst>
          </p:cNvPr>
          <p:cNvSpPr/>
          <p:nvPr/>
        </p:nvSpPr>
        <p:spPr>
          <a:xfrm>
            <a:off x="14287422" y="2226043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22F7DD5-5F05-754C-4992-1D43C77896E4}"/>
              </a:ext>
            </a:extLst>
          </p:cNvPr>
          <p:cNvSpPr/>
          <p:nvPr/>
        </p:nvSpPr>
        <p:spPr>
          <a:xfrm>
            <a:off x="14266381" y="3646908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نتیجه گیری</a:t>
            </a:r>
          </a:p>
          <a:p>
            <a:pPr algn="ctr" rtl="1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EAC9AEF-72D6-D979-D331-A90C0F2F5B3A}"/>
              </a:ext>
            </a:extLst>
          </p:cNvPr>
          <p:cNvSpPr/>
          <p:nvPr/>
        </p:nvSpPr>
        <p:spPr>
          <a:xfrm>
            <a:off x="14264390" y="2825857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A23AB75-3F5A-A741-C0F8-AA2BACD2BD72}"/>
              </a:ext>
            </a:extLst>
          </p:cNvPr>
          <p:cNvSpPr/>
          <p:nvPr/>
        </p:nvSpPr>
        <p:spPr>
          <a:xfrm>
            <a:off x="11487072" y="2226040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45A2A5C-E9D8-84A9-C23B-2B893290B469}"/>
              </a:ext>
            </a:extLst>
          </p:cNvPr>
          <p:cNvSpPr/>
          <p:nvPr/>
        </p:nvSpPr>
        <p:spPr>
          <a:xfrm>
            <a:off x="11487072" y="222603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52A2C76-9386-AFEF-D1F4-473B7FED59C7}"/>
              </a:ext>
            </a:extLst>
          </p:cNvPr>
          <p:cNvSpPr/>
          <p:nvPr/>
        </p:nvSpPr>
        <p:spPr>
          <a:xfrm>
            <a:off x="11384403" y="3646904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تحلیل نقاط قوت  و ضعف سیستم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2174D83-50E4-5A8D-C060-F5FBF24ADCAC}"/>
              </a:ext>
            </a:extLst>
          </p:cNvPr>
          <p:cNvSpPr/>
          <p:nvPr/>
        </p:nvSpPr>
        <p:spPr>
          <a:xfrm>
            <a:off x="11464040" y="282585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893806E-FB27-A89C-41FC-8970D53710AD}"/>
              </a:ext>
            </a:extLst>
          </p:cNvPr>
          <p:cNvSpPr/>
          <p:nvPr/>
        </p:nvSpPr>
        <p:spPr>
          <a:xfrm>
            <a:off x="455908" y="1302527"/>
            <a:ext cx="10608783" cy="50335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0FD2642-E219-1917-CA00-B3CE21D69223}"/>
              </a:ext>
            </a:extLst>
          </p:cNvPr>
          <p:cNvSpPr/>
          <p:nvPr/>
        </p:nvSpPr>
        <p:spPr>
          <a:xfrm>
            <a:off x="2192663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843D5BD-5316-47A8-BF64-4DFAC88F11AF}"/>
              </a:ext>
            </a:extLst>
          </p:cNvPr>
          <p:cNvSpPr/>
          <p:nvPr/>
        </p:nvSpPr>
        <p:spPr>
          <a:xfrm>
            <a:off x="9681575" y="2440853"/>
            <a:ext cx="1300469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1200" b="1" dirty="0">
                <a:cs typeface="2  Bardiya" panose="00000400000000000000" pitchFamily="2" charset="-78"/>
              </a:rPr>
              <a:t>پیشنهادات آتی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B18A0FD-CA9C-FA43-806F-CE11BF57D513}"/>
              </a:ext>
            </a:extLst>
          </p:cNvPr>
          <p:cNvSpPr/>
          <p:nvPr/>
        </p:nvSpPr>
        <p:spPr>
          <a:xfrm>
            <a:off x="9854427" y="2001485"/>
            <a:ext cx="9503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2C1E876-5E44-07BC-F16D-D1FE294D0E47}"/>
              </a:ext>
            </a:extLst>
          </p:cNvPr>
          <p:cNvCxnSpPr/>
          <p:nvPr/>
        </p:nvCxnSpPr>
        <p:spPr>
          <a:xfrm>
            <a:off x="9686300" y="1799322"/>
            <a:ext cx="0" cy="38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3ABAB68-0F8D-024E-2140-F01E7BE9EDEF}"/>
              </a:ext>
            </a:extLst>
          </p:cNvPr>
          <p:cNvSpPr txBox="1"/>
          <p:nvPr/>
        </p:nvSpPr>
        <p:spPr>
          <a:xfrm>
            <a:off x="1074056" y="2686050"/>
            <a:ext cx="8001000" cy="2239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افزایش داده‌های واقعی و متنوع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استفاده از یادگیری نیمه‌نظارتی</a:t>
            </a: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افزودن مرحله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Segmentation</a:t>
            </a:r>
            <a:endParaRPr lang="fa-IR" b="1" dirty="0">
              <a:solidFill>
                <a:schemeClr val="bg1"/>
              </a:solidFill>
              <a:cs typeface="2  Koodak" panose="00000700000000000000" pitchFamily="2" charset="-78"/>
            </a:endParaRPr>
          </a:p>
          <a:p>
            <a:pPr marL="285750" indent="-285750" algn="r" rtl="1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بررسی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Transformer</a:t>
            </a:r>
            <a:r>
              <a:rPr lang="fa-IR" b="1" dirty="0">
                <a:solidFill>
                  <a:schemeClr val="bg1"/>
                </a:solidFill>
                <a:cs typeface="2  Koodak" panose="00000700000000000000" pitchFamily="2" charset="-78"/>
              </a:rPr>
              <a:t>ها در </a:t>
            </a:r>
            <a:r>
              <a:rPr lang="en-US" b="1" dirty="0">
                <a:solidFill>
                  <a:schemeClr val="bg1"/>
                </a:solidFill>
                <a:cs typeface="2  Koodak" panose="00000700000000000000" pitchFamily="2" charset="-78"/>
              </a:rPr>
              <a:t>Detection</a:t>
            </a:r>
            <a:endParaRPr lang="fa-IR" b="1" dirty="0">
              <a:solidFill>
                <a:schemeClr val="bg1"/>
              </a:solidFill>
              <a:cs typeface="2  Koodak" panose="00000700000000000000" pitchFamily="2" charset="-78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A149F2-E90C-7263-5A50-BD4FE3396500}"/>
              </a:ext>
            </a:extLst>
          </p:cNvPr>
          <p:cNvSpPr txBox="1"/>
          <p:nvPr/>
        </p:nvSpPr>
        <p:spPr>
          <a:xfrm>
            <a:off x="998937" y="2058682"/>
            <a:ext cx="800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solidFill>
                  <a:schemeClr val="bg1"/>
                </a:solidFill>
                <a:cs typeface="2  Bardiya" panose="00000400000000000000" pitchFamily="2" charset="-78"/>
              </a:rPr>
              <a:t>پیشنهادات آتی</a:t>
            </a:r>
          </a:p>
        </p:txBody>
      </p:sp>
    </p:spTree>
    <p:extLst>
      <p:ext uri="{BB962C8B-B14F-4D97-AF65-F5344CB8AC3E}">
        <p14:creationId xmlns:p14="http://schemas.microsoft.com/office/powerpoint/2010/main" val="3502771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1FA7A-D77E-4D66-8348-5235B069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5EA3E2-786D-9701-6B25-C4FA110015E9}"/>
              </a:ext>
            </a:extLst>
          </p:cNvPr>
          <p:cNvSpPr/>
          <p:nvPr/>
        </p:nvSpPr>
        <p:spPr>
          <a:xfrm flipV="1">
            <a:off x="0" y="676275"/>
            <a:ext cx="12411075" cy="45719"/>
          </a:xfrm>
          <a:prstGeom prst="roundRect">
            <a:avLst/>
          </a:prstGeom>
          <a:solidFill>
            <a:srgbClr val="14141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C38656-D006-6AE4-C352-0A3400E2A23C}"/>
              </a:ext>
            </a:extLst>
          </p:cNvPr>
          <p:cNvSpPr/>
          <p:nvPr/>
        </p:nvSpPr>
        <p:spPr>
          <a:xfrm>
            <a:off x="6343650" y="264316"/>
            <a:ext cx="2057517" cy="858206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0C576ED-DB8C-0FA6-A03A-93F831E809C6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CC9B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9903FAD-82D1-6B21-6948-AAF2BDBD8101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0882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E41C0B8-E3F9-1D61-BCB0-7A3596B20F49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solidFill>
            <a:srgbClr val="8B380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7B6E89-C3D6-D67B-13BA-7186583F499F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20</a:t>
            </a:r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9D7A175-FAFA-E56B-B187-0A78E781621D}"/>
              </a:ext>
            </a:extLst>
          </p:cNvPr>
          <p:cNvSpPr/>
          <p:nvPr/>
        </p:nvSpPr>
        <p:spPr>
          <a:xfrm>
            <a:off x="10972683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۱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EFF2C89-4948-1462-EB67-CF8A76296A4B}"/>
              </a:ext>
            </a:extLst>
          </p:cNvPr>
          <p:cNvSpPr/>
          <p:nvPr/>
        </p:nvSpPr>
        <p:spPr>
          <a:xfrm>
            <a:off x="9829722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2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D1031BE-58F8-7AC5-15FA-A9FF1D79D5CB}"/>
              </a:ext>
            </a:extLst>
          </p:cNvPr>
          <p:cNvSpPr/>
          <p:nvPr/>
        </p:nvSpPr>
        <p:spPr>
          <a:xfrm>
            <a:off x="8686761" y="264316"/>
            <a:ext cx="8573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۳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8C8031-8EE6-3028-1B81-98FB1ED4825A}"/>
              </a:ext>
            </a:extLst>
          </p:cNvPr>
          <p:cNvSpPr/>
          <p:nvPr/>
        </p:nvSpPr>
        <p:spPr>
          <a:xfrm>
            <a:off x="7315200" y="264316"/>
            <a:ext cx="1085967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قسمت ۴</a:t>
            </a:r>
            <a:endParaRPr lang="en-US" b="1" dirty="0">
              <a:cs typeface="2  Bardiya" panose="00000400000000000000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104F485-11DE-9DE1-9111-4B2B262C4E4B}"/>
              </a:ext>
            </a:extLst>
          </p:cNvPr>
          <p:cNvSpPr/>
          <p:nvPr/>
        </p:nvSpPr>
        <p:spPr>
          <a:xfrm>
            <a:off x="6410325" y="264316"/>
            <a:ext cx="1190625" cy="858206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 dirty="0">
                <a:cs typeface="2  Bardiya" panose="00000400000000000000" pitchFamily="2" charset="-78"/>
              </a:rPr>
              <a:t>: نتیجه گیری</a:t>
            </a:r>
            <a:endParaRPr lang="en-US" b="1" dirty="0">
              <a:cs typeface="2  Bardiya" panose="000004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B81013-567B-8BBD-5851-2636D8AABFF3}"/>
              </a:ext>
            </a:extLst>
          </p:cNvPr>
          <p:cNvGrpSpPr/>
          <p:nvPr/>
        </p:nvGrpSpPr>
        <p:grpSpPr>
          <a:xfrm>
            <a:off x="320296" y="264316"/>
            <a:ext cx="857367" cy="858206"/>
            <a:chOff x="3937000" y="1686716"/>
            <a:chExt cx="857367" cy="85820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413D950-8892-2377-CB6B-C9193ABF03BD}"/>
                </a:ext>
              </a:extLst>
            </p:cNvPr>
            <p:cNvSpPr/>
            <p:nvPr/>
          </p:nvSpPr>
          <p:spPr>
            <a:xfrm>
              <a:off x="3937000" y="1686716"/>
              <a:ext cx="857367" cy="858206"/>
            </a:xfrm>
            <a:prstGeom prst="roundRect">
              <a:avLst>
                <a:gd name="adj" fmla="val 20197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cs typeface="2  Bardiya" panose="00000400000000000000" pitchFamily="2" charset="-78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0C6521A-C6ED-33F8-DAF2-FF0B8AD93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2612" y="1748843"/>
              <a:ext cx="586142" cy="733952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0C45B3-5995-15BF-87A7-C5FD4B14D1DA}"/>
              </a:ext>
            </a:extLst>
          </p:cNvPr>
          <p:cNvSpPr/>
          <p:nvPr/>
        </p:nvSpPr>
        <p:spPr>
          <a:xfrm>
            <a:off x="7772322" y="2226050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C0AE6B-1300-284F-318A-31C91A0929FF}"/>
              </a:ext>
            </a:extLst>
          </p:cNvPr>
          <p:cNvSpPr/>
          <p:nvPr/>
        </p:nvSpPr>
        <p:spPr>
          <a:xfrm>
            <a:off x="7772322" y="2226049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05AD0D-1F06-CC65-23BD-C0CA51D71CB2}"/>
              </a:ext>
            </a:extLst>
          </p:cNvPr>
          <p:cNvSpPr/>
          <p:nvPr/>
        </p:nvSpPr>
        <p:spPr>
          <a:xfrm>
            <a:off x="7751281" y="3913614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جمع بندی </a:t>
            </a: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و</a:t>
            </a:r>
            <a:endParaRPr lang="en-US" sz="2000" b="1" dirty="0">
              <a:cs typeface="2  Bardiya" panose="00000400000000000000" pitchFamily="2" charset="-78"/>
            </a:endParaRPr>
          </a:p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نتیجه گیری</a:t>
            </a:r>
          </a:p>
          <a:p>
            <a:pPr algn="ctr" rtl="1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03881B-87C0-873B-E83E-752FD5A55663}"/>
              </a:ext>
            </a:extLst>
          </p:cNvPr>
          <p:cNvSpPr/>
          <p:nvPr/>
        </p:nvSpPr>
        <p:spPr>
          <a:xfrm>
            <a:off x="7749290" y="2825863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1.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CB2571-E3DE-7E78-5252-8254BB4839AF}"/>
              </a:ext>
            </a:extLst>
          </p:cNvPr>
          <p:cNvSpPr/>
          <p:nvPr/>
        </p:nvSpPr>
        <p:spPr>
          <a:xfrm>
            <a:off x="4971972" y="2226046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72CDE1D-B945-250D-1C94-B889E0213F9E}"/>
              </a:ext>
            </a:extLst>
          </p:cNvPr>
          <p:cNvSpPr/>
          <p:nvPr/>
        </p:nvSpPr>
        <p:spPr>
          <a:xfrm>
            <a:off x="4971972" y="2226045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FB2581-7E03-EA23-16FB-D115319A1AD1}"/>
              </a:ext>
            </a:extLst>
          </p:cNvPr>
          <p:cNvSpPr/>
          <p:nvPr/>
        </p:nvSpPr>
        <p:spPr>
          <a:xfrm>
            <a:off x="4869303" y="3646910"/>
            <a:ext cx="2643894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تحلیل نقاط قوت  و ضعف سیستم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72A9337-B825-E046-2600-B748F594D909}"/>
              </a:ext>
            </a:extLst>
          </p:cNvPr>
          <p:cNvSpPr/>
          <p:nvPr/>
        </p:nvSpPr>
        <p:spPr>
          <a:xfrm>
            <a:off x="4948940" y="2825859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2.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A5128B9-7DE2-AF14-45C2-E739FB97D925}"/>
              </a:ext>
            </a:extLst>
          </p:cNvPr>
          <p:cNvSpPr/>
          <p:nvPr/>
        </p:nvSpPr>
        <p:spPr>
          <a:xfrm>
            <a:off x="2192663" y="2226045"/>
            <a:ext cx="2480638" cy="3186469"/>
          </a:xfrm>
          <a:prstGeom prst="roundRect">
            <a:avLst>
              <a:gd name="adj" fmla="val 2019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7F13BE3-3CA9-68C4-CC4D-9C884C6699F0}"/>
              </a:ext>
            </a:extLst>
          </p:cNvPr>
          <p:cNvSpPr/>
          <p:nvPr/>
        </p:nvSpPr>
        <p:spPr>
          <a:xfrm>
            <a:off x="2192663" y="2226044"/>
            <a:ext cx="2480638" cy="3186469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cs typeface="2  Bardiya" panose="00000400000000000000" pitchFamily="2" charset="-78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2D8575B-9987-279A-3733-1A0F074A2E22}"/>
              </a:ext>
            </a:extLst>
          </p:cNvPr>
          <p:cNvSpPr/>
          <p:nvPr/>
        </p:nvSpPr>
        <p:spPr>
          <a:xfrm>
            <a:off x="2171622" y="3646909"/>
            <a:ext cx="2480638" cy="1254167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sz="2000" b="1" dirty="0">
                <a:cs typeface="2  Bardiya" panose="00000400000000000000" pitchFamily="2" charset="-78"/>
              </a:rPr>
              <a:t>پیشنهادات آتی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252075E-C032-C719-AEBD-32D95387DBD4}"/>
              </a:ext>
            </a:extLst>
          </p:cNvPr>
          <p:cNvSpPr/>
          <p:nvPr/>
        </p:nvSpPr>
        <p:spPr>
          <a:xfrm>
            <a:off x="2169631" y="2825858"/>
            <a:ext cx="2480638" cy="1062392"/>
          </a:xfrm>
          <a:prstGeom prst="roundRect">
            <a:avLst>
              <a:gd name="adj" fmla="val 20197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6000" b="1" dirty="0">
                <a:cs typeface="2  Bardiya" panose="00000400000000000000" pitchFamily="2" charset="-78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8618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4A691-B3AE-6B87-9341-9FAE4EC6A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DE15C582-1E4A-D2DE-65E8-099694681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2550" y="226218"/>
            <a:ext cx="1663700" cy="1071563"/>
          </a:xfrm>
        </p:spPr>
        <p:txBody>
          <a:bodyPr/>
          <a:lstStyle/>
          <a:p>
            <a:pPr lvl="0">
              <a:spcBef>
                <a:spcPts val="0"/>
              </a:spcBef>
              <a:defRPr/>
            </a:pPr>
            <a:r>
              <a:rPr lang="fa-IR" b="1" dirty="0">
                <a:solidFill>
                  <a:srgbClr val="141415"/>
                </a:solidFill>
                <a:latin typeface="Livvic" pitchFamily="2" charset="0"/>
                <a:cs typeface="B Koodak" panose="00000700000000000000" pitchFamily="2" charset="-78"/>
                <a:sym typeface="Livvic"/>
              </a:rPr>
              <a:t>منابع:</a:t>
            </a:r>
            <a:endParaRPr lang="en-US" b="1" dirty="0">
              <a:solidFill>
                <a:srgbClr val="141415"/>
              </a:solidFill>
              <a:latin typeface="Livvic" pitchFamily="2" charset="0"/>
              <a:ea typeface="Livvic"/>
              <a:cs typeface="B Koodak" panose="00000700000000000000" pitchFamily="2" charset="-78"/>
              <a:sym typeface="Livv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4B5423-1A3E-DB66-8880-1B9B4CB2B811}"/>
              </a:ext>
            </a:extLst>
          </p:cNvPr>
          <p:cNvSpPr txBox="1"/>
          <p:nvPr/>
        </p:nvSpPr>
        <p:spPr>
          <a:xfrm>
            <a:off x="285750" y="1137967"/>
            <a:ext cx="10515600" cy="4839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sz="1300" b="1" dirty="0">
                <a:solidFill>
                  <a:srgbClr val="141415"/>
                </a:solidFill>
                <a:cs typeface="2  Koodak" panose="00000700000000000000" pitchFamily="2" charset="-78"/>
              </a:rPr>
              <a:t>J. Lu, L. Tan, and H. Jiang, "Review on Convolutional Neural Network (CNN) Applied to Plant Leaf Disease Classification," *Agriculture*, vol. 11, no. 7, 516, 2021</a:t>
            </a: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sz="1300" b="1" dirty="0">
                <a:solidFill>
                  <a:srgbClr val="141415"/>
                </a:solidFill>
                <a:cs typeface="2  Koodak" panose="00000700000000000000" pitchFamily="2" charset="-78"/>
              </a:rPr>
              <a:t>M. R. Ullah, N. A. Dola, A. Sattar, and A. Hasnat, "Plant Diseases Recognition Using Machine Learning," in *Proc. 2019 8th International Conference on System Modeling and Advancement in Research Trends (SMART 2019)*, 2019, pp. 67–73</a:t>
            </a: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sz="1300" b="1" dirty="0">
                <a:solidFill>
                  <a:srgbClr val="141415"/>
                </a:solidFill>
                <a:cs typeface="2  Koodak" panose="00000700000000000000" pitchFamily="2" charset="-78"/>
              </a:rPr>
              <a:t>A. Picon, M. Seitz, A. Alvarez-Gila, P. </a:t>
            </a:r>
            <a:r>
              <a:rPr lang="en-US" sz="1300" b="1" dirty="0" err="1">
                <a:solidFill>
                  <a:srgbClr val="141415"/>
                </a:solidFill>
                <a:cs typeface="2  Koodak" panose="00000700000000000000" pitchFamily="2" charset="-78"/>
              </a:rPr>
              <a:t>Mohnke</a:t>
            </a:r>
            <a:r>
              <a:rPr lang="en-US" sz="1300" b="1" dirty="0">
                <a:solidFill>
                  <a:srgbClr val="141415"/>
                </a:solidFill>
                <a:cs typeface="2  Koodak" panose="00000700000000000000" pitchFamily="2" charset="-78"/>
              </a:rPr>
              <a:t>, A. Ortiz-Barredo, and J. </a:t>
            </a:r>
            <a:r>
              <a:rPr lang="en-US" sz="1300" b="1" dirty="0" err="1">
                <a:solidFill>
                  <a:srgbClr val="141415"/>
                </a:solidFill>
                <a:cs typeface="2  Koodak" panose="00000700000000000000" pitchFamily="2" charset="-78"/>
              </a:rPr>
              <a:t>Echazarra</a:t>
            </a:r>
            <a:r>
              <a:rPr lang="en-US" sz="1300" b="1" dirty="0">
                <a:solidFill>
                  <a:srgbClr val="141415"/>
                </a:solidFill>
                <a:cs typeface="2  Koodak" panose="00000700000000000000" pitchFamily="2" charset="-78"/>
              </a:rPr>
              <a:t>, "Crop conditional Convolutional Neural Networks for massive multi-crop plant disease classification over cell phone acquired images taken on real field conditions," *Computers and Electronics in Agriculture*, vol. 167, 105093, 2019.</a:t>
            </a: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sz="1300" b="1" dirty="0">
                <a:solidFill>
                  <a:srgbClr val="141415"/>
                </a:solidFill>
                <a:cs typeface="2  Koodak" panose="00000700000000000000" pitchFamily="2" charset="-78"/>
              </a:rPr>
              <a:t>Y. Lu, J. Jiang, J. Zhong, Y. Wang, X. Wang, and Z. Zou, "Automatic detection method of polar cap arc based on YOLOX embedded with CBAM," *Frontiers in Environmental Science*, vol. 12, 1418207, 2024</a:t>
            </a: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sz="1300" b="1" dirty="0">
                <a:solidFill>
                  <a:srgbClr val="141415"/>
                </a:solidFill>
                <a:cs typeface="2  Koodak" panose="00000700000000000000" pitchFamily="2" charset="-78"/>
              </a:rPr>
              <a:t>D. </a:t>
            </a:r>
            <a:r>
              <a:rPr lang="en-US" sz="1300" b="1" dirty="0" err="1">
                <a:solidFill>
                  <a:srgbClr val="141415"/>
                </a:solidFill>
                <a:cs typeface="2  Koodak" panose="00000700000000000000" pitchFamily="2" charset="-78"/>
              </a:rPr>
              <a:t>Anduyan</a:t>
            </a:r>
            <a:r>
              <a:rPr lang="en-US" sz="1300" b="1" dirty="0">
                <a:solidFill>
                  <a:srgbClr val="141415"/>
                </a:solidFill>
                <a:cs typeface="2  Koodak" panose="00000700000000000000" pitchFamily="2" charset="-78"/>
              </a:rPr>
              <a:t>, N. </a:t>
            </a:r>
            <a:r>
              <a:rPr lang="en-US" sz="1300" b="1" dirty="0" err="1">
                <a:solidFill>
                  <a:srgbClr val="141415"/>
                </a:solidFill>
                <a:cs typeface="2  Koodak" panose="00000700000000000000" pitchFamily="2" charset="-78"/>
              </a:rPr>
              <a:t>Gultiano</a:t>
            </a:r>
            <a:r>
              <a:rPr lang="en-US" sz="1300" b="1" dirty="0">
                <a:solidFill>
                  <a:srgbClr val="141415"/>
                </a:solidFill>
                <a:cs typeface="2  Koodak" panose="00000700000000000000" pitchFamily="2" charset="-78"/>
              </a:rPr>
              <a:t>, N. </a:t>
            </a:r>
            <a:r>
              <a:rPr lang="en-US" sz="1300" b="1" dirty="0" err="1">
                <a:solidFill>
                  <a:srgbClr val="141415"/>
                </a:solidFill>
                <a:cs typeface="2  Koodak" panose="00000700000000000000" pitchFamily="2" charset="-78"/>
              </a:rPr>
              <a:t>Cabillo</a:t>
            </a:r>
            <a:r>
              <a:rPr lang="en-US" sz="1300" b="1" dirty="0">
                <a:solidFill>
                  <a:srgbClr val="141415"/>
                </a:solidFill>
                <a:cs typeface="2  Koodak" panose="00000700000000000000" pitchFamily="2" charset="-78"/>
              </a:rPr>
              <a:t>, and M. P. </a:t>
            </a:r>
            <a:r>
              <a:rPr lang="en-US" sz="1300" b="1" dirty="0" err="1">
                <a:solidFill>
                  <a:srgbClr val="141415"/>
                </a:solidFill>
                <a:cs typeface="2  Koodak" panose="00000700000000000000" pitchFamily="2" charset="-78"/>
              </a:rPr>
              <a:t>Pacot</a:t>
            </a:r>
            <a:r>
              <a:rPr lang="en-US" sz="1300" b="1" dirty="0">
                <a:solidFill>
                  <a:srgbClr val="141415"/>
                </a:solidFill>
                <a:cs typeface="2  Koodak" panose="00000700000000000000" pitchFamily="2" charset="-78"/>
              </a:rPr>
              <a:t>, "Enhancing cocoa pod disease classification via transfer learning and ensemble methods: toward robust predictive modeling," in *2025 International Symposium on Multimedia and Communications Technology (ISMAC)*, 2025, pp. 1–6.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96E04F-77DF-924A-8819-2C2E35003919}"/>
              </a:ext>
            </a:extLst>
          </p:cNvPr>
          <p:cNvSpPr/>
          <p:nvPr/>
        </p:nvSpPr>
        <p:spPr>
          <a:xfrm>
            <a:off x="320296" y="6115525"/>
            <a:ext cx="446947" cy="472440"/>
          </a:xfrm>
          <a:prstGeom prst="roundRect">
            <a:avLst>
              <a:gd name="adj" fmla="val 20197"/>
            </a:avLst>
          </a:prstGeom>
          <a:solidFill>
            <a:srgbClr val="14141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000" b="1" dirty="0">
                <a:cs typeface="2  Bardiya" panose="00000400000000000000" pitchFamily="2" charset="-78"/>
              </a:rPr>
              <a:t>21</a:t>
            </a:r>
            <a:endParaRPr lang="en-US" sz="2000" b="1" dirty="0">
              <a:cs typeface="2  Bardiy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8874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B1B40-7079-C779-EB24-666FB32E0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10B6739E-167D-6164-16DD-7FDCFADFC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93218"/>
            <a:ext cx="9144000" cy="1071563"/>
          </a:xfrm>
        </p:spPr>
        <p:txBody>
          <a:bodyPr/>
          <a:lstStyle/>
          <a:p>
            <a:pPr lvl="0">
              <a:spcBef>
                <a:spcPts val="0"/>
              </a:spcBef>
              <a:defRPr/>
            </a:pPr>
            <a:r>
              <a:rPr lang="fa-IR" b="1" dirty="0">
                <a:solidFill>
                  <a:srgbClr val="141415"/>
                </a:solidFill>
                <a:latin typeface="Livvic" pitchFamily="2" charset="0"/>
                <a:cs typeface="B Koodak" panose="00000700000000000000" pitchFamily="2" charset="-78"/>
                <a:sym typeface="Livvic"/>
              </a:rPr>
              <a:t>باتشکر از توجه شما</a:t>
            </a:r>
            <a:endParaRPr lang="en-US" b="1" dirty="0">
              <a:solidFill>
                <a:srgbClr val="141415"/>
              </a:solidFill>
              <a:latin typeface="Livvic" pitchFamily="2" charset="0"/>
              <a:ea typeface="Livvic"/>
              <a:cs typeface="B Koodak" panose="00000700000000000000" pitchFamily="2" charset="-78"/>
              <a:sym typeface="Livvic"/>
            </a:endParaRPr>
          </a:p>
        </p:txBody>
      </p:sp>
    </p:spTree>
    <p:extLst>
      <p:ext uri="{BB962C8B-B14F-4D97-AF65-F5344CB8AC3E}">
        <p14:creationId xmlns:p14="http://schemas.microsoft.com/office/powerpoint/2010/main" val="370457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Model X">
      <a:dk1>
        <a:srgbClr val="172144"/>
      </a:dk1>
      <a:lt1>
        <a:srgbClr val="FFFFFF"/>
      </a:lt1>
      <a:dk2>
        <a:srgbClr val="4A5BA6"/>
      </a:dk2>
      <a:lt2>
        <a:srgbClr val="514A9D"/>
      </a:lt2>
      <a:accent1>
        <a:srgbClr val="24C6DC"/>
      </a:accent1>
      <a:accent2>
        <a:srgbClr val="2AB4D3"/>
      </a:accent2>
      <a:accent3>
        <a:srgbClr val="30A2CA"/>
      </a:accent3>
      <a:accent4>
        <a:srgbClr val="3790C1"/>
      </a:accent4>
      <a:accent5>
        <a:srgbClr val="3D7FB8"/>
      </a:accent5>
      <a:accent6>
        <a:srgbClr val="446DAF"/>
      </a:accent6>
      <a:hlink>
        <a:srgbClr val="2F8299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</TotalTime>
  <Words>3469</Words>
  <Application>Microsoft Office PowerPoint</Application>
  <PresentationFormat>Widescreen</PresentationFormat>
  <Paragraphs>1222</Paragraphs>
  <Slides>70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70</vt:i4>
      </vt:variant>
    </vt:vector>
  </HeadingPairs>
  <TitlesOfParts>
    <vt:vector size="82" baseType="lpstr">
      <vt:lpstr>2  Bardiya</vt:lpstr>
      <vt:lpstr>2  Koodak</vt:lpstr>
      <vt:lpstr>Aptos</vt:lpstr>
      <vt:lpstr>Aptos Display</vt:lpstr>
      <vt:lpstr>Arial</vt:lpstr>
      <vt:lpstr>Calibri</vt:lpstr>
      <vt:lpstr>Calibri Light</vt:lpstr>
      <vt:lpstr>Cambria Math</vt:lpstr>
      <vt:lpstr>Livvic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منابع:</vt:lpstr>
      <vt:lpstr>باتشکر از توجه شما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Sina_Si1</dc:creator>
  <cp:lastModifiedBy>Sina_Si1</cp:lastModifiedBy>
  <cp:revision>25</cp:revision>
  <dcterms:created xsi:type="dcterms:W3CDTF">2025-12-20T01:40:34Z</dcterms:created>
  <dcterms:modified xsi:type="dcterms:W3CDTF">2026-01-06T05:26:32Z</dcterms:modified>
</cp:coreProperties>
</file>